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17818-5415-E95E-794D-1BA5629B56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1F63C1-E885-CFBE-C15D-F42545CF75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9B580B-6F70-5124-F181-B4436EDFC9B8}"/>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5" name="Footer Placeholder 4">
            <a:extLst>
              <a:ext uri="{FF2B5EF4-FFF2-40B4-BE49-F238E27FC236}">
                <a16:creationId xmlns:a16="http://schemas.microsoft.com/office/drawing/2014/main" id="{4E874ABC-8701-3B12-3BD6-1AACF8B92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69020-7CAB-1459-D1F2-DCADCE04603F}"/>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3998712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EEDA-B302-C2FE-67B3-3F7DBC3F4D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2FF0AD-BEAA-3F00-7C06-DF7794B7B4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0AE86-026D-3EBF-65C3-3605E2130522}"/>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5" name="Footer Placeholder 4">
            <a:extLst>
              <a:ext uri="{FF2B5EF4-FFF2-40B4-BE49-F238E27FC236}">
                <a16:creationId xmlns:a16="http://schemas.microsoft.com/office/drawing/2014/main" id="{117BEB38-DA0F-7980-B256-CCB43658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F53F7-146B-1C29-28C0-07F776CF6E2B}"/>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3682699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C9B1-4CBF-5CBD-F647-9474F8598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A6D739-7F32-E9AC-6B8A-E43C76D84C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85BF20-96F9-843A-C44C-C41836CAC685}"/>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5" name="Footer Placeholder 4">
            <a:extLst>
              <a:ext uri="{FF2B5EF4-FFF2-40B4-BE49-F238E27FC236}">
                <a16:creationId xmlns:a16="http://schemas.microsoft.com/office/drawing/2014/main" id="{12937CEE-A781-00BD-A946-6408CFF8D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F4744-2B0B-26CB-9343-A180FAC9D5D6}"/>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93993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174FD-753C-E33F-98A8-B4E237AED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10BBF2-9957-D7AD-22A9-2944E3FBE1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12AD1D-65F3-34B3-5921-9099282151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387638-5491-4D20-52C0-E7C8F579BEBD}"/>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6" name="Footer Placeholder 5">
            <a:extLst>
              <a:ext uri="{FF2B5EF4-FFF2-40B4-BE49-F238E27FC236}">
                <a16:creationId xmlns:a16="http://schemas.microsoft.com/office/drawing/2014/main" id="{6CB7D1FC-CA51-B46D-3205-A0833C6A2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B4CE8-3322-5973-E140-9745DF15FD7C}"/>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1066628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916D-0C5C-7FCD-74A0-7DA8955A43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DAAE33-BFDF-F1D8-433B-3A9712E813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A0FE4C-8EC7-5B3F-750B-A77F792149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559CC9-506B-8ED8-6AA4-24141F712F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8FA071-173A-57CE-0518-5C955CE8AD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704A52-639E-DCD3-F7E2-40B2194E88FC}"/>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8" name="Footer Placeholder 7">
            <a:extLst>
              <a:ext uri="{FF2B5EF4-FFF2-40B4-BE49-F238E27FC236}">
                <a16:creationId xmlns:a16="http://schemas.microsoft.com/office/drawing/2014/main" id="{1FB6B458-FBA2-4A54-DE5B-68C46F4869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958DF4-99D6-F65D-8B36-6F4F9C41784A}"/>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121849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B4CF-36F7-1EBC-0D94-E6E7F73D81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FEB322-C880-9A2D-EE0A-09206C7E24EE}"/>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4" name="Footer Placeholder 3">
            <a:extLst>
              <a:ext uri="{FF2B5EF4-FFF2-40B4-BE49-F238E27FC236}">
                <a16:creationId xmlns:a16="http://schemas.microsoft.com/office/drawing/2014/main" id="{217AF9AC-BC13-1787-044C-5D960861A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B8CDCE-DA05-81B1-176C-0021BBDEC4F8}"/>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1619001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1870CB-F4CC-8B87-D250-6543734FC37C}"/>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3" name="Footer Placeholder 2">
            <a:extLst>
              <a:ext uri="{FF2B5EF4-FFF2-40B4-BE49-F238E27FC236}">
                <a16:creationId xmlns:a16="http://schemas.microsoft.com/office/drawing/2014/main" id="{FBB72FD9-72D5-C7CA-0F5B-6BC8D34CB5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AC32B3-9D9E-5764-9371-E00D209A10B9}"/>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171216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448A9-D879-C99E-72D2-3DDF5F0CBB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122AF-0C6A-4A6F-86EE-EAD6CC8520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92B6EC-0B8B-15F1-B653-40930477AA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722198-B41D-9E7F-E282-2B77F005609F}"/>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6" name="Footer Placeholder 5">
            <a:extLst>
              <a:ext uri="{FF2B5EF4-FFF2-40B4-BE49-F238E27FC236}">
                <a16:creationId xmlns:a16="http://schemas.microsoft.com/office/drawing/2014/main" id="{7E4CA82B-FE61-278C-F43F-4EE387B027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845F5-0196-17B7-B43D-B0263F27D078}"/>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3425336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7E5C-0455-B345-5F26-62B3D4FBD3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3DE42B-4CA8-1643-112D-216917FA9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2868BA-7460-924A-A545-94E962DBE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3F39B3-76BB-8AAE-6F7C-2E01F4D3BD98}"/>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6" name="Footer Placeholder 5">
            <a:extLst>
              <a:ext uri="{FF2B5EF4-FFF2-40B4-BE49-F238E27FC236}">
                <a16:creationId xmlns:a16="http://schemas.microsoft.com/office/drawing/2014/main" id="{55046EE7-454A-4865-1B5D-A7D997910A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4716D9-492B-1C0B-9E75-B5046EE42FC7}"/>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3375126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06C30-553A-44F7-179D-08EC47925E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E26B1B-2020-4D53-71B4-7EA89579B6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1D3686-A5FB-AB19-1894-491A63AD1467}"/>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5" name="Footer Placeholder 4">
            <a:extLst>
              <a:ext uri="{FF2B5EF4-FFF2-40B4-BE49-F238E27FC236}">
                <a16:creationId xmlns:a16="http://schemas.microsoft.com/office/drawing/2014/main" id="{DA00010F-9826-993B-0E9D-A7CC97040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2493CA-934C-0CEF-936E-6AE441A28667}"/>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3004202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18B71F-CDBD-FBF1-0E55-FB4B6ECBC3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4ABEAA-A5E0-B844-B21F-C18A2272CA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A4211D-F13D-2358-CE4F-4D15D4D1C841}"/>
              </a:ext>
            </a:extLst>
          </p:cNvPr>
          <p:cNvSpPr>
            <a:spLocks noGrp="1"/>
          </p:cNvSpPr>
          <p:nvPr>
            <p:ph type="dt" sz="half" idx="10"/>
          </p:nvPr>
        </p:nvSpPr>
        <p:spPr/>
        <p:txBody>
          <a:bodyPr/>
          <a:lstStyle/>
          <a:p>
            <a:fld id="{0992DD06-32C4-45BB-B997-83E51A4370D1}" type="datetimeFigureOut">
              <a:rPr lang="en-US" smtClean="0"/>
              <a:t>1/11/2024</a:t>
            </a:fld>
            <a:endParaRPr lang="en-US"/>
          </a:p>
        </p:txBody>
      </p:sp>
      <p:sp>
        <p:nvSpPr>
          <p:cNvPr id="5" name="Footer Placeholder 4">
            <a:extLst>
              <a:ext uri="{FF2B5EF4-FFF2-40B4-BE49-F238E27FC236}">
                <a16:creationId xmlns:a16="http://schemas.microsoft.com/office/drawing/2014/main" id="{D008E97A-C3D5-7395-E496-3D034C114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23E6B-99D2-C2FA-D198-881AFB448344}"/>
              </a:ext>
            </a:extLst>
          </p:cNvPr>
          <p:cNvSpPr>
            <a:spLocks noGrp="1"/>
          </p:cNvSpPr>
          <p:nvPr>
            <p:ph type="sldNum" sz="quarter" idx="12"/>
          </p:nvPr>
        </p:nvSpPr>
        <p:spPr/>
        <p:txBody>
          <a:bodyPr/>
          <a:lstStyle/>
          <a:p>
            <a:fld id="{A2592DF7-D2EF-4E6F-BB81-32447F36FC92}" type="slidenum">
              <a:rPr lang="en-US" smtClean="0"/>
              <a:t>‹#›</a:t>
            </a:fld>
            <a:endParaRPr lang="en-US"/>
          </a:p>
        </p:txBody>
      </p:sp>
    </p:spTree>
    <p:extLst>
      <p:ext uri="{BB962C8B-B14F-4D97-AF65-F5344CB8AC3E}">
        <p14:creationId xmlns:p14="http://schemas.microsoft.com/office/powerpoint/2010/main" val="4240062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381ABA-E1AA-5E64-40CC-82F1ECBA80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F7D242-AB56-9C15-CFEB-E46A4AF5A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E5CE04-61DD-3B9D-1BDE-F9F8A89A5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92DD06-32C4-45BB-B997-83E51A4370D1}" type="datetimeFigureOut">
              <a:rPr lang="en-US" smtClean="0"/>
              <a:t>1/11/2024</a:t>
            </a:fld>
            <a:endParaRPr lang="en-US"/>
          </a:p>
        </p:txBody>
      </p:sp>
      <p:sp>
        <p:nvSpPr>
          <p:cNvPr id="5" name="Footer Placeholder 4">
            <a:extLst>
              <a:ext uri="{FF2B5EF4-FFF2-40B4-BE49-F238E27FC236}">
                <a16:creationId xmlns:a16="http://schemas.microsoft.com/office/drawing/2014/main" id="{B964DD96-E2C6-6165-EF50-0335C8C2F9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49EF49-7DB8-F1F7-E2A9-C054F42CF2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592DF7-D2EF-4E6F-BB81-32447F36FC92}" type="slidenum">
              <a:rPr lang="en-US" smtClean="0"/>
              <a:t>‹#›</a:t>
            </a:fld>
            <a:endParaRPr lang="en-US"/>
          </a:p>
        </p:txBody>
      </p:sp>
    </p:spTree>
    <p:extLst>
      <p:ext uri="{BB962C8B-B14F-4D97-AF65-F5344CB8AC3E}">
        <p14:creationId xmlns:p14="http://schemas.microsoft.com/office/powerpoint/2010/main" val="3147304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9144C2-4A0A-1961-A4ED-66865D3A86D2}"/>
              </a:ext>
            </a:extLst>
          </p:cNvPr>
          <p:cNvSpPr txBox="1"/>
          <p:nvPr/>
        </p:nvSpPr>
        <p:spPr>
          <a:xfrm>
            <a:off x="157316" y="110302"/>
            <a:ext cx="6096000" cy="369332"/>
          </a:xfrm>
          <a:prstGeom prst="rect">
            <a:avLst/>
          </a:prstGeom>
          <a:noFill/>
        </p:spPr>
        <p:txBody>
          <a:bodyPr wrap="square">
            <a:spAutoFit/>
          </a:bodyPr>
          <a:lstStyle/>
          <a:p>
            <a:pPr algn="l"/>
            <a:r>
              <a:rPr lang="en-US" b="1" i="0" dirty="0">
                <a:solidFill>
                  <a:srgbClr val="1F1F1F"/>
                </a:solidFill>
                <a:effectLst/>
              </a:rPr>
              <a:t>Transformers vs RNNs</a:t>
            </a:r>
          </a:p>
        </p:txBody>
      </p:sp>
      <p:pic>
        <p:nvPicPr>
          <p:cNvPr id="7" name="Picture 6">
            <a:extLst>
              <a:ext uri="{FF2B5EF4-FFF2-40B4-BE49-F238E27FC236}">
                <a16:creationId xmlns:a16="http://schemas.microsoft.com/office/drawing/2014/main" id="{28DF472B-E945-B6A9-9792-89454A260EA8}"/>
              </a:ext>
            </a:extLst>
          </p:cNvPr>
          <p:cNvPicPr>
            <a:picLocks noChangeAspect="1"/>
          </p:cNvPicPr>
          <p:nvPr/>
        </p:nvPicPr>
        <p:blipFill>
          <a:blip r:embed="rId2"/>
          <a:stretch>
            <a:fillRect/>
          </a:stretch>
        </p:blipFill>
        <p:spPr>
          <a:xfrm>
            <a:off x="157316" y="574315"/>
            <a:ext cx="5255166" cy="2231796"/>
          </a:xfrm>
          <a:prstGeom prst="rect">
            <a:avLst/>
          </a:prstGeom>
        </p:spPr>
      </p:pic>
      <p:sp>
        <p:nvSpPr>
          <p:cNvPr id="9" name="TextBox 8">
            <a:extLst>
              <a:ext uri="{FF2B5EF4-FFF2-40B4-BE49-F238E27FC236}">
                <a16:creationId xmlns:a16="http://schemas.microsoft.com/office/drawing/2014/main" id="{B7942953-07CE-33A4-B1EA-9792EF33B728}"/>
              </a:ext>
            </a:extLst>
          </p:cNvPr>
          <p:cNvSpPr txBox="1"/>
          <p:nvPr/>
        </p:nvSpPr>
        <p:spPr>
          <a:xfrm>
            <a:off x="275302" y="2733644"/>
            <a:ext cx="11916698" cy="4247317"/>
          </a:xfrm>
          <a:prstGeom prst="rect">
            <a:avLst/>
          </a:prstGeom>
          <a:noFill/>
        </p:spPr>
        <p:txBody>
          <a:bodyPr wrap="square">
            <a:spAutoFit/>
          </a:bodyPr>
          <a:lstStyle/>
          <a:p>
            <a:pPr algn="l"/>
            <a:r>
              <a:rPr lang="en-US" b="0" i="0" dirty="0">
                <a:solidFill>
                  <a:srgbClr val="1F1F1F"/>
                </a:solidFill>
                <a:effectLst/>
                <a:latin typeface="var(--cds-font-family-source-sans-pro)"/>
              </a:rPr>
              <a:t>Two other issues with RNNs are the: </a:t>
            </a:r>
          </a:p>
          <a:p>
            <a:pPr lvl="1">
              <a:buFont typeface="Arial" panose="020B0604020202020204" pitchFamily="34" charset="0"/>
              <a:buChar char="•"/>
            </a:pPr>
            <a:r>
              <a:rPr lang="en-US" b="1" i="0" dirty="0">
                <a:solidFill>
                  <a:srgbClr val="1F1F1F"/>
                </a:solidFill>
                <a:effectLst/>
                <a:latin typeface="var(--cds-font-family-source-sans-pro)"/>
              </a:rPr>
              <a:t>Loss of information</a:t>
            </a:r>
            <a:r>
              <a:rPr lang="en-US" b="0" i="0" dirty="0">
                <a:solidFill>
                  <a:srgbClr val="1F1F1F"/>
                </a:solidFill>
                <a:effectLst/>
                <a:latin typeface="var(--cds-font-family-source-sans-pro)"/>
              </a:rPr>
              <a:t>: For example, it is harder to keep track of whether the subject is singular or plural as you move further away from the subject.</a:t>
            </a:r>
          </a:p>
          <a:p>
            <a:pPr lvl="1">
              <a:buFont typeface="Arial" panose="020B0604020202020204" pitchFamily="34" charset="0"/>
              <a:buChar char="•"/>
            </a:pPr>
            <a:endParaRPr lang="en-US" b="0" i="0" dirty="0">
              <a:solidFill>
                <a:srgbClr val="1F1F1F"/>
              </a:solidFill>
              <a:effectLst/>
              <a:latin typeface="var(--cds-font-family-source-sans-pro)"/>
            </a:endParaRPr>
          </a:p>
          <a:p>
            <a:pPr lvl="1">
              <a:buFont typeface="Arial" panose="020B0604020202020204" pitchFamily="34" charset="0"/>
              <a:buChar char="•"/>
            </a:pPr>
            <a:r>
              <a:rPr lang="en-US" b="1" i="0" dirty="0">
                <a:solidFill>
                  <a:srgbClr val="1F1F1F"/>
                </a:solidFill>
                <a:effectLst/>
                <a:latin typeface="var(--cds-font-family-source-sans-pro)"/>
              </a:rPr>
              <a:t>Vanishing Gradient</a:t>
            </a:r>
            <a:r>
              <a:rPr lang="en-US" b="0" i="0" dirty="0">
                <a:solidFill>
                  <a:srgbClr val="1F1F1F"/>
                </a:solidFill>
                <a:effectLst/>
                <a:latin typeface="var(--cds-font-family-source-sans-pro)"/>
              </a:rPr>
              <a:t>: when you back-propagate, the gradients can become really small and as a result, your model will not be learning much. </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In contrast, transformers are based on attention and don't require any sequential computation per layer, only a single step is needed. Additionally, the gradient steps that need to be taken from the last output to the first input in a transformer is just one. For RNNs, the number of steps increases with longer sequences. Finally, transformers don't suffer from vanishing gradients problems that are related to the length of the sequences. </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We are going to talk more about how the attention component works with transformers. So don't worry about it for now :) </a:t>
            </a:r>
          </a:p>
          <a:p>
            <a:br>
              <a:rPr lang="en-US" dirty="0"/>
            </a:br>
            <a:endParaRPr lang="en-US" dirty="0"/>
          </a:p>
        </p:txBody>
      </p:sp>
      <p:sp>
        <p:nvSpPr>
          <p:cNvPr id="11" name="TextBox 10">
            <a:extLst>
              <a:ext uri="{FF2B5EF4-FFF2-40B4-BE49-F238E27FC236}">
                <a16:creationId xmlns:a16="http://schemas.microsoft.com/office/drawing/2014/main" id="{BC990118-43AE-44AE-2895-AF8A10A9D2BB}"/>
              </a:ext>
            </a:extLst>
          </p:cNvPr>
          <p:cNvSpPr txBox="1"/>
          <p:nvPr/>
        </p:nvSpPr>
        <p:spPr>
          <a:xfrm>
            <a:off x="5751871" y="294968"/>
            <a:ext cx="6096000" cy="1754326"/>
          </a:xfrm>
          <a:prstGeom prst="rect">
            <a:avLst/>
          </a:prstGeom>
          <a:noFill/>
        </p:spPr>
        <p:txBody>
          <a:bodyPr wrap="square">
            <a:spAutoFit/>
          </a:bodyPr>
          <a:lstStyle/>
          <a:p>
            <a:r>
              <a:rPr lang="en-US" b="0" i="0" dirty="0">
                <a:solidFill>
                  <a:srgbClr val="1F1F1F"/>
                </a:solidFill>
                <a:effectLst/>
                <a:latin typeface="var(--cds-font-family-source-sans-pro)"/>
              </a:rPr>
              <a:t>In the image, you can see a typical RNN that is used to translate the English sentence "How are you?" to its French equivalent, "Comment </a:t>
            </a:r>
            <a:r>
              <a:rPr lang="en-US" b="0" i="0" dirty="0" err="1">
                <a:solidFill>
                  <a:srgbClr val="1F1F1F"/>
                </a:solidFill>
                <a:effectLst/>
                <a:latin typeface="var(--cds-font-family-source-sans-pro)"/>
              </a:rPr>
              <a:t>allez-vous</a:t>
            </a:r>
            <a:r>
              <a:rPr lang="en-US" b="0" i="0" dirty="0">
                <a:solidFill>
                  <a:srgbClr val="1F1F1F"/>
                </a:solidFill>
                <a:effectLst/>
                <a:latin typeface="var(--cds-font-family-source-sans-pro)"/>
              </a:rPr>
              <a:t>?". One of the biggest issues with these RNNs, is that they make use of sequential computation. That means, in order for your code to process the word "you", it has to first go through "How" and "are". </a:t>
            </a:r>
            <a:endParaRPr lang="en-US" dirty="0"/>
          </a:p>
        </p:txBody>
      </p:sp>
    </p:spTree>
    <p:extLst>
      <p:ext uri="{BB962C8B-B14F-4D97-AF65-F5344CB8AC3E}">
        <p14:creationId xmlns:p14="http://schemas.microsoft.com/office/powerpoint/2010/main" val="731184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016112-12A6-4977-84D9-4CFD782708A7}"/>
              </a:ext>
            </a:extLst>
          </p:cNvPr>
          <p:cNvSpPr txBox="1"/>
          <p:nvPr/>
        </p:nvSpPr>
        <p:spPr>
          <a:xfrm>
            <a:off x="88491" y="0"/>
            <a:ext cx="6096000" cy="369332"/>
          </a:xfrm>
          <a:prstGeom prst="rect">
            <a:avLst/>
          </a:prstGeom>
          <a:noFill/>
        </p:spPr>
        <p:txBody>
          <a:bodyPr wrap="square">
            <a:spAutoFit/>
          </a:bodyPr>
          <a:lstStyle/>
          <a:p>
            <a:pPr algn="l"/>
            <a:r>
              <a:rPr lang="en-US" b="1" i="0" dirty="0">
                <a:solidFill>
                  <a:srgbClr val="1F1F1F"/>
                </a:solidFill>
                <a:effectLst/>
              </a:rPr>
              <a:t>Transformer Applications</a:t>
            </a:r>
          </a:p>
        </p:txBody>
      </p:sp>
      <p:sp>
        <p:nvSpPr>
          <p:cNvPr id="7" name="TextBox 6">
            <a:extLst>
              <a:ext uri="{FF2B5EF4-FFF2-40B4-BE49-F238E27FC236}">
                <a16:creationId xmlns:a16="http://schemas.microsoft.com/office/drawing/2014/main" id="{3C0AA44C-4D5C-181A-CC8E-8B88A4BCC8CA}"/>
              </a:ext>
            </a:extLst>
          </p:cNvPr>
          <p:cNvSpPr txBox="1"/>
          <p:nvPr/>
        </p:nvSpPr>
        <p:spPr>
          <a:xfrm>
            <a:off x="88491" y="369332"/>
            <a:ext cx="10835148"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Here is a summary of all the different applications you can build using transformers: </a:t>
            </a:r>
            <a:endParaRPr lang="en-US" dirty="0"/>
          </a:p>
        </p:txBody>
      </p:sp>
      <p:pic>
        <p:nvPicPr>
          <p:cNvPr id="9" name="Picture 8">
            <a:extLst>
              <a:ext uri="{FF2B5EF4-FFF2-40B4-BE49-F238E27FC236}">
                <a16:creationId xmlns:a16="http://schemas.microsoft.com/office/drawing/2014/main" id="{8A7AE828-BE76-DC1D-6D89-8AEA3DF60A8D}"/>
              </a:ext>
            </a:extLst>
          </p:cNvPr>
          <p:cNvPicPr>
            <a:picLocks noChangeAspect="1"/>
          </p:cNvPicPr>
          <p:nvPr/>
        </p:nvPicPr>
        <p:blipFill>
          <a:blip r:embed="rId2"/>
          <a:stretch>
            <a:fillRect/>
          </a:stretch>
        </p:blipFill>
        <p:spPr>
          <a:xfrm>
            <a:off x="203576" y="738664"/>
            <a:ext cx="5862927" cy="2572201"/>
          </a:xfrm>
          <a:prstGeom prst="rect">
            <a:avLst/>
          </a:prstGeom>
        </p:spPr>
      </p:pic>
      <p:sp>
        <p:nvSpPr>
          <p:cNvPr id="11" name="TextBox 10">
            <a:extLst>
              <a:ext uri="{FF2B5EF4-FFF2-40B4-BE49-F238E27FC236}">
                <a16:creationId xmlns:a16="http://schemas.microsoft.com/office/drawing/2014/main" id="{49A4D104-3E7C-AD83-94DD-EF77CB953CD2}"/>
              </a:ext>
            </a:extLst>
          </p:cNvPr>
          <p:cNvSpPr txBox="1"/>
          <p:nvPr/>
        </p:nvSpPr>
        <p:spPr>
          <a:xfrm>
            <a:off x="6909176" y="923330"/>
            <a:ext cx="6096000" cy="369332"/>
          </a:xfrm>
          <a:prstGeom prst="rect">
            <a:avLst/>
          </a:prstGeom>
          <a:noFill/>
        </p:spPr>
        <p:txBody>
          <a:bodyPr wrap="square">
            <a:spAutoFit/>
          </a:bodyPr>
          <a:lstStyle/>
          <a:p>
            <a:r>
              <a:rPr lang="en-US" dirty="0"/>
              <a:t>https://t5-trivia.glitch.me/</a:t>
            </a:r>
          </a:p>
        </p:txBody>
      </p:sp>
      <p:sp>
        <p:nvSpPr>
          <p:cNvPr id="12" name="TextBox 11">
            <a:extLst>
              <a:ext uri="{FF2B5EF4-FFF2-40B4-BE49-F238E27FC236}">
                <a16:creationId xmlns:a16="http://schemas.microsoft.com/office/drawing/2014/main" id="{B09DBF54-90BC-FCFA-61C0-9E0E0632A5B3}"/>
              </a:ext>
            </a:extLst>
          </p:cNvPr>
          <p:cNvSpPr txBox="1"/>
          <p:nvPr/>
        </p:nvSpPr>
        <p:spPr>
          <a:xfrm>
            <a:off x="6909176" y="646331"/>
            <a:ext cx="3156155" cy="369332"/>
          </a:xfrm>
          <a:prstGeom prst="rect">
            <a:avLst/>
          </a:prstGeom>
          <a:noFill/>
        </p:spPr>
        <p:txBody>
          <a:bodyPr wrap="square" rtlCol="0">
            <a:spAutoFit/>
          </a:bodyPr>
          <a:lstStyle/>
          <a:p>
            <a:r>
              <a:rPr lang="en-US" dirty="0"/>
              <a:t>Play trivia with T5</a:t>
            </a:r>
          </a:p>
        </p:txBody>
      </p:sp>
      <p:sp>
        <p:nvSpPr>
          <p:cNvPr id="14" name="TextBox 13">
            <a:extLst>
              <a:ext uri="{FF2B5EF4-FFF2-40B4-BE49-F238E27FC236}">
                <a16:creationId xmlns:a16="http://schemas.microsoft.com/office/drawing/2014/main" id="{1E594719-53AC-E354-D6B6-D703D84726D0}"/>
              </a:ext>
            </a:extLst>
          </p:cNvPr>
          <p:cNvSpPr txBox="1"/>
          <p:nvPr/>
        </p:nvSpPr>
        <p:spPr>
          <a:xfrm>
            <a:off x="203575" y="3547136"/>
            <a:ext cx="11732785"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Another exciting area of research is the use of transfer learning with transformers. For example, to train a model that will translate English to German, you can just prepend the text "translate English to German" to the inputs that you are about to feed the model. You can then keep that same model to detect sentiment by prepending another tag.</a:t>
            </a:r>
            <a:endParaRPr lang="en-US" dirty="0"/>
          </a:p>
        </p:txBody>
      </p:sp>
      <p:pic>
        <p:nvPicPr>
          <p:cNvPr id="16" name="Picture 15">
            <a:extLst>
              <a:ext uri="{FF2B5EF4-FFF2-40B4-BE49-F238E27FC236}">
                <a16:creationId xmlns:a16="http://schemas.microsoft.com/office/drawing/2014/main" id="{ED4DFFF0-D7E1-EEFC-073D-4623E74F52A6}"/>
              </a:ext>
            </a:extLst>
          </p:cNvPr>
          <p:cNvPicPr>
            <a:picLocks noChangeAspect="1"/>
          </p:cNvPicPr>
          <p:nvPr/>
        </p:nvPicPr>
        <p:blipFill>
          <a:blip r:embed="rId3"/>
          <a:stretch>
            <a:fillRect/>
          </a:stretch>
        </p:blipFill>
        <p:spPr>
          <a:xfrm>
            <a:off x="141679" y="4446721"/>
            <a:ext cx="5768788" cy="2237235"/>
          </a:xfrm>
          <a:prstGeom prst="rect">
            <a:avLst/>
          </a:prstGeom>
        </p:spPr>
      </p:pic>
      <p:sp>
        <p:nvSpPr>
          <p:cNvPr id="18" name="TextBox 17">
            <a:extLst>
              <a:ext uri="{FF2B5EF4-FFF2-40B4-BE49-F238E27FC236}">
                <a16:creationId xmlns:a16="http://schemas.microsoft.com/office/drawing/2014/main" id="{5CF8F5EF-FD40-33FC-9686-7A921A74071F}"/>
              </a:ext>
            </a:extLst>
          </p:cNvPr>
          <p:cNvSpPr txBox="1"/>
          <p:nvPr/>
        </p:nvSpPr>
        <p:spPr>
          <a:xfrm>
            <a:off x="5985387" y="5052400"/>
            <a:ext cx="6504038"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GPT, BERT, and T5 are some examples of transformer models.</a:t>
            </a:r>
            <a:endParaRPr lang="en-US" dirty="0"/>
          </a:p>
        </p:txBody>
      </p:sp>
    </p:spTree>
    <p:extLst>
      <p:ext uri="{BB962C8B-B14F-4D97-AF65-F5344CB8AC3E}">
        <p14:creationId xmlns:p14="http://schemas.microsoft.com/office/powerpoint/2010/main" val="2369299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CFD0B0-AF68-EF80-2DAA-3141D71B3088}"/>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Multi-head Attention</a:t>
            </a:r>
          </a:p>
        </p:txBody>
      </p:sp>
      <p:sp>
        <p:nvSpPr>
          <p:cNvPr id="7" name="TextBox 6">
            <a:extLst>
              <a:ext uri="{FF2B5EF4-FFF2-40B4-BE49-F238E27FC236}">
                <a16:creationId xmlns:a16="http://schemas.microsoft.com/office/drawing/2014/main" id="{61546020-A42E-C24C-5793-9FA576ED57B8}"/>
              </a:ext>
            </a:extLst>
          </p:cNvPr>
          <p:cNvSpPr txBox="1"/>
          <p:nvPr/>
        </p:nvSpPr>
        <p:spPr>
          <a:xfrm>
            <a:off x="0" y="369332"/>
            <a:ext cx="11680723"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this reading, you will see a summary of the intuition behind multi-head attention and scaled dot product attention.</a:t>
            </a:r>
            <a:endParaRPr lang="en-US" dirty="0"/>
          </a:p>
        </p:txBody>
      </p:sp>
      <p:pic>
        <p:nvPicPr>
          <p:cNvPr id="9" name="Picture 8">
            <a:extLst>
              <a:ext uri="{FF2B5EF4-FFF2-40B4-BE49-F238E27FC236}">
                <a16:creationId xmlns:a16="http://schemas.microsoft.com/office/drawing/2014/main" id="{DD7EEBA4-04BB-593E-1AC7-257F34DEEE2A}"/>
              </a:ext>
            </a:extLst>
          </p:cNvPr>
          <p:cNvPicPr>
            <a:picLocks noChangeAspect="1"/>
          </p:cNvPicPr>
          <p:nvPr/>
        </p:nvPicPr>
        <p:blipFill>
          <a:blip r:embed="rId2"/>
          <a:stretch>
            <a:fillRect/>
          </a:stretch>
        </p:blipFill>
        <p:spPr>
          <a:xfrm>
            <a:off x="296739" y="845574"/>
            <a:ext cx="6196811" cy="2842287"/>
          </a:xfrm>
          <a:prstGeom prst="rect">
            <a:avLst/>
          </a:prstGeom>
        </p:spPr>
      </p:pic>
      <p:pic>
        <p:nvPicPr>
          <p:cNvPr id="11" name="Picture 10">
            <a:extLst>
              <a:ext uri="{FF2B5EF4-FFF2-40B4-BE49-F238E27FC236}">
                <a16:creationId xmlns:a16="http://schemas.microsoft.com/office/drawing/2014/main" id="{2D0AE961-CAD3-86FB-693E-8775E067FDA0}"/>
              </a:ext>
            </a:extLst>
          </p:cNvPr>
          <p:cNvPicPr>
            <a:picLocks noChangeAspect="1"/>
          </p:cNvPicPr>
          <p:nvPr/>
        </p:nvPicPr>
        <p:blipFill>
          <a:blip r:embed="rId3"/>
          <a:stretch>
            <a:fillRect/>
          </a:stretch>
        </p:blipFill>
        <p:spPr>
          <a:xfrm>
            <a:off x="5060042" y="4294560"/>
            <a:ext cx="7069665" cy="1120237"/>
          </a:xfrm>
          <a:prstGeom prst="rect">
            <a:avLst/>
          </a:prstGeom>
        </p:spPr>
      </p:pic>
      <p:pic>
        <p:nvPicPr>
          <p:cNvPr id="13" name="Picture 12">
            <a:extLst>
              <a:ext uri="{FF2B5EF4-FFF2-40B4-BE49-F238E27FC236}">
                <a16:creationId xmlns:a16="http://schemas.microsoft.com/office/drawing/2014/main" id="{B0BCA25D-5CE5-DAAD-DF99-94D3AACA33AB}"/>
              </a:ext>
            </a:extLst>
          </p:cNvPr>
          <p:cNvPicPr>
            <a:picLocks noChangeAspect="1"/>
          </p:cNvPicPr>
          <p:nvPr/>
        </p:nvPicPr>
        <p:blipFill>
          <a:blip r:embed="rId4"/>
          <a:stretch>
            <a:fillRect/>
          </a:stretch>
        </p:blipFill>
        <p:spPr>
          <a:xfrm>
            <a:off x="412264" y="3687861"/>
            <a:ext cx="4532253" cy="3007383"/>
          </a:xfrm>
          <a:prstGeom prst="rect">
            <a:avLst/>
          </a:prstGeom>
        </p:spPr>
      </p:pic>
    </p:spTree>
    <p:extLst>
      <p:ext uri="{BB962C8B-B14F-4D97-AF65-F5344CB8AC3E}">
        <p14:creationId xmlns:p14="http://schemas.microsoft.com/office/powerpoint/2010/main" val="376848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0D2660-4AF2-95AA-BB50-DD63F4891E99}"/>
              </a:ext>
            </a:extLst>
          </p:cNvPr>
          <p:cNvPicPr>
            <a:picLocks noChangeAspect="1"/>
          </p:cNvPicPr>
          <p:nvPr/>
        </p:nvPicPr>
        <p:blipFill>
          <a:blip r:embed="rId2"/>
          <a:stretch>
            <a:fillRect/>
          </a:stretch>
        </p:blipFill>
        <p:spPr>
          <a:xfrm>
            <a:off x="114606" y="540368"/>
            <a:ext cx="7125317" cy="861135"/>
          </a:xfrm>
          <a:prstGeom prst="rect">
            <a:avLst/>
          </a:prstGeom>
        </p:spPr>
      </p:pic>
      <p:sp>
        <p:nvSpPr>
          <p:cNvPr id="6" name="TextBox 5">
            <a:extLst>
              <a:ext uri="{FF2B5EF4-FFF2-40B4-BE49-F238E27FC236}">
                <a16:creationId xmlns:a16="http://schemas.microsoft.com/office/drawing/2014/main" id="{8F109DAF-9AAA-1B3D-EB6E-53650789D6F6}"/>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Multi-head Attention(</a:t>
            </a:r>
            <a:r>
              <a:rPr lang="en-US" b="1" i="0" dirty="0" err="1">
                <a:solidFill>
                  <a:srgbClr val="1F1F1F"/>
                </a:solidFill>
                <a:effectLst/>
              </a:rPr>
              <a:t>contd</a:t>
            </a:r>
            <a:r>
              <a:rPr lang="en-US" b="1" i="0" dirty="0">
                <a:solidFill>
                  <a:srgbClr val="1F1F1F"/>
                </a:solidFill>
                <a:effectLst/>
              </a:rPr>
              <a:t>…)</a:t>
            </a:r>
          </a:p>
        </p:txBody>
      </p:sp>
      <p:pic>
        <p:nvPicPr>
          <p:cNvPr id="8" name="Picture 7">
            <a:extLst>
              <a:ext uri="{FF2B5EF4-FFF2-40B4-BE49-F238E27FC236}">
                <a16:creationId xmlns:a16="http://schemas.microsoft.com/office/drawing/2014/main" id="{07AA44DD-1B70-2F41-1BA6-C4069A4D9F7D}"/>
              </a:ext>
            </a:extLst>
          </p:cNvPr>
          <p:cNvPicPr>
            <a:picLocks noChangeAspect="1"/>
          </p:cNvPicPr>
          <p:nvPr/>
        </p:nvPicPr>
        <p:blipFill rotWithShape="1">
          <a:blip r:embed="rId3"/>
          <a:srcRect t="10965"/>
          <a:stretch/>
        </p:blipFill>
        <p:spPr>
          <a:xfrm>
            <a:off x="262090" y="1145864"/>
            <a:ext cx="7437765" cy="2157634"/>
          </a:xfrm>
          <a:prstGeom prst="rect">
            <a:avLst/>
          </a:prstGeom>
        </p:spPr>
      </p:pic>
      <p:pic>
        <p:nvPicPr>
          <p:cNvPr id="10" name="Picture 9">
            <a:extLst>
              <a:ext uri="{FF2B5EF4-FFF2-40B4-BE49-F238E27FC236}">
                <a16:creationId xmlns:a16="http://schemas.microsoft.com/office/drawing/2014/main" id="{F21FA26F-E711-B7E8-311D-ACD8A2EF83D7}"/>
              </a:ext>
            </a:extLst>
          </p:cNvPr>
          <p:cNvPicPr>
            <a:picLocks noChangeAspect="1"/>
          </p:cNvPicPr>
          <p:nvPr/>
        </p:nvPicPr>
        <p:blipFill>
          <a:blip r:embed="rId4"/>
          <a:stretch>
            <a:fillRect/>
          </a:stretch>
        </p:blipFill>
        <p:spPr>
          <a:xfrm>
            <a:off x="114606" y="3303498"/>
            <a:ext cx="7369179" cy="548688"/>
          </a:xfrm>
          <a:prstGeom prst="rect">
            <a:avLst/>
          </a:prstGeom>
        </p:spPr>
      </p:pic>
      <p:pic>
        <p:nvPicPr>
          <p:cNvPr id="12" name="Picture 11">
            <a:extLst>
              <a:ext uri="{FF2B5EF4-FFF2-40B4-BE49-F238E27FC236}">
                <a16:creationId xmlns:a16="http://schemas.microsoft.com/office/drawing/2014/main" id="{C35C7AD6-21B9-3620-78FC-112537021FAD}"/>
              </a:ext>
            </a:extLst>
          </p:cNvPr>
          <p:cNvPicPr>
            <a:picLocks noChangeAspect="1"/>
          </p:cNvPicPr>
          <p:nvPr/>
        </p:nvPicPr>
        <p:blipFill>
          <a:blip r:embed="rId5"/>
          <a:stretch>
            <a:fillRect/>
          </a:stretch>
        </p:blipFill>
        <p:spPr>
          <a:xfrm>
            <a:off x="262090" y="3824843"/>
            <a:ext cx="7521592" cy="1867062"/>
          </a:xfrm>
          <a:prstGeom prst="rect">
            <a:avLst/>
          </a:prstGeom>
        </p:spPr>
      </p:pic>
      <p:pic>
        <p:nvPicPr>
          <p:cNvPr id="14" name="Picture 13">
            <a:extLst>
              <a:ext uri="{FF2B5EF4-FFF2-40B4-BE49-F238E27FC236}">
                <a16:creationId xmlns:a16="http://schemas.microsoft.com/office/drawing/2014/main" id="{983D2FA7-95B2-8E2A-ADB0-CBFC202AC684}"/>
              </a:ext>
            </a:extLst>
          </p:cNvPr>
          <p:cNvPicPr>
            <a:picLocks noChangeAspect="1"/>
          </p:cNvPicPr>
          <p:nvPr/>
        </p:nvPicPr>
        <p:blipFill>
          <a:blip r:embed="rId6"/>
          <a:stretch>
            <a:fillRect/>
          </a:stretch>
        </p:blipFill>
        <p:spPr>
          <a:xfrm>
            <a:off x="3048000" y="5957958"/>
            <a:ext cx="7491109" cy="510584"/>
          </a:xfrm>
          <a:prstGeom prst="rect">
            <a:avLst/>
          </a:prstGeom>
        </p:spPr>
      </p:pic>
    </p:spTree>
    <p:extLst>
      <p:ext uri="{BB962C8B-B14F-4D97-AF65-F5344CB8AC3E}">
        <p14:creationId xmlns:p14="http://schemas.microsoft.com/office/powerpoint/2010/main" val="346874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634266-82BD-C675-E172-714EA2336A93}"/>
              </a:ext>
            </a:extLst>
          </p:cNvPr>
          <p:cNvSpPr txBox="1"/>
          <p:nvPr/>
        </p:nvSpPr>
        <p:spPr>
          <a:xfrm>
            <a:off x="157316" y="70973"/>
            <a:ext cx="6096000" cy="369332"/>
          </a:xfrm>
          <a:prstGeom prst="rect">
            <a:avLst/>
          </a:prstGeom>
          <a:noFill/>
        </p:spPr>
        <p:txBody>
          <a:bodyPr wrap="square">
            <a:spAutoFit/>
          </a:bodyPr>
          <a:lstStyle/>
          <a:p>
            <a:pPr algn="l"/>
            <a:r>
              <a:rPr lang="en-US" b="1" i="0" dirty="0">
                <a:solidFill>
                  <a:srgbClr val="1F1F1F"/>
                </a:solidFill>
                <a:effectLst/>
              </a:rPr>
              <a:t>Transformer Decoder</a:t>
            </a:r>
          </a:p>
        </p:txBody>
      </p:sp>
      <p:pic>
        <p:nvPicPr>
          <p:cNvPr id="7" name="Picture 6">
            <a:extLst>
              <a:ext uri="{FF2B5EF4-FFF2-40B4-BE49-F238E27FC236}">
                <a16:creationId xmlns:a16="http://schemas.microsoft.com/office/drawing/2014/main" id="{AAFCDE19-2DBA-F1C9-B225-D1DBACDE782E}"/>
              </a:ext>
            </a:extLst>
          </p:cNvPr>
          <p:cNvPicPr>
            <a:picLocks noChangeAspect="1"/>
          </p:cNvPicPr>
          <p:nvPr/>
        </p:nvPicPr>
        <p:blipFill>
          <a:blip r:embed="rId2"/>
          <a:stretch>
            <a:fillRect/>
          </a:stretch>
        </p:blipFill>
        <p:spPr>
          <a:xfrm>
            <a:off x="275303" y="516505"/>
            <a:ext cx="6168739" cy="2912495"/>
          </a:xfrm>
          <a:prstGeom prst="rect">
            <a:avLst/>
          </a:prstGeom>
        </p:spPr>
      </p:pic>
      <p:sp>
        <p:nvSpPr>
          <p:cNvPr id="9" name="TextBox 8">
            <a:extLst>
              <a:ext uri="{FF2B5EF4-FFF2-40B4-BE49-F238E27FC236}">
                <a16:creationId xmlns:a16="http://schemas.microsoft.com/office/drawing/2014/main" id="{0AC45688-7524-CB43-5342-7162F803261C}"/>
              </a:ext>
            </a:extLst>
          </p:cNvPr>
          <p:cNvSpPr txBox="1"/>
          <p:nvPr/>
        </p:nvSpPr>
        <p:spPr>
          <a:xfrm>
            <a:off x="6735096" y="440305"/>
            <a:ext cx="5014451" cy="286232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Once you get the embeddings, you append to it the positional encoding, which you can think of just a number that tells you information about the position of the word. Then, you do multi-head attention There is a feedforward layer with a </a:t>
            </a:r>
            <a:r>
              <a:rPr lang="en-US" b="0" i="0" dirty="0" err="1">
                <a:solidFill>
                  <a:srgbClr val="1F1F1F"/>
                </a:solidFill>
                <a:effectLst/>
                <a:latin typeface="Source Sans Pro" panose="020B0503030403020204" pitchFamily="34" charset="0"/>
              </a:rPr>
              <a:t>ReLU</a:t>
            </a:r>
            <a:r>
              <a:rPr lang="en-US" b="0" i="0" dirty="0">
                <a:solidFill>
                  <a:srgbClr val="1F1F1F"/>
                </a:solidFill>
                <a:effectLst/>
                <a:latin typeface="Source Sans Pro" panose="020B0503030403020204" pitchFamily="34" charset="0"/>
              </a:rPr>
              <a:t> after this, then a residual connection with layer normalization (repeat the block shown above N times), finally a linear layer with a </a:t>
            </a:r>
            <a:r>
              <a:rPr lang="en-US" b="0" i="0" dirty="0" err="1">
                <a:solidFill>
                  <a:srgbClr val="1F1F1F"/>
                </a:solidFill>
                <a:effectLst/>
                <a:latin typeface="Source Sans Pro" panose="020B0503030403020204" pitchFamily="34" charset="0"/>
              </a:rPr>
              <a:t>softmax</a:t>
            </a:r>
            <a:r>
              <a:rPr lang="en-US" b="0" i="0" dirty="0">
                <a:solidFill>
                  <a:srgbClr val="1F1F1F"/>
                </a:solidFill>
                <a:effectLst/>
                <a:latin typeface="Source Sans Pro" panose="020B0503030403020204" pitchFamily="34" charset="0"/>
              </a:rPr>
              <a:t>. Zoning into the block that gets repeated N times, you get the following: </a:t>
            </a:r>
            <a:endParaRPr lang="en-US" dirty="0"/>
          </a:p>
        </p:txBody>
      </p:sp>
      <p:pic>
        <p:nvPicPr>
          <p:cNvPr id="11" name="Picture 10">
            <a:extLst>
              <a:ext uri="{FF2B5EF4-FFF2-40B4-BE49-F238E27FC236}">
                <a16:creationId xmlns:a16="http://schemas.microsoft.com/office/drawing/2014/main" id="{06E12AD0-09DD-A65E-F9EF-FCB2BD2177FD}"/>
              </a:ext>
            </a:extLst>
          </p:cNvPr>
          <p:cNvPicPr>
            <a:picLocks noChangeAspect="1"/>
          </p:cNvPicPr>
          <p:nvPr/>
        </p:nvPicPr>
        <p:blipFill rotWithShape="1">
          <a:blip r:embed="rId3"/>
          <a:srcRect l="10354" t="847"/>
          <a:stretch/>
        </p:blipFill>
        <p:spPr>
          <a:xfrm>
            <a:off x="8003457" y="3302627"/>
            <a:ext cx="3470788" cy="2851090"/>
          </a:xfrm>
          <a:prstGeom prst="rect">
            <a:avLst/>
          </a:prstGeom>
        </p:spPr>
      </p:pic>
      <p:sp>
        <p:nvSpPr>
          <p:cNvPr id="13" name="TextBox 12">
            <a:extLst>
              <a:ext uri="{FF2B5EF4-FFF2-40B4-BE49-F238E27FC236}">
                <a16:creationId xmlns:a16="http://schemas.microsoft.com/office/drawing/2014/main" id="{6B1B48E5-4998-7E97-C1C9-33DF07E3C45A}"/>
              </a:ext>
            </a:extLst>
          </p:cNvPr>
          <p:cNvSpPr txBox="1"/>
          <p:nvPr/>
        </p:nvSpPr>
        <p:spPr>
          <a:xfrm>
            <a:off x="157316" y="3611764"/>
            <a:ext cx="7295536"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Now for the feedforward block, you can just implement the following: </a:t>
            </a:r>
            <a:endParaRPr lang="en-US" dirty="0"/>
          </a:p>
        </p:txBody>
      </p:sp>
      <p:pic>
        <p:nvPicPr>
          <p:cNvPr id="15" name="Picture 14">
            <a:extLst>
              <a:ext uri="{FF2B5EF4-FFF2-40B4-BE49-F238E27FC236}">
                <a16:creationId xmlns:a16="http://schemas.microsoft.com/office/drawing/2014/main" id="{44DB6491-2053-3959-58BD-AE4F47FED12E}"/>
              </a:ext>
            </a:extLst>
          </p:cNvPr>
          <p:cNvPicPr>
            <a:picLocks noChangeAspect="1"/>
          </p:cNvPicPr>
          <p:nvPr/>
        </p:nvPicPr>
        <p:blipFill>
          <a:blip r:embed="rId4"/>
          <a:stretch>
            <a:fillRect/>
          </a:stretch>
        </p:blipFill>
        <p:spPr>
          <a:xfrm>
            <a:off x="717755" y="3981096"/>
            <a:ext cx="5552327" cy="2694140"/>
          </a:xfrm>
          <a:prstGeom prst="rect">
            <a:avLst/>
          </a:prstGeom>
        </p:spPr>
      </p:pic>
    </p:spTree>
    <p:extLst>
      <p:ext uri="{BB962C8B-B14F-4D97-AF65-F5344CB8AC3E}">
        <p14:creationId xmlns:p14="http://schemas.microsoft.com/office/powerpoint/2010/main" val="3584914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2810</TotalTime>
  <Words>490</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Source Sans Pro</vt:lpstr>
      <vt:lpstr>var(--cds-font-family-source-sans-pro)</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32</cp:revision>
  <dcterms:created xsi:type="dcterms:W3CDTF">2024-01-12T01:57:43Z</dcterms:created>
  <dcterms:modified xsi:type="dcterms:W3CDTF">2024-01-14T00:48:34Z</dcterms:modified>
</cp:coreProperties>
</file>