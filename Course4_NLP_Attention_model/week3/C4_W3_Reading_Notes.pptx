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49D53-E882-358B-9B75-CE6FD4DACE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5F09EF-F237-75D1-63BE-EDC0F9226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59266E-1417-8E49-0ABA-09A8C63CA011}"/>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5" name="Footer Placeholder 4">
            <a:extLst>
              <a:ext uri="{FF2B5EF4-FFF2-40B4-BE49-F238E27FC236}">
                <a16:creationId xmlns:a16="http://schemas.microsoft.com/office/drawing/2014/main" id="{4334F779-B7DB-CF6E-0CC9-898D0998C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7C87A0-5F48-BD4E-9917-A659CDAA94D4}"/>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3189459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B74F-9880-9A34-1E6B-44D4AE17D5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8E0ECB-41B3-B918-DCEE-B9407AC4D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D9FBE6-82E3-8887-E637-7A0C9B49A0F0}"/>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5" name="Footer Placeholder 4">
            <a:extLst>
              <a:ext uri="{FF2B5EF4-FFF2-40B4-BE49-F238E27FC236}">
                <a16:creationId xmlns:a16="http://schemas.microsoft.com/office/drawing/2014/main" id="{5362719C-7C85-D425-F155-DFB3746E69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962ED0-15C2-6B04-89E5-F659E2A2C542}"/>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2152476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3F9CF-9C0E-3A67-F86D-9C12F26863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2062B9-E571-BE76-20B7-3E507B9B48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989BE8-9C10-9719-4053-E0E56968D678}"/>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5" name="Footer Placeholder 4">
            <a:extLst>
              <a:ext uri="{FF2B5EF4-FFF2-40B4-BE49-F238E27FC236}">
                <a16:creationId xmlns:a16="http://schemas.microsoft.com/office/drawing/2014/main" id="{B22FF6FE-5C7E-852E-EB34-6FCBD71581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82A5B4-E86A-7994-BC6C-F4DA827BEC1F}"/>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397510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8A438-7B25-7464-FFA9-3AD4CBD36E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CF48CB-3F9E-6566-50F1-EEA819E2B1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22090B-D007-8457-206C-207780B112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2B0DA2-5777-9210-8369-A210B8FED576}"/>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6" name="Footer Placeholder 5">
            <a:extLst>
              <a:ext uri="{FF2B5EF4-FFF2-40B4-BE49-F238E27FC236}">
                <a16:creationId xmlns:a16="http://schemas.microsoft.com/office/drawing/2014/main" id="{33A520F4-E1E8-A38D-E6C1-8F0768B4AF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2D4661-8F96-0D61-F159-3C4F25082C13}"/>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1340701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4618E-1069-2C3E-4877-3BFCE04C69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74338D-2A37-C1F8-1D71-15BC596B6E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8ACE7D-3E9E-D7C0-0E59-0693BE7FAC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78E890-3BD9-3D36-2220-156281D102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9B0EFB-515D-5997-597C-F80E54EA38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52007D-0560-6DBF-B9F6-E482FC0280FB}"/>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8" name="Footer Placeholder 7">
            <a:extLst>
              <a:ext uri="{FF2B5EF4-FFF2-40B4-BE49-F238E27FC236}">
                <a16:creationId xmlns:a16="http://schemas.microsoft.com/office/drawing/2014/main" id="{2916B195-270D-A663-AD66-5414BF3630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0D50F1-54B2-EFED-5099-B604497E392D}"/>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4051636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4CB1-BB6E-C4BB-ECD2-2F7774F647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BC18C4-D1F0-FF70-4CC2-603889FE297C}"/>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4" name="Footer Placeholder 3">
            <a:extLst>
              <a:ext uri="{FF2B5EF4-FFF2-40B4-BE49-F238E27FC236}">
                <a16:creationId xmlns:a16="http://schemas.microsoft.com/office/drawing/2014/main" id="{28F26834-BFE9-BF85-7230-0BFA88E962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72BB89-D2BC-CEA4-7516-5217751742BB}"/>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109572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725F7D-EC5A-66DB-E3B2-4E36C09D25DD}"/>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3" name="Footer Placeholder 2">
            <a:extLst>
              <a:ext uri="{FF2B5EF4-FFF2-40B4-BE49-F238E27FC236}">
                <a16:creationId xmlns:a16="http://schemas.microsoft.com/office/drawing/2014/main" id="{72A009F3-8EC4-EE9C-1CE5-ED1F3D6B14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B299B7-5AC7-41A9-80F1-96270EF084EF}"/>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2023929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430EB-1E68-FA64-D062-8E06ACD35C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931130-6063-601F-D780-08A3DE360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ACEC79-E3F6-521A-6631-B719D065A9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DF0B1A-A530-14D1-2DC4-860CD1CFE9F5}"/>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6" name="Footer Placeholder 5">
            <a:extLst>
              <a:ext uri="{FF2B5EF4-FFF2-40B4-BE49-F238E27FC236}">
                <a16:creationId xmlns:a16="http://schemas.microsoft.com/office/drawing/2014/main" id="{A1742A9B-94E6-CC15-CEFB-212F8DBD7A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8173CE-3BF0-5161-9C20-A0D001C7A806}"/>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3801069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BF8A5-AD8A-04B1-208E-45D6991F6A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4B3430-5029-D505-6A87-85B6E8B0D9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CBB2DF-E7CC-11D1-F249-1D209FB7D4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5FA591-B9A5-F5DB-5546-61C2A98C4DBB}"/>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6" name="Footer Placeholder 5">
            <a:extLst>
              <a:ext uri="{FF2B5EF4-FFF2-40B4-BE49-F238E27FC236}">
                <a16:creationId xmlns:a16="http://schemas.microsoft.com/office/drawing/2014/main" id="{4FC8C087-D85A-C1B3-E552-1B0D872019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788DC0-D557-039D-457D-AAFAEC311954}"/>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2871158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4A1F7-00D0-EEA5-1EB7-ED07A9F47C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1C3A3E-694F-27C4-BD0F-F05B365377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A4194B-50B2-AFD4-F4C3-972ECB0D4204}"/>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5" name="Footer Placeholder 4">
            <a:extLst>
              <a:ext uri="{FF2B5EF4-FFF2-40B4-BE49-F238E27FC236}">
                <a16:creationId xmlns:a16="http://schemas.microsoft.com/office/drawing/2014/main" id="{AD1A791B-6A85-129A-9B36-0BEC653FC2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C8DB9A-2146-94EF-EEEC-89F83C3F602B}"/>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2880093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F7F016-2243-0B0B-D472-4CC1129EBA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071C78-16E7-67D7-0D40-DC3E054066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50AB3A-AB6D-802C-3A42-77B39CB9ED6B}"/>
              </a:ext>
            </a:extLst>
          </p:cNvPr>
          <p:cNvSpPr>
            <a:spLocks noGrp="1"/>
          </p:cNvSpPr>
          <p:nvPr>
            <p:ph type="dt" sz="half" idx="10"/>
          </p:nvPr>
        </p:nvSpPr>
        <p:spPr/>
        <p:txBody>
          <a:bodyPr/>
          <a:lstStyle/>
          <a:p>
            <a:fld id="{E5B4C690-0BE9-48A4-8DE4-0CFA672E6447}" type="datetimeFigureOut">
              <a:rPr lang="en-US" smtClean="0"/>
              <a:t>1/14/2024</a:t>
            </a:fld>
            <a:endParaRPr lang="en-US"/>
          </a:p>
        </p:txBody>
      </p:sp>
      <p:sp>
        <p:nvSpPr>
          <p:cNvPr id="5" name="Footer Placeholder 4">
            <a:extLst>
              <a:ext uri="{FF2B5EF4-FFF2-40B4-BE49-F238E27FC236}">
                <a16:creationId xmlns:a16="http://schemas.microsoft.com/office/drawing/2014/main" id="{E4122A0F-608D-7315-DEF4-CCD8F866C6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730BDC-C210-71B2-44F9-0D842B602082}"/>
              </a:ext>
            </a:extLst>
          </p:cNvPr>
          <p:cNvSpPr>
            <a:spLocks noGrp="1"/>
          </p:cNvSpPr>
          <p:nvPr>
            <p:ph type="sldNum" sz="quarter" idx="12"/>
          </p:nvPr>
        </p:nvSpPr>
        <p:spPr/>
        <p:txBody>
          <a:bodyPr/>
          <a:lstStyle/>
          <a:p>
            <a:fld id="{84AAA202-FD4E-4EFE-83BC-52DA49D8288C}" type="slidenum">
              <a:rPr lang="en-US" smtClean="0"/>
              <a:t>‹#›</a:t>
            </a:fld>
            <a:endParaRPr lang="en-US"/>
          </a:p>
        </p:txBody>
      </p:sp>
    </p:spTree>
    <p:extLst>
      <p:ext uri="{BB962C8B-B14F-4D97-AF65-F5344CB8AC3E}">
        <p14:creationId xmlns:p14="http://schemas.microsoft.com/office/powerpoint/2010/main" val="273839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BE72E3-ACBE-1194-501B-AB05816342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AE67DC-F10C-AAC8-D200-D7F7F9ACAC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D3D085-7BC5-BD3F-8001-CECD3C5C7D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4C690-0BE9-48A4-8DE4-0CFA672E6447}" type="datetimeFigureOut">
              <a:rPr lang="en-US" smtClean="0"/>
              <a:t>1/14/2024</a:t>
            </a:fld>
            <a:endParaRPr lang="en-US"/>
          </a:p>
        </p:txBody>
      </p:sp>
      <p:sp>
        <p:nvSpPr>
          <p:cNvPr id="5" name="Footer Placeholder 4">
            <a:extLst>
              <a:ext uri="{FF2B5EF4-FFF2-40B4-BE49-F238E27FC236}">
                <a16:creationId xmlns:a16="http://schemas.microsoft.com/office/drawing/2014/main" id="{649124B4-8176-5EF3-B408-C7FB34ACAB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3166122-567E-162C-6D47-654ADA406C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AAA202-FD4E-4EFE-83BC-52DA49D8288C}" type="slidenum">
              <a:rPr lang="en-US" smtClean="0"/>
              <a:t>‹#›</a:t>
            </a:fld>
            <a:endParaRPr lang="en-US"/>
          </a:p>
        </p:txBody>
      </p:sp>
    </p:spTree>
    <p:extLst>
      <p:ext uri="{BB962C8B-B14F-4D97-AF65-F5344CB8AC3E}">
        <p14:creationId xmlns:p14="http://schemas.microsoft.com/office/powerpoint/2010/main" val="1755979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medium.com/dissecting-bert/dissecting-bert-part2-335ff2ed9c73"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79B8EC-41D4-49A0-81F1-0EF262E3AD27}"/>
              </a:ext>
            </a:extLst>
          </p:cNvPr>
          <p:cNvSpPr txBox="1"/>
          <p:nvPr/>
        </p:nvSpPr>
        <p:spPr>
          <a:xfrm>
            <a:off x="127820" y="110302"/>
            <a:ext cx="6096000" cy="369332"/>
          </a:xfrm>
          <a:prstGeom prst="rect">
            <a:avLst/>
          </a:prstGeom>
          <a:noFill/>
        </p:spPr>
        <p:txBody>
          <a:bodyPr wrap="square">
            <a:spAutoFit/>
          </a:bodyPr>
          <a:lstStyle/>
          <a:p>
            <a:pPr algn="l"/>
            <a:r>
              <a:rPr lang="en-US" b="1" i="0" dirty="0">
                <a:solidFill>
                  <a:srgbClr val="1F1F1F"/>
                </a:solidFill>
                <a:effectLst/>
              </a:rPr>
              <a:t>Week 3 Overview</a:t>
            </a:r>
          </a:p>
        </p:txBody>
      </p:sp>
      <p:sp>
        <p:nvSpPr>
          <p:cNvPr id="7" name="TextBox 6">
            <a:extLst>
              <a:ext uri="{FF2B5EF4-FFF2-40B4-BE49-F238E27FC236}">
                <a16:creationId xmlns:a16="http://schemas.microsoft.com/office/drawing/2014/main" id="{F6DFF09E-4E4A-F552-C6BD-A684A43A0728}"/>
              </a:ext>
            </a:extLst>
          </p:cNvPr>
          <p:cNvSpPr txBox="1"/>
          <p:nvPr/>
        </p:nvSpPr>
        <p:spPr>
          <a:xfrm>
            <a:off x="127820" y="479634"/>
            <a:ext cx="11847870"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Welcome to Week 3! In this week you are going to learn about transfer learning and specifically you will understand how T5 and BERT actually work. </a:t>
            </a:r>
            <a:endParaRPr lang="en-US" dirty="0"/>
          </a:p>
        </p:txBody>
      </p:sp>
      <p:pic>
        <p:nvPicPr>
          <p:cNvPr id="9" name="Picture 8">
            <a:extLst>
              <a:ext uri="{FF2B5EF4-FFF2-40B4-BE49-F238E27FC236}">
                <a16:creationId xmlns:a16="http://schemas.microsoft.com/office/drawing/2014/main" id="{E3AF0661-CAEB-939B-C568-D3B626276193}"/>
              </a:ext>
            </a:extLst>
          </p:cNvPr>
          <p:cNvPicPr>
            <a:picLocks noChangeAspect="1"/>
          </p:cNvPicPr>
          <p:nvPr/>
        </p:nvPicPr>
        <p:blipFill>
          <a:blip r:embed="rId2"/>
          <a:stretch>
            <a:fillRect/>
          </a:stretch>
        </p:blipFill>
        <p:spPr>
          <a:xfrm>
            <a:off x="277437" y="1224288"/>
            <a:ext cx="5612085" cy="2050129"/>
          </a:xfrm>
          <a:prstGeom prst="rect">
            <a:avLst/>
          </a:prstGeom>
        </p:spPr>
      </p:pic>
      <p:sp>
        <p:nvSpPr>
          <p:cNvPr id="11" name="TextBox 10">
            <a:extLst>
              <a:ext uri="{FF2B5EF4-FFF2-40B4-BE49-F238E27FC236}">
                <a16:creationId xmlns:a16="http://schemas.microsoft.com/office/drawing/2014/main" id="{D0748DC1-9F2F-B7F8-7B60-CA56929C4CB1}"/>
              </a:ext>
            </a:extLst>
          </p:cNvPr>
          <p:cNvSpPr txBox="1"/>
          <p:nvPr/>
        </p:nvSpPr>
        <p:spPr>
          <a:xfrm>
            <a:off x="6381136" y="1125965"/>
            <a:ext cx="4965290" cy="2031325"/>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 the image above, you can see how a model initially trained on some type of sentiment classification, could now be used for question answering. One other state of the art model makes use of multi tasking. For example, the same model could be used for sentiment analysis, question answering, and many other things. </a:t>
            </a:r>
            <a:endParaRPr lang="en-US" dirty="0"/>
          </a:p>
        </p:txBody>
      </p:sp>
      <p:sp>
        <p:nvSpPr>
          <p:cNvPr id="13" name="TextBox 12">
            <a:extLst>
              <a:ext uri="{FF2B5EF4-FFF2-40B4-BE49-F238E27FC236}">
                <a16:creationId xmlns:a16="http://schemas.microsoft.com/office/drawing/2014/main" id="{865EE7F8-67D1-C280-2BA2-DA49F1C63ECA}"/>
              </a:ext>
            </a:extLst>
          </p:cNvPr>
          <p:cNvSpPr txBox="1"/>
          <p:nvPr/>
        </p:nvSpPr>
        <p:spPr>
          <a:xfrm>
            <a:off x="8357419" y="4395470"/>
            <a:ext cx="3254478" cy="1754326"/>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These new types of models make use of a lot of data. For example the C4 (colossal cleaned crawled corpus) is about 800 GB when all of the </a:t>
            </a:r>
            <a:r>
              <a:rPr lang="en-US" b="0" i="0" dirty="0" err="1">
                <a:solidFill>
                  <a:srgbClr val="1F1F1F"/>
                </a:solidFill>
                <a:effectLst/>
                <a:latin typeface="Source Sans Pro" panose="020B0503030403020204" pitchFamily="34" charset="0"/>
              </a:rPr>
              <a:t>english</a:t>
            </a:r>
            <a:r>
              <a:rPr lang="en-US" b="0" i="0" dirty="0">
                <a:solidFill>
                  <a:srgbClr val="1F1F1F"/>
                </a:solidFill>
                <a:effectLst/>
                <a:latin typeface="Source Sans Pro" panose="020B0503030403020204" pitchFamily="34" charset="0"/>
              </a:rPr>
              <a:t> </a:t>
            </a:r>
            <a:r>
              <a:rPr lang="en-US" b="0" i="0" dirty="0" err="1">
                <a:solidFill>
                  <a:srgbClr val="1F1F1F"/>
                </a:solidFill>
                <a:effectLst/>
                <a:latin typeface="Source Sans Pro" panose="020B0503030403020204" pitchFamily="34" charset="0"/>
              </a:rPr>
              <a:t>wikipedia</a:t>
            </a:r>
            <a:r>
              <a:rPr lang="en-US" b="0" i="0" dirty="0">
                <a:solidFill>
                  <a:srgbClr val="1F1F1F"/>
                </a:solidFill>
                <a:effectLst/>
                <a:latin typeface="Source Sans Pro" panose="020B0503030403020204" pitchFamily="34" charset="0"/>
              </a:rPr>
              <a:t> is just 13 GB! </a:t>
            </a:r>
            <a:endParaRPr lang="en-US" dirty="0"/>
          </a:p>
        </p:txBody>
      </p:sp>
      <p:pic>
        <p:nvPicPr>
          <p:cNvPr id="15" name="Picture 14">
            <a:extLst>
              <a:ext uri="{FF2B5EF4-FFF2-40B4-BE49-F238E27FC236}">
                <a16:creationId xmlns:a16="http://schemas.microsoft.com/office/drawing/2014/main" id="{C9432B4B-184A-AB68-7B7E-8ADF91434B55}"/>
              </a:ext>
            </a:extLst>
          </p:cNvPr>
          <p:cNvPicPr>
            <a:picLocks noChangeAspect="1"/>
          </p:cNvPicPr>
          <p:nvPr/>
        </p:nvPicPr>
        <p:blipFill>
          <a:blip r:embed="rId3"/>
          <a:stretch>
            <a:fillRect/>
          </a:stretch>
        </p:blipFill>
        <p:spPr>
          <a:xfrm>
            <a:off x="580103" y="3782151"/>
            <a:ext cx="7277731" cy="2751058"/>
          </a:xfrm>
          <a:prstGeom prst="rect">
            <a:avLst/>
          </a:prstGeom>
        </p:spPr>
      </p:pic>
    </p:spTree>
    <p:extLst>
      <p:ext uri="{BB962C8B-B14F-4D97-AF65-F5344CB8AC3E}">
        <p14:creationId xmlns:p14="http://schemas.microsoft.com/office/powerpoint/2010/main" val="4180901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245C6A-A85D-138C-FBD6-27EE9A1019B5}"/>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Transfer Learning in NLP</a:t>
            </a:r>
          </a:p>
        </p:txBody>
      </p:sp>
      <p:sp>
        <p:nvSpPr>
          <p:cNvPr id="7" name="TextBox 6">
            <a:extLst>
              <a:ext uri="{FF2B5EF4-FFF2-40B4-BE49-F238E27FC236}">
                <a16:creationId xmlns:a16="http://schemas.microsoft.com/office/drawing/2014/main" id="{6E10D0E2-2E99-966E-31F2-C3A2B2E0417D}"/>
              </a:ext>
            </a:extLst>
          </p:cNvPr>
          <p:cNvSpPr txBox="1"/>
          <p:nvPr/>
        </p:nvSpPr>
        <p:spPr>
          <a:xfrm>
            <a:off x="90947" y="369332"/>
            <a:ext cx="7706033" cy="1200329"/>
          </a:xfrm>
          <a:prstGeom prst="rect">
            <a:avLst/>
          </a:prstGeom>
          <a:noFill/>
        </p:spPr>
        <p:txBody>
          <a:bodyPr wrap="square">
            <a:spAutoFit/>
          </a:bodyPr>
          <a:lstStyle/>
          <a:p>
            <a:pPr algn="l"/>
            <a:r>
              <a:rPr lang="en-US" b="0" i="0" dirty="0">
                <a:solidFill>
                  <a:srgbClr val="1F1F1F"/>
                </a:solidFill>
                <a:effectLst/>
                <a:latin typeface="var(--cds-font-family-source-sans-pro)"/>
              </a:rPr>
              <a:t>There are three main advantages to transfer learning:</a:t>
            </a:r>
          </a:p>
          <a:p>
            <a:pPr algn="l">
              <a:buFont typeface="Arial" panose="020B0604020202020204" pitchFamily="34" charset="0"/>
              <a:buChar char="•"/>
            </a:pPr>
            <a:r>
              <a:rPr lang="en-US" b="0" i="0" dirty="0">
                <a:solidFill>
                  <a:srgbClr val="1F1F1F"/>
                </a:solidFill>
                <a:effectLst/>
                <a:latin typeface="var(--cds-font-family-source-sans-pro)"/>
              </a:rPr>
              <a:t>Reduce training time</a:t>
            </a:r>
          </a:p>
          <a:p>
            <a:pPr algn="l">
              <a:buFont typeface="Arial" panose="020B0604020202020204" pitchFamily="34" charset="0"/>
              <a:buChar char="•"/>
            </a:pPr>
            <a:r>
              <a:rPr lang="en-US" b="0" i="0" dirty="0">
                <a:solidFill>
                  <a:srgbClr val="1F1F1F"/>
                </a:solidFill>
                <a:effectLst/>
                <a:latin typeface="var(--cds-font-family-source-sans-pro)"/>
              </a:rPr>
              <a:t>Improve predictions</a:t>
            </a:r>
          </a:p>
          <a:p>
            <a:pPr algn="l">
              <a:buFont typeface="Arial" panose="020B0604020202020204" pitchFamily="34" charset="0"/>
              <a:buChar char="•"/>
            </a:pPr>
            <a:r>
              <a:rPr lang="en-US" b="0" i="0" dirty="0">
                <a:solidFill>
                  <a:srgbClr val="1F1F1F"/>
                </a:solidFill>
                <a:effectLst/>
                <a:latin typeface="var(--cds-font-family-source-sans-pro)"/>
              </a:rPr>
              <a:t>Allows you to use smaller datasets</a:t>
            </a:r>
          </a:p>
        </p:txBody>
      </p:sp>
      <p:sp>
        <p:nvSpPr>
          <p:cNvPr id="9" name="TextBox 8">
            <a:extLst>
              <a:ext uri="{FF2B5EF4-FFF2-40B4-BE49-F238E27FC236}">
                <a16:creationId xmlns:a16="http://schemas.microsoft.com/office/drawing/2014/main" id="{8DC83297-95AC-CDBA-F302-4A528399F750}"/>
              </a:ext>
            </a:extLst>
          </p:cNvPr>
          <p:cNvSpPr txBox="1"/>
          <p:nvPr/>
        </p:nvSpPr>
        <p:spPr>
          <a:xfrm>
            <a:off x="0" y="1687679"/>
            <a:ext cx="7578214"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Two methods that you can use for transfer learning are the following:</a:t>
            </a:r>
            <a:endParaRPr lang="en-US" dirty="0"/>
          </a:p>
        </p:txBody>
      </p:sp>
      <p:pic>
        <p:nvPicPr>
          <p:cNvPr id="11" name="Picture 10">
            <a:extLst>
              <a:ext uri="{FF2B5EF4-FFF2-40B4-BE49-F238E27FC236}">
                <a16:creationId xmlns:a16="http://schemas.microsoft.com/office/drawing/2014/main" id="{53CDF512-2C86-6E08-C184-DA7F2A4DF7F5}"/>
              </a:ext>
            </a:extLst>
          </p:cNvPr>
          <p:cNvPicPr>
            <a:picLocks noChangeAspect="1"/>
          </p:cNvPicPr>
          <p:nvPr/>
        </p:nvPicPr>
        <p:blipFill>
          <a:blip r:embed="rId2"/>
          <a:stretch>
            <a:fillRect/>
          </a:stretch>
        </p:blipFill>
        <p:spPr>
          <a:xfrm>
            <a:off x="90947" y="2163844"/>
            <a:ext cx="5470490" cy="2637146"/>
          </a:xfrm>
          <a:prstGeom prst="rect">
            <a:avLst/>
          </a:prstGeom>
        </p:spPr>
      </p:pic>
      <p:sp>
        <p:nvSpPr>
          <p:cNvPr id="13" name="TextBox 12">
            <a:extLst>
              <a:ext uri="{FF2B5EF4-FFF2-40B4-BE49-F238E27FC236}">
                <a16:creationId xmlns:a16="http://schemas.microsoft.com/office/drawing/2014/main" id="{8BBB4CCE-9CA1-20BC-84EB-0D7D3987ED1B}"/>
              </a:ext>
            </a:extLst>
          </p:cNvPr>
          <p:cNvSpPr txBox="1"/>
          <p:nvPr/>
        </p:nvSpPr>
        <p:spPr>
          <a:xfrm>
            <a:off x="6980903" y="120840"/>
            <a:ext cx="5120150"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 feature based transfer learning, you learn word embeddings by training one model and then you use those word embeddings in a different model on a different task.</a:t>
            </a:r>
            <a:endParaRPr lang="en-US" dirty="0"/>
          </a:p>
        </p:txBody>
      </p:sp>
      <p:sp>
        <p:nvSpPr>
          <p:cNvPr id="15" name="TextBox 14">
            <a:extLst>
              <a:ext uri="{FF2B5EF4-FFF2-40B4-BE49-F238E27FC236}">
                <a16:creationId xmlns:a16="http://schemas.microsoft.com/office/drawing/2014/main" id="{54107C34-E3C5-9D76-B619-E11810FCD593}"/>
              </a:ext>
            </a:extLst>
          </p:cNvPr>
          <p:cNvSpPr txBox="1"/>
          <p:nvPr/>
        </p:nvSpPr>
        <p:spPr>
          <a:xfrm>
            <a:off x="6980903" y="1321169"/>
            <a:ext cx="5120150" cy="2308324"/>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When fine tuning, you can use the exact same model and just run it on a different task. Sometimes when fine tuning, you can keep the model weights fixed and just add a new layer that you will train. Other times you can slowly unfreeze the layers one at a time. You can also use </a:t>
            </a:r>
            <a:r>
              <a:rPr lang="en-US" b="0" i="0" dirty="0" err="1">
                <a:solidFill>
                  <a:srgbClr val="1F1F1F"/>
                </a:solidFill>
                <a:effectLst/>
                <a:latin typeface="Source Sans Pro" panose="020B0503030403020204" pitchFamily="34" charset="0"/>
              </a:rPr>
              <a:t>unlabelled</a:t>
            </a:r>
            <a:r>
              <a:rPr lang="en-US" b="0" i="0" dirty="0">
                <a:solidFill>
                  <a:srgbClr val="1F1F1F"/>
                </a:solidFill>
                <a:effectLst/>
                <a:latin typeface="Source Sans Pro" panose="020B0503030403020204" pitchFamily="34" charset="0"/>
              </a:rPr>
              <a:t> data when pre-training, by masking words and trying to predict which word was masked.</a:t>
            </a:r>
            <a:endParaRPr lang="en-US" dirty="0"/>
          </a:p>
        </p:txBody>
      </p:sp>
      <p:pic>
        <p:nvPicPr>
          <p:cNvPr id="17" name="Picture 16">
            <a:extLst>
              <a:ext uri="{FF2B5EF4-FFF2-40B4-BE49-F238E27FC236}">
                <a16:creationId xmlns:a16="http://schemas.microsoft.com/office/drawing/2014/main" id="{F64E780D-0EAA-A4D7-0C94-E03D0739DB6D}"/>
              </a:ext>
            </a:extLst>
          </p:cNvPr>
          <p:cNvPicPr>
            <a:picLocks noChangeAspect="1"/>
          </p:cNvPicPr>
          <p:nvPr/>
        </p:nvPicPr>
        <p:blipFill>
          <a:blip r:embed="rId3"/>
          <a:stretch>
            <a:fillRect/>
          </a:stretch>
        </p:blipFill>
        <p:spPr>
          <a:xfrm>
            <a:off x="6096000" y="3571268"/>
            <a:ext cx="5810865" cy="2753143"/>
          </a:xfrm>
          <a:prstGeom prst="rect">
            <a:avLst/>
          </a:prstGeom>
        </p:spPr>
      </p:pic>
      <p:sp>
        <p:nvSpPr>
          <p:cNvPr id="19" name="TextBox 18">
            <a:extLst>
              <a:ext uri="{FF2B5EF4-FFF2-40B4-BE49-F238E27FC236}">
                <a16:creationId xmlns:a16="http://schemas.microsoft.com/office/drawing/2014/main" id="{84EA8C5E-4817-4DB9-4BFD-7D4A50D2CAC4}"/>
              </a:ext>
            </a:extLst>
          </p:cNvPr>
          <p:cNvSpPr txBox="1"/>
          <p:nvPr/>
        </p:nvSpPr>
        <p:spPr>
          <a:xfrm>
            <a:off x="-12290" y="5288339"/>
            <a:ext cx="6120580"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For example, in the drawing (right) we try to predict the word "friend". This allows your model to get a grasp of the overall structure of the data and to help the model learn some relationships within the words of a sentence. </a:t>
            </a:r>
            <a:endParaRPr lang="en-US" dirty="0"/>
          </a:p>
        </p:txBody>
      </p:sp>
    </p:spTree>
    <p:extLst>
      <p:ext uri="{BB962C8B-B14F-4D97-AF65-F5344CB8AC3E}">
        <p14:creationId xmlns:p14="http://schemas.microsoft.com/office/powerpoint/2010/main" val="919755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03C591-C9E0-5943-B03F-EF8FFCF79513}"/>
              </a:ext>
            </a:extLst>
          </p:cNvPr>
          <p:cNvSpPr txBox="1"/>
          <p:nvPr/>
        </p:nvSpPr>
        <p:spPr>
          <a:xfrm>
            <a:off x="147484" y="129967"/>
            <a:ext cx="6096000" cy="369332"/>
          </a:xfrm>
          <a:prstGeom prst="rect">
            <a:avLst/>
          </a:prstGeom>
          <a:noFill/>
        </p:spPr>
        <p:txBody>
          <a:bodyPr wrap="square">
            <a:spAutoFit/>
          </a:bodyPr>
          <a:lstStyle/>
          <a:p>
            <a:pPr algn="l"/>
            <a:r>
              <a:rPr lang="en-US" b="1" i="0" dirty="0" err="1">
                <a:solidFill>
                  <a:srgbClr val="1F1F1F"/>
                </a:solidFill>
                <a:effectLst/>
              </a:rPr>
              <a:t>ELMo</a:t>
            </a:r>
            <a:r>
              <a:rPr lang="en-US" b="1" i="0" dirty="0">
                <a:solidFill>
                  <a:srgbClr val="1F1F1F"/>
                </a:solidFill>
                <a:effectLst/>
              </a:rPr>
              <a:t>, GPT, BERT, T5</a:t>
            </a:r>
          </a:p>
        </p:txBody>
      </p:sp>
      <p:sp>
        <p:nvSpPr>
          <p:cNvPr id="7" name="TextBox 6">
            <a:extLst>
              <a:ext uri="{FF2B5EF4-FFF2-40B4-BE49-F238E27FC236}">
                <a16:creationId xmlns:a16="http://schemas.microsoft.com/office/drawing/2014/main" id="{2429802D-4C6B-E88B-BF9E-A7DCB4086D41}"/>
              </a:ext>
            </a:extLst>
          </p:cNvPr>
          <p:cNvSpPr txBox="1"/>
          <p:nvPr/>
        </p:nvSpPr>
        <p:spPr>
          <a:xfrm>
            <a:off x="147484" y="499299"/>
            <a:ext cx="10068232"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models mentioned in the previous video were discovered in the following order. </a:t>
            </a:r>
            <a:endParaRPr lang="en-US" dirty="0"/>
          </a:p>
        </p:txBody>
      </p:sp>
      <p:pic>
        <p:nvPicPr>
          <p:cNvPr id="9" name="Picture 8">
            <a:extLst>
              <a:ext uri="{FF2B5EF4-FFF2-40B4-BE49-F238E27FC236}">
                <a16:creationId xmlns:a16="http://schemas.microsoft.com/office/drawing/2014/main" id="{739F2903-C3C4-79CE-34C4-0EEB9F46881E}"/>
              </a:ext>
            </a:extLst>
          </p:cNvPr>
          <p:cNvPicPr>
            <a:picLocks noChangeAspect="1"/>
          </p:cNvPicPr>
          <p:nvPr/>
        </p:nvPicPr>
        <p:blipFill>
          <a:blip r:embed="rId2"/>
          <a:stretch>
            <a:fillRect/>
          </a:stretch>
        </p:blipFill>
        <p:spPr>
          <a:xfrm>
            <a:off x="281436" y="868631"/>
            <a:ext cx="5814564" cy="800169"/>
          </a:xfrm>
          <a:prstGeom prst="rect">
            <a:avLst/>
          </a:prstGeom>
        </p:spPr>
      </p:pic>
      <p:sp>
        <p:nvSpPr>
          <p:cNvPr id="11" name="TextBox 10">
            <a:extLst>
              <a:ext uri="{FF2B5EF4-FFF2-40B4-BE49-F238E27FC236}">
                <a16:creationId xmlns:a16="http://schemas.microsoft.com/office/drawing/2014/main" id="{E7C40511-5E4E-A22A-CCD4-0D4D7488B28B}"/>
              </a:ext>
            </a:extLst>
          </p:cNvPr>
          <p:cNvSpPr txBox="1"/>
          <p:nvPr/>
        </p:nvSpPr>
        <p:spPr>
          <a:xfrm>
            <a:off x="281436" y="1807891"/>
            <a:ext cx="11910564"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 CBOW, you want to encode a word as a vector. To do this we used the context before the word and the context after the word and we use that model to learn and create features for the word. CBOW however uses a fixed window C (for the context).</a:t>
            </a:r>
            <a:endParaRPr lang="en-US" dirty="0"/>
          </a:p>
        </p:txBody>
      </p:sp>
      <p:sp>
        <p:nvSpPr>
          <p:cNvPr id="13" name="TextBox 12">
            <a:extLst>
              <a:ext uri="{FF2B5EF4-FFF2-40B4-BE49-F238E27FC236}">
                <a16:creationId xmlns:a16="http://schemas.microsoft.com/office/drawing/2014/main" id="{9F922470-C276-80D6-2334-F5547963ED26}"/>
              </a:ext>
            </a:extLst>
          </p:cNvPr>
          <p:cNvSpPr txBox="1"/>
          <p:nvPr/>
        </p:nvSpPr>
        <p:spPr>
          <a:xfrm>
            <a:off x="281436" y="2870312"/>
            <a:ext cx="11910564"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What </a:t>
            </a:r>
            <a:r>
              <a:rPr lang="en-US" b="0" i="0" dirty="0" err="1">
                <a:solidFill>
                  <a:srgbClr val="1F1F1F"/>
                </a:solidFill>
                <a:effectLst/>
                <a:latin typeface="Source Sans Pro" panose="020B0503030403020204" pitchFamily="34" charset="0"/>
              </a:rPr>
              <a:t>ElMo</a:t>
            </a:r>
            <a:r>
              <a:rPr lang="en-US" b="0" i="0" dirty="0">
                <a:solidFill>
                  <a:srgbClr val="1F1F1F"/>
                </a:solidFill>
                <a:effectLst/>
                <a:latin typeface="Source Sans Pro" panose="020B0503030403020204" pitchFamily="34" charset="0"/>
              </a:rPr>
              <a:t> does is, it uses a bi-directional LSTM, which is another version of an RNN and you have the inputs from the left and the right.</a:t>
            </a:r>
            <a:endParaRPr lang="en-US" dirty="0"/>
          </a:p>
        </p:txBody>
      </p:sp>
      <p:sp>
        <p:nvSpPr>
          <p:cNvPr id="15" name="TextBox 14">
            <a:extLst>
              <a:ext uri="{FF2B5EF4-FFF2-40B4-BE49-F238E27FC236}">
                <a16:creationId xmlns:a16="http://schemas.microsoft.com/office/drawing/2014/main" id="{86B20DD5-DF99-5091-2165-D867DA5A9F0B}"/>
              </a:ext>
            </a:extLst>
          </p:cNvPr>
          <p:cNvSpPr txBox="1"/>
          <p:nvPr/>
        </p:nvSpPr>
        <p:spPr>
          <a:xfrm>
            <a:off x="281436" y="3655734"/>
            <a:ext cx="5362280" cy="313932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Then Open AI introduced GPT. GPT unfortunately is </a:t>
            </a:r>
            <a:r>
              <a:rPr lang="en-US" b="0" i="0" dirty="0" err="1">
                <a:solidFill>
                  <a:srgbClr val="1F1F1F"/>
                </a:solidFill>
                <a:effectLst/>
                <a:latin typeface="Source Sans Pro" panose="020B0503030403020204" pitchFamily="34" charset="0"/>
              </a:rPr>
              <a:t>uni</a:t>
            </a:r>
            <a:r>
              <a:rPr lang="en-US" b="0" i="0" dirty="0">
                <a:solidFill>
                  <a:srgbClr val="1F1F1F"/>
                </a:solidFill>
                <a:effectLst/>
                <a:latin typeface="Source Sans Pro" panose="020B0503030403020204" pitchFamily="34" charset="0"/>
              </a:rPr>
              <a:t>-directional but it makes use of transformers. Although </a:t>
            </a:r>
            <a:r>
              <a:rPr lang="en-US" b="0" i="0" dirty="0" err="1">
                <a:solidFill>
                  <a:srgbClr val="1F1F1F"/>
                </a:solidFill>
                <a:effectLst/>
                <a:latin typeface="Source Sans Pro" panose="020B0503030403020204" pitchFamily="34" charset="0"/>
              </a:rPr>
              <a:t>ElMo</a:t>
            </a:r>
            <a:r>
              <a:rPr lang="en-US" b="0" i="0" dirty="0">
                <a:solidFill>
                  <a:srgbClr val="1F1F1F"/>
                </a:solidFill>
                <a:effectLst/>
                <a:latin typeface="Source Sans Pro" panose="020B0503030403020204" pitchFamily="34" charset="0"/>
              </a:rPr>
              <a:t> was bi-directional, it suffered from some issues such as capturing longer-term dependencies. Transformers help with that, but since GPT was still unidirectional, BERT was then introduced which stands for the Bi-directional Encoder Representation from Transformers. Last but not least, T5 was introduced which makes use of transfer learning and uses the same model to predict on many tasks. Here is an illustration of how it works.</a:t>
            </a:r>
            <a:endParaRPr lang="en-US" dirty="0"/>
          </a:p>
        </p:txBody>
      </p:sp>
      <p:pic>
        <p:nvPicPr>
          <p:cNvPr id="17" name="Picture 16">
            <a:extLst>
              <a:ext uri="{FF2B5EF4-FFF2-40B4-BE49-F238E27FC236}">
                <a16:creationId xmlns:a16="http://schemas.microsoft.com/office/drawing/2014/main" id="{E256ADFA-710B-ABB3-BE02-C35632937D1C}"/>
              </a:ext>
            </a:extLst>
          </p:cNvPr>
          <p:cNvPicPr>
            <a:picLocks noChangeAspect="1"/>
          </p:cNvPicPr>
          <p:nvPr/>
        </p:nvPicPr>
        <p:blipFill>
          <a:blip r:embed="rId3"/>
          <a:stretch>
            <a:fillRect/>
          </a:stretch>
        </p:blipFill>
        <p:spPr>
          <a:xfrm>
            <a:off x="5903174" y="4014073"/>
            <a:ext cx="6056551" cy="2162176"/>
          </a:xfrm>
          <a:prstGeom prst="rect">
            <a:avLst/>
          </a:prstGeom>
        </p:spPr>
      </p:pic>
    </p:spTree>
    <p:extLst>
      <p:ext uri="{BB962C8B-B14F-4D97-AF65-F5344CB8AC3E}">
        <p14:creationId xmlns:p14="http://schemas.microsoft.com/office/powerpoint/2010/main" val="2102844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A43D82-83EC-F1E1-8435-74607D5845DD}"/>
              </a:ext>
            </a:extLst>
          </p:cNvPr>
          <p:cNvSpPr txBox="1"/>
          <p:nvPr/>
        </p:nvSpPr>
        <p:spPr>
          <a:xfrm>
            <a:off x="78657" y="0"/>
            <a:ext cx="8042787" cy="369332"/>
          </a:xfrm>
          <a:prstGeom prst="rect">
            <a:avLst/>
          </a:prstGeom>
          <a:noFill/>
        </p:spPr>
        <p:txBody>
          <a:bodyPr wrap="square">
            <a:spAutoFit/>
          </a:bodyPr>
          <a:lstStyle/>
          <a:p>
            <a:pPr algn="l"/>
            <a:r>
              <a:rPr lang="en-US" b="1" i="0" dirty="0">
                <a:solidFill>
                  <a:srgbClr val="1F1F1F"/>
                </a:solidFill>
                <a:effectLst/>
              </a:rPr>
              <a:t>Bidirectional Encoder Representations from Transformers (BERT)</a:t>
            </a:r>
          </a:p>
        </p:txBody>
      </p:sp>
      <p:pic>
        <p:nvPicPr>
          <p:cNvPr id="7" name="Picture 6">
            <a:extLst>
              <a:ext uri="{FF2B5EF4-FFF2-40B4-BE49-F238E27FC236}">
                <a16:creationId xmlns:a16="http://schemas.microsoft.com/office/drawing/2014/main" id="{1A504AEE-7242-ADC7-0CD1-2D2C54E35602}"/>
              </a:ext>
            </a:extLst>
          </p:cNvPr>
          <p:cNvPicPr>
            <a:picLocks noChangeAspect="1"/>
          </p:cNvPicPr>
          <p:nvPr/>
        </p:nvPicPr>
        <p:blipFill>
          <a:blip r:embed="rId2"/>
          <a:stretch>
            <a:fillRect/>
          </a:stretch>
        </p:blipFill>
        <p:spPr>
          <a:xfrm>
            <a:off x="78657" y="679912"/>
            <a:ext cx="7020046" cy="3125173"/>
          </a:xfrm>
          <a:prstGeom prst="rect">
            <a:avLst/>
          </a:prstGeom>
        </p:spPr>
      </p:pic>
      <p:sp>
        <p:nvSpPr>
          <p:cNvPr id="9" name="TextBox 8">
            <a:extLst>
              <a:ext uri="{FF2B5EF4-FFF2-40B4-BE49-F238E27FC236}">
                <a16:creationId xmlns:a16="http://schemas.microsoft.com/office/drawing/2014/main" id="{53D8F15B-F7AE-214B-37B3-F16E9FC9F4AD}"/>
              </a:ext>
            </a:extLst>
          </p:cNvPr>
          <p:cNvSpPr txBox="1"/>
          <p:nvPr/>
        </p:nvSpPr>
        <p:spPr>
          <a:xfrm>
            <a:off x="7207045" y="369332"/>
            <a:ext cx="4562168" cy="369331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There are two steps in the BERT framework: pre-training and fine-tuning. During pre-training, the model is trained on unlabeled data over different pre-training tasks.  For fine tuning, the BERT model is first initialized with the pre-trained parameters, and all of the parameters are fine-tuned using labeled data from the downstream tasks. For example, in the figure above, you get the corresponding embeddings for the input words, you run it through a few transformer blocks, and then you make the prediction at each time point  </a:t>
            </a:r>
            <a:r>
              <a:rPr lang="en-US" b="0" i="0" dirty="0" err="1">
                <a:solidFill>
                  <a:srgbClr val="1F1F1F"/>
                </a:solidFill>
                <a:effectLst/>
                <a:latin typeface="Source Sans Pro" panose="020B0503030403020204" pitchFamily="34" charset="0"/>
              </a:rPr>
              <a:t>T_i</a:t>
            </a:r>
            <a:endParaRPr lang="en-US" dirty="0"/>
          </a:p>
        </p:txBody>
      </p:sp>
      <p:sp>
        <p:nvSpPr>
          <p:cNvPr id="11" name="TextBox 10">
            <a:extLst>
              <a:ext uri="{FF2B5EF4-FFF2-40B4-BE49-F238E27FC236}">
                <a16:creationId xmlns:a16="http://schemas.microsoft.com/office/drawing/2014/main" id="{F6E9B85E-2B6A-FE4B-B710-A94F1D92A6E7}"/>
              </a:ext>
            </a:extLst>
          </p:cNvPr>
          <p:cNvSpPr txBox="1"/>
          <p:nvPr/>
        </p:nvSpPr>
        <p:spPr>
          <a:xfrm>
            <a:off x="153748" y="4936735"/>
            <a:ext cx="11762949" cy="1477328"/>
          </a:xfrm>
          <a:prstGeom prst="rect">
            <a:avLst/>
          </a:prstGeom>
          <a:noFill/>
        </p:spPr>
        <p:txBody>
          <a:bodyPr wrap="square">
            <a:spAutoFit/>
          </a:bodyPr>
          <a:lstStyle/>
          <a:p>
            <a:pPr algn="l"/>
            <a:r>
              <a:rPr lang="en-US" b="0" i="0" dirty="0">
                <a:solidFill>
                  <a:srgbClr val="1F1F1F"/>
                </a:solidFill>
                <a:effectLst/>
                <a:latin typeface="var(--cds-font-family-source-sans-pro)"/>
              </a:rPr>
              <a:t>During pretraining:</a:t>
            </a:r>
          </a:p>
          <a:p>
            <a:pPr algn="l">
              <a:buFont typeface="Arial" panose="020B0604020202020204" pitchFamily="34" charset="0"/>
              <a:buChar char="•"/>
            </a:pPr>
            <a:r>
              <a:rPr lang="en-US" b="0" i="0" dirty="0">
                <a:solidFill>
                  <a:srgbClr val="1F1F1F"/>
                </a:solidFill>
                <a:effectLst/>
                <a:latin typeface="var(--cds-font-family-source-sans-pro)"/>
              </a:rPr>
              <a:t>Choose 15% of the tokens at random: mask them 80% of the time, replace them with a random token 10% of the time, or keep as is 10% of the time.  </a:t>
            </a:r>
          </a:p>
          <a:p>
            <a:pPr algn="l">
              <a:buFont typeface="Arial" panose="020B0604020202020204" pitchFamily="34" charset="0"/>
              <a:buChar char="•"/>
            </a:pPr>
            <a:r>
              <a:rPr lang="en-US" b="0" i="0" dirty="0">
                <a:solidFill>
                  <a:srgbClr val="1F1F1F"/>
                </a:solidFill>
                <a:effectLst/>
                <a:latin typeface="var(--cds-font-family-source-sans-pro)"/>
              </a:rPr>
              <a:t>There could be multiple masked spans in a sentence</a:t>
            </a:r>
          </a:p>
          <a:p>
            <a:pPr algn="l">
              <a:buFont typeface="Arial" panose="020B0604020202020204" pitchFamily="34" charset="0"/>
              <a:buChar char="•"/>
            </a:pPr>
            <a:r>
              <a:rPr lang="en-US" b="0" i="0" dirty="0">
                <a:solidFill>
                  <a:srgbClr val="1F1F1F"/>
                </a:solidFill>
                <a:effectLst/>
                <a:latin typeface="var(--cds-font-family-source-sans-pro)"/>
              </a:rPr>
              <a:t>Next sentence prediction is also used when pre-training.</a:t>
            </a:r>
          </a:p>
        </p:txBody>
      </p:sp>
    </p:spTree>
    <p:extLst>
      <p:ext uri="{BB962C8B-B14F-4D97-AF65-F5344CB8AC3E}">
        <p14:creationId xmlns:p14="http://schemas.microsoft.com/office/powerpoint/2010/main" val="3129175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87E6312-2129-F429-5FC3-AE06437ACFC2}"/>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BERT Objective</a:t>
            </a:r>
          </a:p>
        </p:txBody>
      </p:sp>
      <p:sp>
        <p:nvSpPr>
          <p:cNvPr id="7" name="TextBox 6">
            <a:extLst>
              <a:ext uri="{FF2B5EF4-FFF2-40B4-BE49-F238E27FC236}">
                <a16:creationId xmlns:a16="http://schemas.microsoft.com/office/drawing/2014/main" id="{8E702989-DAA1-0089-B9F5-DEE8ADA62FA0}"/>
              </a:ext>
            </a:extLst>
          </p:cNvPr>
          <p:cNvSpPr txBox="1"/>
          <p:nvPr/>
        </p:nvSpPr>
        <p:spPr>
          <a:xfrm>
            <a:off x="0" y="369332"/>
            <a:ext cx="612058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We will first start by visualizing the input. </a:t>
            </a:r>
            <a:endParaRPr lang="en-US" dirty="0"/>
          </a:p>
        </p:txBody>
      </p:sp>
      <p:pic>
        <p:nvPicPr>
          <p:cNvPr id="9" name="Picture 8">
            <a:extLst>
              <a:ext uri="{FF2B5EF4-FFF2-40B4-BE49-F238E27FC236}">
                <a16:creationId xmlns:a16="http://schemas.microsoft.com/office/drawing/2014/main" id="{6756E134-1323-8DD0-E8AE-F290AFFC60B6}"/>
              </a:ext>
            </a:extLst>
          </p:cNvPr>
          <p:cNvPicPr>
            <a:picLocks noChangeAspect="1"/>
          </p:cNvPicPr>
          <p:nvPr/>
        </p:nvPicPr>
        <p:blipFill>
          <a:blip r:embed="rId2"/>
          <a:stretch>
            <a:fillRect/>
          </a:stretch>
        </p:blipFill>
        <p:spPr>
          <a:xfrm>
            <a:off x="118281" y="895980"/>
            <a:ext cx="6056280" cy="2240510"/>
          </a:xfrm>
          <a:prstGeom prst="rect">
            <a:avLst/>
          </a:prstGeom>
        </p:spPr>
      </p:pic>
      <p:sp>
        <p:nvSpPr>
          <p:cNvPr id="11" name="TextBox 10">
            <a:extLst>
              <a:ext uri="{FF2B5EF4-FFF2-40B4-BE49-F238E27FC236}">
                <a16:creationId xmlns:a16="http://schemas.microsoft.com/office/drawing/2014/main" id="{E44358DD-BC4F-C332-7206-0E2C73AB01B9}"/>
              </a:ext>
            </a:extLst>
          </p:cNvPr>
          <p:cNvSpPr txBox="1"/>
          <p:nvPr/>
        </p:nvSpPr>
        <p:spPr>
          <a:xfrm>
            <a:off x="6597740" y="184666"/>
            <a:ext cx="5475978" cy="3416320"/>
          </a:xfrm>
          <a:prstGeom prst="rect">
            <a:avLst/>
          </a:prstGeom>
          <a:noFill/>
        </p:spPr>
        <p:txBody>
          <a:bodyPr wrap="square">
            <a:spAutoFit/>
          </a:bodyPr>
          <a:lstStyle/>
          <a:p>
            <a:pPr algn="l"/>
            <a:r>
              <a:rPr lang="en-US" b="0" i="0" dirty="0">
                <a:solidFill>
                  <a:srgbClr val="1F1F1F"/>
                </a:solidFill>
                <a:effectLst/>
                <a:latin typeface="var(--cds-font-family-source-sans-pro)"/>
              </a:rPr>
              <a:t>The input embeddings are the sum of the token embeddings, the segmentation embeddings and the position embeddings.</a:t>
            </a:r>
          </a:p>
          <a:p>
            <a:pPr algn="l"/>
            <a:r>
              <a:rPr lang="en-US" b="1" i="0" dirty="0">
                <a:solidFill>
                  <a:srgbClr val="1F1F1F"/>
                </a:solidFill>
                <a:effectLst/>
                <a:latin typeface="unset"/>
              </a:rPr>
              <a:t>The input embeddings:</a:t>
            </a:r>
            <a:r>
              <a:rPr lang="en-US" b="0" i="0" dirty="0">
                <a:solidFill>
                  <a:srgbClr val="1F1F1F"/>
                </a:solidFill>
                <a:effectLst/>
                <a:latin typeface="var(--cds-font-family-source-sans-pro)"/>
              </a:rPr>
              <a:t> you have a CLS token to indicate the beginning of the sentence and a </a:t>
            </a:r>
            <a:r>
              <a:rPr lang="en-US" b="0" i="0" dirty="0" err="1">
                <a:solidFill>
                  <a:srgbClr val="1F1F1F"/>
                </a:solidFill>
                <a:effectLst/>
                <a:latin typeface="var(--cds-font-family-source-sans-pro)"/>
              </a:rPr>
              <a:t>sep</a:t>
            </a:r>
            <a:r>
              <a:rPr lang="en-US" b="0" i="0" dirty="0">
                <a:solidFill>
                  <a:srgbClr val="1F1F1F"/>
                </a:solidFill>
                <a:effectLst/>
                <a:latin typeface="var(--cds-font-family-source-sans-pro)"/>
              </a:rPr>
              <a:t> to indicate the end of the sentence</a:t>
            </a:r>
          </a:p>
          <a:p>
            <a:pPr algn="l"/>
            <a:r>
              <a:rPr lang="en-US" b="1" i="0" dirty="0">
                <a:solidFill>
                  <a:srgbClr val="1F1F1F"/>
                </a:solidFill>
                <a:effectLst/>
                <a:latin typeface="unset"/>
              </a:rPr>
              <a:t>The segment embeddings:</a:t>
            </a:r>
            <a:r>
              <a:rPr lang="en-US" b="0" i="0" dirty="0">
                <a:solidFill>
                  <a:srgbClr val="1F1F1F"/>
                </a:solidFill>
                <a:effectLst/>
                <a:latin typeface="var(--cds-font-family-source-sans-pro)"/>
              </a:rPr>
              <a:t> allows you to indicate whether it is sentence a or b.</a:t>
            </a:r>
          </a:p>
          <a:p>
            <a:pPr algn="l"/>
            <a:r>
              <a:rPr lang="en-US" b="1" i="0" dirty="0">
                <a:solidFill>
                  <a:srgbClr val="1F1F1F"/>
                </a:solidFill>
                <a:effectLst/>
                <a:latin typeface="unset"/>
              </a:rPr>
              <a:t>Positional embeddings: </a:t>
            </a:r>
            <a:r>
              <a:rPr lang="en-US" b="0" i="0" dirty="0">
                <a:solidFill>
                  <a:srgbClr val="1F1F1F"/>
                </a:solidFill>
                <a:effectLst/>
                <a:latin typeface="var(--cds-font-family-source-sans-pro)"/>
              </a:rPr>
              <a:t>allows you to indicate the word's position in the sentence.</a:t>
            </a:r>
          </a:p>
          <a:p>
            <a:br>
              <a:rPr lang="en-US" dirty="0"/>
            </a:br>
            <a:endParaRPr lang="en-US" dirty="0"/>
          </a:p>
        </p:txBody>
      </p:sp>
      <p:pic>
        <p:nvPicPr>
          <p:cNvPr id="13" name="Picture 12">
            <a:extLst>
              <a:ext uri="{FF2B5EF4-FFF2-40B4-BE49-F238E27FC236}">
                <a16:creationId xmlns:a16="http://schemas.microsoft.com/office/drawing/2014/main" id="{D2921109-ACA3-4BB3-E8E9-33FEF8EE5568}"/>
              </a:ext>
            </a:extLst>
          </p:cNvPr>
          <p:cNvPicPr>
            <a:picLocks noChangeAspect="1"/>
          </p:cNvPicPr>
          <p:nvPr/>
        </p:nvPicPr>
        <p:blipFill>
          <a:blip r:embed="rId3"/>
          <a:stretch>
            <a:fillRect/>
          </a:stretch>
        </p:blipFill>
        <p:spPr>
          <a:xfrm>
            <a:off x="118281" y="3188922"/>
            <a:ext cx="7254869" cy="3299746"/>
          </a:xfrm>
          <a:prstGeom prst="rect">
            <a:avLst/>
          </a:prstGeom>
        </p:spPr>
      </p:pic>
      <p:sp>
        <p:nvSpPr>
          <p:cNvPr id="15" name="TextBox 14">
            <a:extLst>
              <a:ext uri="{FF2B5EF4-FFF2-40B4-BE49-F238E27FC236}">
                <a16:creationId xmlns:a16="http://schemas.microsoft.com/office/drawing/2014/main" id="{2210F26B-8BF8-BB6F-3B68-7F3273554888}"/>
              </a:ext>
            </a:extLst>
          </p:cNvPr>
          <p:cNvSpPr txBox="1"/>
          <p:nvPr/>
        </p:nvSpPr>
        <p:spPr>
          <a:xfrm>
            <a:off x="7727859" y="3823132"/>
            <a:ext cx="4345859" cy="2031325"/>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C token in the image above could be used for classification purposes. The unlabeled sentence A/B pair will depend on what you are trying to predict, it could range from question answering to sentiment. (in which case the second sentence could be just empty). </a:t>
            </a:r>
            <a:endParaRPr lang="en-US" dirty="0"/>
          </a:p>
        </p:txBody>
      </p:sp>
    </p:spTree>
    <p:extLst>
      <p:ext uri="{BB962C8B-B14F-4D97-AF65-F5344CB8AC3E}">
        <p14:creationId xmlns:p14="http://schemas.microsoft.com/office/powerpoint/2010/main" val="3074930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BA097C-0FF9-879B-F591-B20C805ED78A}"/>
              </a:ext>
            </a:extLst>
          </p:cNvPr>
          <p:cNvSpPr txBox="1"/>
          <p:nvPr/>
        </p:nvSpPr>
        <p:spPr>
          <a:xfrm>
            <a:off x="0" y="369332"/>
            <a:ext cx="609600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BERT objective is defined as follows: </a:t>
            </a:r>
            <a:endParaRPr lang="en-US" dirty="0"/>
          </a:p>
        </p:txBody>
      </p:sp>
      <p:sp>
        <p:nvSpPr>
          <p:cNvPr id="6" name="TextBox 5">
            <a:extLst>
              <a:ext uri="{FF2B5EF4-FFF2-40B4-BE49-F238E27FC236}">
                <a16:creationId xmlns:a16="http://schemas.microsoft.com/office/drawing/2014/main" id="{CBAF8104-404B-CE22-1382-848DEE7D43C3}"/>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BERT Objective (</a:t>
            </a:r>
            <a:r>
              <a:rPr lang="en-US" b="1" i="0" dirty="0" err="1">
                <a:solidFill>
                  <a:srgbClr val="1F1F1F"/>
                </a:solidFill>
                <a:effectLst/>
              </a:rPr>
              <a:t>contd</a:t>
            </a:r>
            <a:r>
              <a:rPr lang="en-US" b="1" i="0" dirty="0">
                <a:solidFill>
                  <a:srgbClr val="1F1F1F"/>
                </a:solidFill>
                <a:effectLst/>
              </a:rPr>
              <a:t>…)</a:t>
            </a:r>
          </a:p>
        </p:txBody>
      </p:sp>
      <p:pic>
        <p:nvPicPr>
          <p:cNvPr id="8" name="Picture 7">
            <a:extLst>
              <a:ext uri="{FF2B5EF4-FFF2-40B4-BE49-F238E27FC236}">
                <a16:creationId xmlns:a16="http://schemas.microsoft.com/office/drawing/2014/main" id="{82DFB77C-E321-AF30-F077-7F27D1543ACC}"/>
              </a:ext>
            </a:extLst>
          </p:cNvPr>
          <p:cNvPicPr>
            <a:picLocks noChangeAspect="1"/>
          </p:cNvPicPr>
          <p:nvPr/>
        </p:nvPicPr>
        <p:blipFill>
          <a:blip r:embed="rId2"/>
          <a:stretch>
            <a:fillRect/>
          </a:stretch>
        </p:blipFill>
        <p:spPr>
          <a:xfrm>
            <a:off x="1530984" y="1051354"/>
            <a:ext cx="6180356" cy="2377646"/>
          </a:xfrm>
          <a:prstGeom prst="rect">
            <a:avLst/>
          </a:prstGeom>
        </p:spPr>
      </p:pic>
      <p:sp>
        <p:nvSpPr>
          <p:cNvPr id="10" name="TextBox 9">
            <a:extLst>
              <a:ext uri="{FF2B5EF4-FFF2-40B4-BE49-F238E27FC236}">
                <a16:creationId xmlns:a16="http://schemas.microsoft.com/office/drawing/2014/main" id="{C1CEDC1B-4B2B-D621-9324-ADE8A595F06E}"/>
              </a:ext>
            </a:extLst>
          </p:cNvPr>
          <p:cNvSpPr txBox="1"/>
          <p:nvPr/>
        </p:nvSpPr>
        <p:spPr>
          <a:xfrm>
            <a:off x="336754" y="4390554"/>
            <a:ext cx="11737259" cy="1200329"/>
          </a:xfrm>
          <a:prstGeom prst="rect">
            <a:avLst/>
          </a:prstGeom>
          <a:noFill/>
        </p:spPr>
        <p:txBody>
          <a:bodyPr wrap="square">
            <a:spAutoFit/>
          </a:bodyPr>
          <a:lstStyle/>
          <a:p>
            <a:pPr algn="l"/>
            <a:r>
              <a:rPr lang="en-US" b="0" i="0" dirty="0">
                <a:solidFill>
                  <a:srgbClr val="1F1F1F"/>
                </a:solidFill>
                <a:effectLst/>
                <a:latin typeface="var(--cds-font-family-source-sans-pro)"/>
              </a:rPr>
              <a:t>You just combine the losses! </a:t>
            </a:r>
          </a:p>
          <a:p>
            <a:pPr algn="l"/>
            <a:endParaRPr lang="en-US" b="0" i="0" dirty="0">
              <a:solidFill>
                <a:srgbClr val="1F1F1F"/>
              </a:solidFill>
              <a:effectLst/>
              <a:latin typeface="var(--cds-font-family-source-sans-pro)"/>
            </a:endParaRPr>
          </a:p>
          <a:p>
            <a:pPr algn="l"/>
            <a:r>
              <a:rPr lang="en-US" b="0" i="0" dirty="0">
                <a:solidFill>
                  <a:srgbClr val="1F1F1F"/>
                </a:solidFill>
                <a:effectLst/>
                <a:latin typeface="var(--cds-font-family-source-sans-pro)"/>
              </a:rPr>
              <a:t>If you are interested in digging deeper into this topic, we recommend you to look at this article (</a:t>
            </a:r>
            <a:r>
              <a:rPr lang="en-US" b="0" i="0" dirty="0">
                <a:solidFill>
                  <a:srgbClr val="1F1F1F"/>
                </a:solidFill>
                <a:effectLst/>
                <a:latin typeface="var(--cds-font-family-source-sans-pro)"/>
                <a:hlinkClick r:id="rId3"/>
              </a:rPr>
              <a:t>https://medium.com/dissecting-bert/dissecting-bert-part2-335ff2ed9c73</a:t>
            </a:r>
            <a:r>
              <a:rPr lang="en-US" b="0" i="0" dirty="0">
                <a:solidFill>
                  <a:srgbClr val="1F1F1F"/>
                </a:solidFill>
                <a:effectLst/>
                <a:latin typeface="var(--cds-font-family-source-sans-pro)"/>
              </a:rPr>
              <a:t>)</a:t>
            </a:r>
          </a:p>
        </p:txBody>
      </p:sp>
    </p:spTree>
    <p:extLst>
      <p:ext uri="{BB962C8B-B14F-4D97-AF65-F5344CB8AC3E}">
        <p14:creationId xmlns:p14="http://schemas.microsoft.com/office/powerpoint/2010/main" val="873314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8ED172-CB84-3C46-9CC7-65BDD8120A0C}"/>
              </a:ext>
            </a:extLst>
          </p:cNvPr>
          <p:cNvSpPr txBox="1"/>
          <p:nvPr/>
        </p:nvSpPr>
        <p:spPr>
          <a:xfrm>
            <a:off x="0" y="80805"/>
            <a:ext cx="6096000" cy="369332"/>
          </a:xfrm>
          <a:prstGeom prst="rect">
            <a:avLst/>
          </a:prstGeom>
          <a:noFill/>
        </p:spPr>
        <p:txBody>
          <a:bodyPr wrap="square">
            <a:spAutoFit/>
          </a:bodyPr>
          <a:lstStyle/>
          <a:p>
            <a:pPr algn="l"/>
            <a:r>
              <a:rPr lang="en-US" b="1" i="0" dirty="0">
                <a:solidFill>
                  <a:srgbClr val="1F1F1F"/>
                </a:solidFill>
                <a:effectLst/>
              </a:rPr>
              <a:t>Fine tuning BERT</a:t>
            </a:r>
          </a:p>
        </p:txBody>
      </p:sp>
      <p:sp>
        <p:nvSpPr>
          <p:cNvPr id="7" name="TextBox 6">
            <a:extLst>
              <a:ext uri="{FF2B5EF4-FFF2-40B4-BE49-F238E27FC236}">
                <a16:creationId xmlns:a16="http://schemas.microsoft.com/office/drawing/2014/main" id="{AABC6636-CFBD-A380-45C6-86413C220FA1}"/>
              </a:ext>
            </a:extLst>
          </p:cNvPr>
          <p:cNvSpPr txBox="1"/>
          <p:nvPr/>
        </p:nvSpPr>
        <p:spPr>
          <a:xfrm>
            <a:off x="-1" y="450137"/>
            <a:ext cx="7728155"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Once you have a pre-trained model, you can fine tune it on different tasks. </a:t>
            </a:r>
            <a:endParaRPr lang="en-US" dirty="0"/>
          </a:p>
        </p:txBody>
      </p:sp>
      <p:pic>
        <p:nvPicPr>
          <p:cNvPr id="9" name="Picture 8">
            <a:extLst>
              <a:ext uri="{FF2B5EF4-FFF2-40B4-BE49-F238E27FC236}">
                <a16:creationId xmlns:a16="http://schemas.microsoft.com/office/drawing/2014/main" id="{3FF3D05F-BB17-3B73-ABC5-C67D772F20DB}"/>
              </a:ext>
            </a:extLst>
          </p:cNvPr>
          <p:cNvPicPr>
            <a:picLocks noChangeAspect="1"/>
          </p:cNvPicPr>
          <p:nvPr/>
        </p:nvPicPr>
        <p:blipFill>
          <a:blip r:embed="rId2"/>
          <a:stretch>
            <a:fillRect/>
          </a:stretch>
        </p:blipFill>
        <p:spPr>
          <a:xfrm>
            <a:off x="178890" y="737419"/>
            <a:ext cx="5277823" cy="2460295"/>
          </a:xfrm>
          <a:prstGeom prst="rect">
            <a:avLst/>
          </a:prstGeom>
        </p:spPr>
      </p:pic>
      <p:sp>
        <p:nvSpPr>
          <p:cNvPr id="11" name="TextBox 10">
            <a:extLst>
              <a:ext uri="{FF2B5EF4-FFF2-40B4-BE49-F238E27FC236}">
                <a16:creationId xmlns:a16="http://schemas.microsoft.com/office/drawing/2014/main" id="{26C0BDD8-E5D1-BBD0-B021-7AA7B6168E22}"/>
              </a:ext>
            </a:extLst>
          </p:cNvPr>
          <p:cNvSpPr txBox="1"/>
          <p:nvPr/>
        </p:nvSpPr>
        <p:spPr>
          <a:xfrm>
            <a:off x="178890" y="5696632"/>
            <a:ext cx="4776568" cy="923330"/>
          </a:xfrm>
          <a:prstGeom prst="rect">
            <a:avLst/>
          </a:prstGeom>
          <a:noFill/>
        </p:spPr>
        <p:txBody>
          <a:bodyPr wrap="square">
            <a:spAutoFit/>
          </a:bodyPr>
          <a:lstStyle/>
          <a:p>
            <a:r>
              <a:rPr lang="en-US" b="0" i="0" dirty="0">
                <a:solidFill>
                  <a:srgbClr val="474747"/>
                </a:solidFill>
                <a:effectLst/>
                <a:latin typeface="Google Sans"/>
              </a:rPr>
              <a:t>MNLI: Multi-Genre Natural Language Inference</a:t>
            </a:r>
          </a:p>
          <a:p>
            <a:r>
              <a:rPr lang="en-US" dirty="0" err="1">
                <a:solidFill>
                  <a:srgbClr val="474747"/>
                </a:solidFill>
                <a:latin typeface="Google Sans"/>
              </a:rPr>
              <a:t>SQuAD</a:t>
            </a:r>
            <a:r>
              <a:rPr lang="en-US" dirty="0">
                <a:solidFill>
                  <a:srgbClr val="474747"/>
                </a:solidFill>
                <a:latin typeface="Google Sans"/>
              </a:rPr>
              <a:t>: </a:t>
            </a:r>
            <a:r>
              <a:rPr lang="en-US" b="0" i="0" dirty="0">
                <a:solidFill>
                  <a:srgbClr val="1F1F1F"/>
                </a:solidFill>
                <a:effectLst/>
                <a:latin typeface="Google Sans"/>
              </a:rPr>
              <a:t>Stanford Question Answering Dataset</a:t>
            </a:r>
          </a:p>
          <a:p>
            <a:r>
              <a:rPr lang="en-US" dirty="0">
                <a:solidFill>
                  <a:srgbClr val="1F1F1F"/>
                </a:solidFill>
                <a:latin typeface="Google Sans"/>
              </a:rPr>
              <a:t>NER: Named Entity Recognition</a:t>
            </a:r>
            <a:endParaRPr lang="en-US" dirty="0"/>
          </a:p>
        </p:txBody>
      </p:sp>
      <p:sp>
        <p:nvSpPr>
          <p:cNvPr id="13" name="TextBox 12">
            <a:extLst>
              <a:ext uri="{FF2B5EF4-FFF2-40B4-BE49-F238E27FC236}">
                <a16:creationId xmlns:a16="http://schemas.microsoft.com/office/drawing/2014/main" id="{7EC4ABF9-D807-7CC6-532C-7AF62FAAFFB5}"/>
              </a:ext>
            </a:extLst>
          </p:cNvPr>
          <p:cNvSpPr txBox="1"/>
          <p:nvPr/>
        </p:nvSpPr>
        <p:spPr>
          <a:xfrm>
            <a:off x="5951716" y="1213576"/>
            <a:ext cx="6120580"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For example, given a hypothesis, you can identify the premise. Given a question, you can find the answer. You can also use it for named entity recognition, paraphrasing sentences, sequence tagging, classification and many more tasks.</a:t>
            </a:r>
            <a:endParaRPr lang="en-US" dirty="0"/>
          </a:p>
        </p:txBody>
      </p:sp>
      <p:pic>
        <p:nvPicPr>
          <p:cNvPr id="15" name="Picture 14">
            <a:extLst>
              <a:ext uri="{FF2B5EF4-FFF2-40B4-BE49-F238E27FC236}">
                <a16:creationId xmlns:a16="http://schemas.microsoft.com/office/drawing/2014/main" id="{5A3DA9F4-9D58-D324-8A13-3E5C39AB420D}"/>
              </a:ext>
            </a:extLst>
          </p:cNvPr>
          <p:cNvPicPr>
            <a:picLocks noChangeAspect="1"/>
          </p:cNvPicPr>
          <p:nvPr/>
        </p:nvPicPr>
        <p:blipFill>
          <a:blip r:embed="rId3"/>
          <a:stretch>
            <a:fillRect/>
          </a:stretch>
        </p:blipFill>
        <p:spPr>
          <a:xfrm>
            <a:off x="4690381" y="3293330"/>
            <a:ext cx="7183797" cy="2301531"/>
          </a:xfrm>
          <a:prstGeom prst="rect">
            <a:avLst/>
          </a:prstGeom>
        </p:spPr>
      </p:pic>
    </p:spTree>
    <p:extLst>
      <p:ext uri="{BB962C8B-B14F-4D97-AF65-F5344CB8AC3E}">
        <p14:creationId xmlns:p14="http://schemas.microsoft.com/office/powerpoint/2010/main" val="1713097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ECB261-528A-D79B-8A40-AB8AAFC7A5B9}"/>
              </a:ext>
            </a:extLst>
          </p:cNvPr>
          <p:cNvSpPr txBox="1"/>
          <p:nvPr/>
        </p:nvSpPr>
        <p:spPr>
          <a:xfrm>
            <a:off x="0" y="90638"/>
            <a:ext cx="6096000" cy="369332"/>
          </a:xfrm>
          <a:prstGeom prst="rect">
            <a:avLst/>
          </a:prstGeom>
          <a:noFill/>
        </p:spPr>
        <p:txBody>
          <a:bodyPr wrap="square">
            <a:spAutoFit/>
          </a:bodyPr>
          <a:lstStyle/>
          <a:p>
            <a:pPr algn="l"/>
            <a:r>
              <a:rPr lang="en-US" b="1" i="0" dirty="0">
                <a:solidFill>
                  <a:srgbClr val="1F1F1F"/>
                </a:solidFill>
                <a:effectLst/>
              </a:rPr>
              <a:t>Transformer T5</a:t>
            </a:r>
          </a:p>
        </p:txBody>
      </p:sp>
      <p:sp>
        <p:nvSpPr>
          <p:cNvPr id="7" name="TextBox 6">
            <a:extLst>
              <a:ext uri="{FF2B5EF4-FFF2-40B4-BE49-F238E27FC236}">
                <a16:creationId xmlns:a16="http://schemas.microsoft.com/office/drawing/2014/main" id="{CB92B2EF-6776-1CBB-13A5-9F76EE076F3D}"/>
              </a:ext>
            </a:extLst>
          </p:cNvPr>
          <p:cNvSpPr txBox="1"/>
          <p:nvPr/>
        </p:nvSpPr>
        <p:spPr>
          <a:xfrm>
            <a:off x="81116" y="459970"/>
            <a:ext cx="11668432"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One of the major techniques that allowed the T5 model to reach state of the art is the concept of masking:</a:t>
            </a:r>
            <a:endParaRPr lang="en-US" dirty="0"/>
          </a:p>
        </p:txBody>
      </p:sp>
      <p:pic>
        <p:nvPicPr>
          <p:cNvPr id="9" name="Picture 8">
            <a:extLst>
              <a:ext uri="{FF2B5EF4-FFF2-40B4-BE49-F238E27FC236}">
                <a16:creationId xmlns:a16="http://schemas.microsoft.com/office/drawing/2014/main" id="{419CF0D5-EA63-B86D-535C-70BD7C745A0B}"/>
              </a:ext>
            </a:extLst>
          </p:cNvPr>
          <p:cNvPicPr>
            <a:picLocks noChangeAspect="1"/>
          </p:cNvPicPr>
          <p:nvPr/>
        </p:nvPicPr>
        <p:blipFill>
          <a:blip r:embed="rId2"/>
          <a:stretch>
            <a:fillRect/>
          </a:stretch>
        </p:blipFill>
        <p:spPr>
          <a:xfrm>
            <a:off x="661219" y="783331"/>
            <a:ext cx="4471219" cy="2079017"/>
          </a:xfrm>
          <a:prstGeom prst="rect">
            <a:avLst/>
          </a:prstGeom>
        </p:spPr>
      </p:pic>
      <p:sp>
        <p:nvSpPr>
          <p:cNvPr id="11" name="TextBox 10">
            <a:extLst>
              <a:ext uri="{FF2B5EF4-FFF2-40B4-BE49-F238E27FC236}">
                <a16:creationId xmlns:a16="http://schemas.microsoft.com/office/drawing/2014/main" id="{3C2DF424-C594-2EE0-63F8-26538DE25F6F}"/>
              </a:ext>
            </a:extLst>
          </p:cNvPr>
          <p:cNvSpPr txBox="1"/>
          <p:nvPr/>
        </p:nvSpPr>
        <p:spPr>
          <a:xfrm>
            <a:off x="5574890" y="844182"/>
            <a:ext cx="6449961"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For example, you represent the “for inviting” with &lt;X&gt; and last with &lt;Y&gt; then the model predicts what the X should be and what the Y should be. This is exactly what we saw in the BERT loss. You can also mask out a few positions, not just one. The loss is only on the mask for BERT, for T5 it is on the target. </a:t>
            </a:r>
            <a:endParaRPr lang="en-US" dirty="0"/>
          </a:p>
        </p:txBody>
      </p:sp>
      <p:pic>
        <p:nvPicPr>
          <p:cNvPr id="13" name="Picture 12">
            <a:extLst>
              <a:ext uri="{FF2B5EF4-FFF2-40B4-BE49-F238E27FC236}">
                <a16:creationId xmlns:a16="http://schemas.microsoft.com/office/drawing/2014/main" id="{23C847C6-6C97-E280-DC91-3D4B8E1BAC66}"/>
              </a:ext>
            </a:extLst>
          </p:cNvPr>
          <p:cNvPicPr>
            <a:picLocks noChangeAspect="1"/>
          </p:cNvPicPr>
          <p:nvPr/>
        </p:nvPicPr>
        <p:blipFill>
          <a:blip r:embed="rId3"/>
          <a:stretch>
            <a:fillRect/>
          </a:stretch>
        </p:blipFill>
        <p:spPr>
          <a:xfrm>
            <a:off x="5574890" y="2501751"/>
            <a:ext cx="5814689" cy="2248955"/>
          </a:xfrm>
          <a:prstGeom prst="rect">
            <a:avLst/>
          </a:prstGeom>
        </p:spPr>
      </p:pic>
      <p:sp>
        <p:nvSpPr>
          <p:cNvPr id="15" name="TextBox 14">
            <a:extLst>
              <a:ext uri="{FF2B5EF4-FFF2-40B4-BE49-F238E27FC236}">
                <a16:creationId xmlns:a16="http://schemas.microsoft.com/office/drawing/2014/main" id="{48B0E53E-BD75-DFC2-A53A-E5EA251DE5E9}"/>
              </a:ext>
            </a:extLst>
          </p:cNvPr>
          <p:cNvSpPr txBox="1"/>
          <p:nvPr/>
        </p:nvSpPr>
        <p:spPr>
          <a:xfrm>
            <a:off x="228600" y="2951576"/>
            <a:ext cx="4881715" cy="1754326"/>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So we start with the basic encoder-decoder representation.  There you have a fully visible attention in the encoder and then causal attention in the decoder.  So light gray lines correspond to causal masking. And dark gray lines correspond to the fully visible masking.</a:t>
            </a:r>
            <a:endParaRPr lang="en-US" dirty="0"/>
          </a:p>
        </p:txBody>
      </p:sp>
      <p:sp>
        <p:nvSpPr>
          <p:cNvPr id="17" name="TextBox 16">
            <a:extLst>
              <a:ext uri="{FF2B5EF4-FFF2-40B4-BE49-F238E27FC236}">
                <a16:creationId xmlns:a16="http://schemas.microsoft.com/office/drawing/2014/main" id="{55C44677-4539-0C13-6B80-433E93B2F6D3}"/>
              </a:ext>
            </a:extLst>
          </p:cNvPr>
          <p:cNvSpPr txBox="1"/>
          <p:nvPr/>
        </p:nvSpPr>
        <p:spPr>
          <a:xfrm>
            <a:off x="228600" y="4839934"/>
            <a:ext cx="11874910"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 the middle we have the language model which consists of a single transformer layer stack. And it's being fed the concatenation of the inputs and the target. So it uses causal masking throughout as you can see because they're all gray lines. And you have X1 going inside, you get X2, X2 goes into the model and you get X3 and so forth. </a:t>
            </a:r>
            <a:endParaRPr lang="en-US" dirty="0"/>
          </a:p>
        </p:txBody>
      </p:sp>
      <p:sp>
        <p:nvSpPr>
          <p:cNvPr id="19" name="TextBox 18">
            <a:extLst>
              <a:ext uri="{FF2B5EF4-FFF2-40B4-BE49-F238E27FC236}">
                <a16:creationId xmlns:a16="http://schemas.microsoft.com/office/drawing/2014/main" id="{275C5555-4580-B6B8-9925-D9BFBFD9FBE5}"/>
              </a:ext>
            </a:extLst>
          </p:cNvPr>
          <p:cNvSpPr txBox="1"/>
          <p:nvPr/>
        </p:nvSpPr>
        <p:spPr>
          <a:xfrm>
            <a:off x="158545" y="5995714"/>
            <a:ext cx="11874909"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the right, we have prefix language model which corresponds to allowing fully visible masking over the inputs as you can see with the dark arrows. And then causal masking in the rest.</a:t>
            </a:r>
            <a:endParaRPr lang="en-US" dirty="0"/>
          </a:p>
        </p:txBody>
      </p:sp>
    </p:spTree>
    <p:extLst>
      <p:ext uri="{BB962C8B-B14F-4D97-AF65-F5344CB8AC3E}">
        <p14:creationId xmlns:p14="http://schemas.microsoft.com/office/powerpoint/2010/main" val="3824033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5756D3-4717-124F-A491-7C728253E140}"/>
              </a:ext>
            </a:extLst>
          </p:cNvPr>
          <p:cNvSpPr txBox="1"/>
          <p:nvPr/>
        </p:nvSpPr>
        <p:spPr>
          <a:xfrm>
            <a:off x="108155" y="70973"/>
            <a:ext cx="6096000" cy="369332"/>
          </a:xfrm>
          <a:prstGeom prst="rect">
            <a:avLst/>
          </a:prstGeom>
          <a:noFill/>
        </p:spPr>
        <p:txBody>
          <a:bodyPr wrap="square">
            <a:spAutoFit/>
          </a:bodyPr>
          <a:lstStyle/>
          <a:p>
            <a:pPr algn="l"/>
            <a:r>
              <a:rPr lang="en-US" b="1" i="0" dirty="0">
                <a:solidFill>
                  <a:srgbClr val="1F1F1F"/>
                </a:solidFill>
                <a:effectLst/>
              </a:rPr>
              <a:t>Multi-Task Training Strategy</a:t>
            </a:r>
          </a:p>
        </p:txBody>
      </p:sp>
      <p:pic>
        <p:nvPicPr>
          <p:cNvPr id="7" name="Picture 6">
            <a:extLst>
              <a:ext uri="{FF2B5EF4-FFF2-40B4-BE49-F238E27FC236}">
                <a16:creationId xmlns:a16="http://schemas.microsoft.com/office/drawing/2014/main" id="{BC63ADED-5B45-A7FD-136F-CF675D9702B3}"/>
              </a:ext>
            </a:extLst>
          </p:cNvPr>
          <p:cNvPicPr>
            <a:picLocks noChangeAspect="1"/>
          </p:cNvPicPr>
          <p:nvPr/>
        </p:nvPicPr>
        <p:blipFill rotWithShape="1">
          <a:blip r:embed="rId2"/>
          <a:srcRect t="1080"/>
          <a:stretch/>
        </p:blipFill>
        <p:spPr>
          <a:xfrm>
            <a:off x="108154" y="668593"/>
            <a:ext cx="5687353" cy="2560073"/>
          </a:xfrm>
          <a:prstGeom prst="rect">
            <a:avLst/>
          </a:prstGeom>
        </p:spPr>
      </p:pic>
      <p:sp>
        <p:nvSpPr>
          <p:cNvPr id="9" name="TextBox 8">
            <a:extLst>
              <a:ext uri="{FF2B5EF4-FFF2-40B4-BE49-F238E27FC236}">
                <a16:creationId xmlns:a16="http://schemas.microsoft.com/office/drawing/2014/main" id="{199E0521-81BA-C480-141C-2BE964326E8F}"/>
              </a:ext>
            </a:extLst>
          </p:cNvPr>
          <p:cNvSpPr txBox="1"/>
          <p:nvPr/>
        </p:nvSpPr>
        <p:spPr>
          <a:xfrm>
            <a:off x="5987845" y="255639"/>
            <a:ext cx="6096000" cy="2862322"/>
          </a:xfrm>
          <a:prstGeom prst="rect">
            <a:avLst/>
          </a:prstGeom>
          <a:noFill/>
        </p:spPr>
        <p:txBody>
          <a:bodyPr wrap="square">
            <a:spAutoFit/>
          </a:bodyPr>
          <a:lstStyle/>
          <a:p>
            <a:pPr algn="l"/>
            <a:r>
              <a:rPr lang="en-US" b="0" i="0" dirty="0">
                <a:solidFill>
                  <a:srgbClr val="1F1F1F"/>
                </a:solidFill>
                <a:effectLst/>
                <a:latin typeface="var(--cds-font-family-source-sans-pro)"/>
              </a:rPr>
              <a:t>You can see that you only have to add a small prefix to the input and the model as a result will solve the task for you. There are many tasks that the t5 model can do for you.</a:t>
            </a:r>
          </a:p>
          <a:p>
            <a:pPr algn="l"/>
            <a:r>
              <a:rPr lang="en-US" b="0" i="0" dirty="0">
                <a:solidFill>
                  <a:srgbClr val="1F1F1F"/>
                </a:solidFill>
                <a:effectLst/>
                <a:latin typeface="var(--cds-font-family-source-sans-pro)"/>
              </a:rPr>
              <a:t>It is possible to formulate most NLP tasks in a “text-to-text” format – that is, a task where the model is fed some text for context or conditioning and is then asked to produce some output text. This framework provides a consistent training objective both for pre-training and fine-tuning. Specifically, the model is trained with a maximum likelihood objective (using “teacher forcing” ) regardless of the task.</a:t>
            </a:r>
          </a:p>
        </p:txBody>
      </p:sp>
      <p:sp>
        <p:nvSpPr>
          <p:cNvPr id="11" name="TextBox 10">
            <a:extLst>
              <a:ext uri="{FF2B5EF4-FFF2-40B4-BE49-F238E27FC236}">
                <a16:creationId xmlns:a16="http://schemas.microsoft.com/office/drawing/2014/main" id="{713A86B3-BECD-E628-428E-A3438A558694}"/>
              </a:ext>
            </a:extLst>
          </p:cNvPr>
          <p:cNvSpPr txBox="1"/>
          <p:nvPr/>
        </p:nvSpPr>
        <p:spPr>
          <a:xfrm>
            <a:off x="108154" y="3429000"/>
            <a:ext cx="11838039" cy="3139321"/>
          </a:xfrm>
          <a:prstGeom prst="rect">
            <a:avLst/>
          </a:prstGeom>
          <a:noFill/>
        </p:spPr>
        <p:txBody>
          <a:bodyPr wrap="square">
            <a:spAutoFit/>
          </a:bodyPr>
          <a:lstStyle/>
          <a:p>
            <a:pPr algn="l"/>
            <a:r>
              <a:rPr lang="en-US" b="1" i="0" dirty="0">
                <a:solidFill>
                  <a:srgbClr val="1F1F1F"/>
                </a:solidFill>
                <a:effectLst/>
                <a:latin typeface="var(--cds-font-family-source-sans-pro)"/>
              </a:rPr>
              <a:t>Training data strategies</a:t>
            </a:r>
          </a:p>
          <a:p>
            <a:pPr algn="l"/>
            <a:endParaRPr lang="en-US" b="1" i="0" dirty="0">
              <a:solidFill>
                <a:srgbClr val="1F1F1F"/>
              </a:solidFill>
              <a:effectLst/>
              <a:latin typeface="unset"/>
            </a:endParaRPr>
          </a:p>
          <a:p>
            <a:pPr algn="l"/>
            <a:r>
              <a:rPr lang="en-US" b="1" i="0" dirty="0">
                <a:solidFill>
                  <a:srgbClr val="1F1F1F"/>
                </a:solidFill>
                <a:effectLst/>
                <a:latin typeface="unset"/>
              </a:rPr>
              <a:t>Examples-proportional mixing: </a:t>
            </a:r>
            <a:r>
              <a:rPr lang="en-US" b="0" i="0" dirty="0">
                <a:solidFill>
                  <a:srgbClr val="1F1F1F"/>
                </a:solidFill>
                <a:effectLst/>
                <a:latin typeface="var(--cds-font-family-source-sans-pro)"/>
              </a:rPr>
              <a:t>sample in proportion to the size of each task’s dataset</a:t>
            </a:r>
          </a:p>
          <a:p>
            <a:pPr algn="l"/>
            <a:endParaRPr lang="en-US" b="1" i="0" dirty="0">
              <a:solidFill>
                <a:srgbClr val="1F1F1F"/>
              </a:solidFill>
              <a:effectLst/>
              <a:latin typeface="unset"/>
            </a:endParaRPr>
          </a:p>
          <a:p>
            <a:pPr algn="l"/>
            <a:r>
              <a:rPr lang="en-US" b="1" i="0" dirty="0">
                <a:solidFill>
                  <a:srgbClr val="1F1F1F"/>
                </a:solidFill>
                <a:effectLst/>
                <a:latin typeface="unset"/>
              </a:rPr>
              <a:t>Temperature scaled mixing: </a:t>
            </a:r>
            <a:r>
              <a:rPr lang="en-US" b="0" i="0" dirty="0">
                <a:solidFill>
                  <a:srgbClr val="1F1F1F"/>
                </a:solidFill>
                <a:effectLst/>
                <a:latin typeface="var(--cds-font-family-source-sans-pro)"/>
              </a:rPr>
              <a:t>adjust the “temperature” of the mixing rates. This temperature parameter allows you to weight certain examples more than others. To implement temperature scaling with temperature T, we raise each task’s mixing rate rm to the power of 1⁄T and renormalize the rates so that they sum to 1. When T = 1, this approach is equivalent to examples-proportional mixing and as T increases the proportions become closer to equal mixing</a:t>
            </a:r>
          </a:p>
          <a:p>
            <a:pPr algn="l"/>
            <a:endParaRPr lang="en-US" b="1" i="0" dirty="0">
              <a:solidFill>
                <a:srgbClr val="1F1F1F"/>
              </a:solidFill>
              <a:effectLst/>
              <a:latin typeface="unset"/>
            </a:endParaRPr>
          </a:p>
          <a:p>
            <a:pPr algn="l"/>
            <a:r>
              <a:rPr lang="en-US" b="1" i="0" dirty="0">
                <a:solidFill>
                  <a:srgbClr val="1F1F1F"/>
                </a:solidFill>
                <a:effectLst/>
                <a:latin typeface="unset"/>
              </a:rPr>
              <a:t>Equal mixing:</a:t>
            </a:r>
            <a:r>
              <a:rPr lang="en-US" b="0" i="0" dirty="0">
                <a:solidFill>
                  <a:srgbClr val="1F1F1F"/>
                </a:solidFill>
                <a:effectLst/>
                <a:latin typeface="var(--cds-font-family-source-sans-pro)"/>
              </a:rPr>
              <a:t> In this case, you sample examples from each task with equal probability. Specifically, each example in each batch is sampled uniformly at random from one of the datasets you train on.</a:t>
            </a:r>
          </a:p>
        </p:txBody>
      </p:sp>
    </p:spTree>
    <p:extLst>
      <p:ext uri="{BB962C8B-B14F-4D97-AF65-F5344CB8AC3E}">
        <p14:creationId xmlns:p14="http://schemas.microsoft.com/office/powerpoint/2010/main" val="491742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811B76-BA7F-D1E2-AA56-8CE7EBA829FD}"/>
              </a:ext>
            </a:extLst>
          </p:cNvPr>
          <p:cNvSpPr txBox="1"/>
          <p:nvPr/>
        </p:nvSpPr>
        <p:spPr>
          <a:xfrm>
            <a:off x="108155" y="70973"/>
            <a:ext cx="6096000" cy="369332"/>
          </a:xfrm>
          <a:prstGeom prst="rect">
            <a:avLst/>
          </a:prstGeom>
          <a:noFill/>
        </p:spPr>
        <p:txBody>
          <a:bodyPr wrap="square">
            <a:spAutoFit/>
          </a:bodyPr>
          <a:lstStyle/>
          <a:p>
            <a:pPr algn="l"/>
            <a:r>
              <a:rPr lang="en-US" b="1" i="0" dirty="0">
                <a:solidFill>
                  <a:srgbClr val="1F1F1F"/>
                </a:solidFill>
                <a:effectLst/>
              </a:rPr>
              <a:t>Multi-Task Training Strategy (contd..)</a:t>
            </a:r>
          </a:p>
        </p:txBody>
      </p:sp>
      <p:pic>
        <p:nvPicPr>
          <p:cNvPr id="6" name="Picture 5">
            <a:extLst>
              <a:ext uri="{FF2B5EF4-FFF2-40B4-BE49-F238E27FC236}">
                <a16:creationId xmlns:a16="http://schemas.microsoft.com/office/drawing/2014/main" id="{427DF90B-EAD8-46A1-E807-D8CA751487E7}"/>
              </a:ext>
            </a:extLst>
          </p:cNvPr>
          <p:cNvPicPr>
            <a:picLocks noChangeAspect="1"/>
          </p:cNvPicPr>
          <p:nvPr/>
        </p:nvPicPr>
        <p:blipFill>
          <a:blip r:embed="rId2"/>
          <a:stretch>
            <a:fillRect/>
          </a:stretch>
        </p:blipFill>
        <p:spPr>
          <a:xfrm>
            <a:off x="306934" y="549588"/>
            <a:ext cx="7468247" cy="3635055"/>
          </a:xfrm>
          <a:prstGeom prst="rect">
            <a:avLst/>
          </a:prstGeom>
        </p:spPr>
      </p:pic>
      <p:sp>
        <p:nvSpPr>
          <p:cNvPr id="8" name="TextBox 7">
            <a:extLst>
              <a:ext uri="{FF2B5EF4-FFF2-40B4-BE49-F238E27FC236}">
                <a16:creationId xmlns:a16="http://schemas.microsoft.com/office/drawing/2014/main" id="{91E4DC3B-80D8-E8DA-3929-4447B56BB191}"/>
              </a:ext>
            </a:extLst>
          </p:cNvPr>
          <p:cNvSpPr txBox="1"/>
          <p:nvPr/>
        </p:nvSpPr>
        <p:spPr>
          <a:xfrm>
            <a:off x="306933" y="4701119"/>
            <a:ext cx="11619595"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You can see above how fine tuning on a specific task could work even though you were pre-training on different tasks.</a:t>
            </a:r>
            <a:endParaRPr lang="en-US" dirty="0"/>
          </a:p>
        </p:txBody>
      </p:sp>
    </p:spTree>
    <p:extLst>
      <p:ext uri="{BB962C8B-B14F-4D97-AF65-F5344CB8AC3E}">
        <p14:creationId xmlns:p14="http://schemas.microsoft.com/office/powerpoint/2010/main" val="2079749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C8ACBD-D96D-916C-78DD-B354E87C8EEF}"/>
              </a:ext>
            </a:extLst>
          </p:cNvPr>
          <p:cNvSpPr txBox="1"/>
          <p:nvPr/>
        </p:nvSpPr>
        <p:spPr>
          <a:xfrm>
            <a:off x="0" y="80805"/>
            <a:ext cx="6096000" cy="369332"/>
          </a:xfrm>
          <a:prstGeom prst="rect">
            <a:avLst/>
          </a:prstGeom>
          <a:noFill/>
        </p:spPr>
        <p:txBody>
          <a:bodyPr wrap="square">
            <a:spAutoFit/>
          </a:bodyPr>
          <a:lstStyle/>
          <a:p>
            <a:pPr algn="l"/>
            <a:r>
              <a:rPr lang="en-US" b="1" i="0" dirty="0">
                <a:solidFill>
                  <a:srgbClr val="1F1F1F"/>
                </a:solidFill>
                <a:effectLst/>
              </a:rPr>
              <a:t>GLUE Benchmark</a:t>
            </a:r>
          </a:p>
        </p:txBody>
      </p:sp>
      <p:sp>
        <p:nvSpPr>
          <p:cNvPr id="7" name="TextBox 6">
            <a:extLst>
              <a:ext uri="{FF2B5EF4-FFF2-40B4-BE49-F238E27FC236}">
                <a16:creationId xmlns:a16="http://schemas.microsoft.com/office/drawing/2014/main" id="{3464B2C4-C577-02A5-DF4B-A4EC3001250A}"/>
              </a:ext>
            </a:extLst>
          </p:cNvPr>
          <p:cNvSpPr txBox="1"/>
          <p:nvPr/>
        </p:nvSpPr>
        <p:spPr>
          <a:xfrm>
            <a:off x="130277" y="519017"/>
            <a:ext cx="11176820" cy="1200329"/>
          </a:xfrm>
          <a:prstGeom prst="rect">
            <a:avLst/>
          </a:prstGeom>
          <a:noFill/>
        </p:spPr>
        <p:txBody>
          <a:bodyPr wrap="square">
            <a:spAutoFit/>
          </a:bodyPr>
          <a:lstStyle/>
          <a:p>
            <a:pPr algn="l"/>
            <a:r>
              <a:rPr lang="en-US" b="0" i="0" dirty="0">
                <a:solidFill>
                  <a:srgbClr val="1F1F1F"/>
                </a:solidFill>
                <a:effectLst/>
                <a:latin typeface="var(--cds-font-family-source-sans-pro)"/>
              </a:rPr>
              <a:t>General Language Understanding Evaluation (GLUE) contains: </a:t>
            </a:r>
          </a:p>
          <a:p>
            <a:pPr algn="l">
              <a:buFont typeface="Arial" panose="020B0604020202020204" pitchFamily="34" charset="0"/>
              <a:buChar char="•"/>
            </a:pPr>
            <a:r>
              <a:rPr lang="en-US" b="0" i="0" dirty="0">
                <a:solidFill>
                  <a:srgbClr val="1F1F1F"/>
                </a:solidFill>
                <a:effectLst/>
                <a:latin typeface="var(--cds-font-family-source-sans-pro)"/>
              </a:rPr>
              <a:t>A collection used to train, evaluate, analyze natural language understanding systems</a:t>
            </a:r>
          </a:p>
          <a:p>
            <a:pPr algn="l">
              <a:buFont typeface="Arial" panose="020B0604020202020204" pitchFamily="34" charset="0"/>
              <a:buChar char="•"/>
            </a:pPr>
            <a:r>
              <a:rPr lang="en-US" b="0" i="0" dirty="0">
                <a:solidFill>
                  <a:srgbClr val="1F1F1F"/>
                </a:solidFill>
                <a:effectLst/>
                <a:latin typeface="var(--cds-font-family-source-sans-pro)"/>
              </a:rPr>
              <a:t>Datasets with different genres, and of different sizes and difficulties</a:t>
            </a:r>
          </a:p>
          <a:p>
            <a:pPr algn="l">
              <a:buFont typeface="Arial" panose="020B0604020202020204" pitchFamily="34" charset="0"/>
              <a:buChar char="•"/>
            </a:pPr>
            <a:r>
              <a:rPr lang="en-US" b="0" i="0" dirty="0">
                <a:solidFill>
                  <a:srgbClr val="1F1F1F"/>
                </a:solidFill>
                <a:effectLst/>
                <a:latin typeface="var(--cds-font-family-source-sans-pro)"/>
              </a:rPr>
              <a:t>Leaderboard</a:t>
            </a:r>
          </a:p>
        </p:txBody>
      </p:sp>
      <p:pic>
        <p:nvPicPr>
          <p:cNvPr id="9" name="Picture 8">
            <a:extLst>
              <a:ext uri="{FF2B5EF4-FFF2-40B4-BE49-F238E27FC236}">
                <a16:creationId xmlns:a16="http://schemas.microsoft.com/office/drawing/2014/main" id="{C3E32BC5-556D-8803-8638-6A538AA7B082}"/>
              </a:ext>
            </a:extLst>
          </p:cNvPr>
          <p:cNvPicPr>
            <a:picLocks noChangeAspect="1"/>
          </p:cNvPicPr>
          <p:nvPr/>
        </p:nvPicPr>
        <p:blipFill>
          <a:blip r:embed="rId2"/>
          <a:stretch>
            <a:fillRect/>
          </a:stretch>
        </p:blipFill>
        <p:spPr>
          <a:xfrm>
            <a:off x="204694" y="1901777"/>
            <a:ext cx="7102455" cy="3467400"/>
          </a:xfrm>
          <a:prstGeom prst="rect">
            <a:avLst/>
          </a:prstGeom>
        </p:spPr>
      </p:pic>
      <p:sp>
        <p:nvSpPr>
          <p:cNvPr id="11" name="TextBox 10">
            <a:extLst>
              <a:ext uri="{FF2B5EF4-FFF2-40B4-BE49-F238E27FC236}">
                <a16:creationId xmlns:a16="http://schemas.microsoft.com/office/drawing/2014/main" id="{BA3D0D4D-A7F0-7AC0-85EE-8615A0ABE124}"/>
              </a:ext>
            </a:extLst>
          </p:cNvPr>
          <p:cNvSpPr txBox="1"/>
          <p:nvPr/>
        </p:nvSpPr>
        <p:spPr>
          <a:xfrm>
            <a:off x="130277" y="5919470"/>
            <a:ext cx="11829990"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This GLUE bench mark is used for research purposes, it is model agnostic, and relies on models that make use of transfer learning.</a:t>
            </a:r>
            <a:endParaRPr lang="en-US" dirty="0"/>
          </a:p>
        </p:txBody>
      </p:sp>
    </p:spTree>
    <p:extLst>
      <p:ext uri="{BB962C8B-B14F-4D97-AF65-F5344CB8AC3E}">
        <p14:creationId xmlns:p14="http://schemas.microsoft.com/office/powerpoint/2010/main" val="999518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631</TotalTime>
  <Words>1560</Words>
  <Application>Microsoft Office PowerPoint</Application>
  <PresentationFormat>Widescreen</PresentationFormat>
  <Paragraphs>67</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Aptos Display</vt:lpstr>
      <vt:lpstr>Arial</vt:lpstr>
      <vt:lpstr>Google Sans</vt:lpstr>
      <vt:lpstr>Source Sans Pro</vt:lpstr>
      <vt:lpstr>unset</vt:lpstr>
      <vt:lpstr>var(--cds-font-family-source-sans-pro)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mrinmoy bhuyan</dc:creator>
  <cp:lastModifiedBy>mrinmoy bhuyan</cp:lastModifiedBy>
  <cp:revision>67</cp:revision>
  <dcterms:created xsi:type="dcterms:W3CDTF">2024-01-14T00:59:30Z</dcterms:created>
  <dcterms:modified xsi:type="dcterms:W3CDTF">2024-01-15T05:13:11Z</dcterms:modified>
</cp:coreProperties>
</file>