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3653-048B-57B6-2E25-8237347448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FDA00A-D0A4-170F-82B3-3A96638EDC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BD0DAA-AB40-CDBA-8AE9-6642BC93E5F5}"/>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EDB683C0-41A1-56DB-6CF4-CF1270FABA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47762-8864-9F59-3AC5-6D59B8C7F36D}"/>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4104410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C3108-EB0C-3794-D468-DE2D0E4D47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4E2047-9F9B-228C-4FCA-0DB4991F50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252B94-81FB-7EB5-E707-781D5C95C545}"/>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77458A78-EF24-9A1D-CF2C-7A4974E5C8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859DBD-7E52-23D0-59B6-54E582989249}"/>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124105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A089F-D13E-1639-8F6A-850434FB3E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BF8E85-72EC-E846-5836-F0B7C58E3B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EC2362-0A95-8162-77B8-A515B677E9C8}"/>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F3A30830-EA8A-7220-33C5-DAED0FFBA7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B0A5-77BC-B055-D72C-31C7B56ED01D}"/>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847214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B0DD2-2C58-C0ED-5CC1-610E9BA61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BF5A08-8625-9A02-D41F-A2143E9E31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CFC7F1-A7E6-84BB-0C96-5B282753CD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3248D0-D094-6BED-5BC9-FBB341E2EDA5}"/>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6" name="Footer Placeholder 5">
            <a:extLst>
              <a:ext uri="{FF2B5EF4-FFF2-40B4-BE49-F238E27FC236}">
                <a16:creationId xmlns:a16="http://schemas.microsoft.com/office/drawing/2014/main" id="{6C128687-D40A-49E0-F6E1-63B3EFB78D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815D8C-FCDB-BB50-E843-6DA2B892CB8E}"/>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3630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390C6-56CC-7445-62DE-E2CBCD35D1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E75548-5B08-4971-4800-AE349F1B07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C316A4-26DF-179A-CEBE-46D3A50440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24A6C9-10DC-3B91-024E-55BAB5197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C3CA4E-FEC4-696F-4DAB-33A865E0FC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B603C5-FD2D-A745-0579-9CC79B451EDB}"/>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8" name="Footer Placeholder 7">
            <a:extLst>
              <a:ext uri="{FF2B5EF4-FFF2-40B4-BE49-F238E27FC236}">
                <a16:creationId xmlns:a16="http://schemas.microsoft.com/office/drawing/2014/main" id="{3F173353-7F9C-BD97-1181-9F38F45DCA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6B67E-1C2D-F482-98B7-F90DE940B4CE}"/>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761034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FCF92-33A1-67D9-7745-E3B9B4D1CF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E31B89-1862-31E7-AEC2-CF681A6B0542}"/>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4" name="Footer Placeholder 3">
            <a:extLst>
              <a:ext uri="{FF2B5EF4-FFF2-40B4-BE49-F238E27FC236}">
                <a16:creationId xmlns:a16="http://schemas.microsoft.com/office/drawing/2014/main" id="{5470DA8C-BB0B-A7C3-8C9E-56AE0978F9D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6139826-E424-40F5-A41A-C05F8A46C3F5}"/>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3448848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7270E5-2C14-BAA6-4305-142F654F2FB8}"/>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3" name="Footer Placeholder 2">
            <a:extLst>
              <a:ext uri="{FF2B5EF4-FFF2-40B4-BE49-F238E27FC236}">
                <a16:creationId xmlns:a16="http://schemas.microsoft.com/office/drawing/2014/main" id="{87A70957-0122-8ECE-2479-AFED5DB266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EC61A8-2DF4-A034-EE44-3422B4A462F6}"/>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4258605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7B03-B276-F9B4-DD94-7EACC88CEE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541DE7-B46A-4D21-B4A0-0BA053129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DAB35E-34AC-EAAB-963D-CDB9CC174C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AD353-FEE9-06C7-8778-9046B6813E8F}"/>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6" name="Footer Placeholder 5">
            <a:extLst>
              <a:ext uri="{FF2B5EF4-FFF2-40B4-BE49-F238E27FC236}">
                <a16:creationId xmlns:a16="http://schemas.microsoft.com/office/drawing/2014/main" id="{E52F5E05-45FE-AA17-967A-74E18719E3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6BB8B6-4A8E-EDB7-0F96-193543F85236}"/>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1942714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1CF5B-3050-5014-FBED-4C44BBC74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4D7EB2-8843-A930-DDC6-044DDB596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13BFC9-C57F-9A00-CF94-D72B8FC2E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9B4CEC-F61B-DACE-2ECE-3D7F8A0BAAEC}"/>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6" name="Footer Placeholder 5">
            <a:extLst>
              <a:ext uri="{FF2B5EF4-FFF2-40B4-BE49-F238E27FC236}">
                <a16:creationId xmlns:a16="http://schemas.microsoft.com/office/drawing/2014/main" id="{8574A573-5DB8-C859-A819-1053D80E61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153A28-BA81-C1B3-88EB-7748422C880C}"/>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838589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432D-79A5-A194-5247-8B260DA76B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B55516-D116-8AB9-EC3A-2B0B4AF33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0BBD59-9E30-CC20-CF56-1C2761FFD3FD}"/>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0ADDF0E6-4696-A426-DB33-C8315BE4F6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624DF4-A161-7009-6A81-B398E1D64887}"/>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244991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E0E9B9-6CA4-085F-AA3A-CA59D4FA5A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1D27EA-0D54-8E92-23A4-7C3C78E5C2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A6396C-3616-C632-1121-6CED07BD70FA}"/>
              </a:ext>
            </a:extLst>
          </p:cNvPr>
          <p:cNvSpPr>
            <a:spLocks noGrp="1"/>
          </p:cNvSpPr>
          <p:nvPr>
            <p:ph type="dt" sz="half" idx="10"/>
          </p:nvPr>
        </p:nvSpPr>
        <p:spPr/>
        <p:txBody>
          <a:body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5A29EF89-4E43-7555-7EA2-E185AA558F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F274B-EBD9-2C3A-9019-F086F7B1AE4A}"/>
              </a:ext>
            </a:extLst>
          </p:cNvPr>
          <p:cNvSpPr>
            <a:spLocks noGrp="1"/>
          </p:cNvSpPr>
          <p:nvPr>
            <p:ph type="sldNum" sz="quarter" idx="12"/>
          </p:nvPr>
        </p:nvSpPr>
        <p:spPr/>
        <p:txBody>
          <a:bodyPr/>
          <a:lstStyle/>
          <a:p>
            <a:fld id="{DBD5BF26-0FC4-4AA0-B20A-6813358A89C0}" type="slidenum">
              <a:rPr lang="en-US" smtClean="0"/>
              <a:t>‹#›</a:t>
            </a:fld>
            <a:endParaRPr lang="en-US"/>
          </a:p>
        </p:txBody>
      </p:sp>
    </p:spTree>
    <p:extLst>
      <p:ext uri="{BB962C8B-B14F-4D97-AF65-F5344CB8AC3E}">
        <p14:creationId xmlns:p14="http://schemas.microsoft.com/office/powerpoint/2010/main" val="406160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6DF9F7-CE86-1976-F5F1-5C49CC874F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5C881B-872A-D549-F0C1-E9505C37D4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EA786D-474D-9489-7ACB-6EAFA62300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945926-1E61-49F5-836A-A288C39BDFBD}" type="datetimeFigureOut">
              <a:rPr lang="en-US" smtClean="0"/>
              <a:t>1/15/2024</a:t>
            </a:fld>
            <a:endParaRPr lang="en-US"/>
          </a:p>
        </p:txBody>
      </p:sp>
      <p:sp>
        <p:nvSpPr>
          <p:cNvPr id="5" name="Footer Placeholder 4">
            <a:extLst>
              <a:ext uri="{FF2B5EF4-FFF2-40B4-BE49-F238E27FC236}">
                <a16:creationId xmlns:a16="http://schemas.microsoft.com/office/drawing/2014/main" id="{07570A89-75D2-8AE3-E389-76ED173FAE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67C750-F51A-CC12-7C3C-915979164F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D5BF26-0FC4-4AA0-B20A-6813358A89C0}" type="slidenum">
              <a:rPr lang="en-US" smtClean="0"/>
              <a:t>‹#›</a:t>
            </a:fld>
            <a:endParaRPr lang="en-US"/>
          </a:p>
        </p:txBody>
      </p:sp>
    </p:spTree>
    <p:extLst>
      <p:ext uri="{BB962C8B-B14F-4D97-AF65-F5344CB8AC3E}">
        <p14:creationId xmlns:p14="http://schemas.microsoft.com/office/powerpoint/2010/main" val="2209083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624187-CE0B-1A33-2EA5-28C1EB89E55B}"/>
              </a:ext>
            </a:extLst>
          </p:cNvPr>
          <p:cNvSpPr txBox="1"/>
          <p:nvPr/>
        </p:nvSpPr>
        <p:spPr>
          <a:xfrm>
            <a:off x="0" y="120134"/>
            <a:ext cx="6096000" cy="369332"/>
          </a:xfrm>
          <a:prstGeom prst="rect">
            <a:avLst/>
          </a:prstGeom>
          <a:noFill/>
        </p:spPr>
        <p:txBody>
          <a:bodyPr wrap="square">
            <a:spAutoFit/>
          </a:bodyPr>
          <a:lstStyle/>
          <a:p>
            <a:pPr algn="l"/>
            <a:r>
              <a:rPr lang="en-US" b="1" i="0" dirty="0">
                <a:solidFill>
                  <a:srgbClr val="1F1F1F"/>
                </a:solidFill>
                <a:effectLst/>
              </a:rPr>
              <a:t>Transforming word vectors</a:t>
            </a:r>
          </a:p>
        </p:txBody>
      </p:sp>
      <p:sp>
        <p:nvSpPr>
          <p:cNvPr id="7" name="TextBox 6">
            <a:extLst>
              <a:ext uri="{FF2B5EF4-FFF2-40B4-BE49-F238E27FC236}">
                <a16:creationId xmlns:a16="http://schemas.microsoft.com/office/drawing/2014/main" id="{9B42A6DC-AE9E-CB63-83B7-3D9218A0EA15}"/>
              </a:ext>
            </a:extLst>
          </p:cNvPr>
          <p:cNvSpPr txBox="1"/>
          <p:nvPr/>
        </p:nvSpPr>
        <p:spPr>
          <a:xfrm>
            <a:off x="-1" y="489466"/>
            <a:ext cx="11867535"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This week you will see how you can take a word vector and learn a mapping that will allow you to translate words by learning a "transformation matrix". Here is a visualization: </a:t>
            </a:r>
            <a:endParaRPr lang="en-US" dirty="0"/>
          </a:p>
        </p:txBody>
      </p:sp>
      <p:pic>
        <p:nvPicPr>
          <p:cNvPr id="9" name="Picture 8">
            <a:extLst>
              <a:ext uri="{FF2B5EF4-FFF2-40B4-BE49-F238E27FC236}">
                <a16:creationId xmlns:a16="http://schemas.microsoft.com/office/drawing/2014/main" id="{C37C35A3-4A94-705D-2CFF-A35F50159263}"/>
              </a:ext>
            </a:extLst>
          </p:cNvPr>
          <p:cNvPicPr>
            <a:picLocks noChangeAspect="1"/>
          </p:cNvPicPr>
          <p:nvPr/>
        </p:nvPicPr>
        <p:blipFill>
          <a:blip r:embed="rId2"/>
          <a:stretch>
            <a:fillRect/>
          </a:stretch>
        </p:blipFill>
        <p:spPr>
          <a:xfrm>
            <a:off x="171014" y="1283281"/>
            <a:ext cx="5236059" cy="2031325"/>
          </a:xfrm>
          <a:prstGeom prst="rect">
            <a:avLst/>
          </a:prstGeom>
        </p:spPr>
      </p:pic>
      <p:sp>
        <p:nvSpPr>
          <p:cNvPr id="11" name="TextBox 10">
            <a:extLst>
              <a:ext uri="{FF2B5EF4-FFF2-40B4-BE49-F238E27FC236}">
                <a16:creationId xmlns:a16="http://schemas.microsoft.com/office/drawing/2014/main" id="{E28D8FE9-79E5-DF3E-0CFB-4B6A789B9956}"/>
              </a:ext>
            </a:extLst>
          </p:cNvPr>
          <p:cNvSpPr txBox="1"/>
          <p:nvPr/>
        </p:nvSpPr>
        <p:spPr>
          <a:xfrm>
            <a:off x="5639182" y="1283280"/>
            <a:ext cx="6381804" cy="2031325"/>
          </a:xfrm>
          <a:prstGeom prst="rect">
            <a:avLst/>
          </a:prstGeom>
          <a:noFill/>
        </p:spPr>
        <p:txBody>
          <a:bodyPr wrap="square">
            <a:spAutoFit/>
          </a:bodyPr>
          <a:lstStyle/>
          <a:p>
            <a:pPr algn="l"/>
            <a:r>
              <a:rPr lang="en-US" b="0" i="0" dirty="0">
                <a:solidFill>
                  <a:srgbClr val="1F1F1F"/>
                </a:solidFill>
                <a:effectLst/>
                <a:latin typeface="var(--cds-font-family-source-sans-pro)"/>
              </a:rPr>
              <a:t>Note that the word "chat" in </a:t>
            </a:r>
            <a:r>
              <a:rPr lang="en-US" b="0" i="0" dirty="0" err="1">
                <a:solidFill>
                  <a:srgbClr val="1F1F1F"/>
                </a:solidFill>
                <a:effectLst/>
                <a:latin typeface="var(--cds-font-family-source-sans-pro)"/>
              </a:rPr>
              <a:t>french</a:t>
            </a:r>
            <a:r>
              <a:rPr lang="en-US" b="0" i="0" dirty="0">
                <a:solidFill>
                  <a:srgbClr val="1F1F1F"/>
                </a:solidFill>
                <a:effectLst/>
                <a:latin typeface="var(--cds-font-family-source-sans-pro)"/>
              </a:rPr>
              <a:t> means cat. You can learn that by taking the vector corresponding to "cat" in </a:t>
            </a:r>
            <a:r>
              <a:rPr lang="en-US" b="0" i="0" dirty="0" err="1">
                <a:solidFill>
                  <a:srgbClr val="1F1F1F"/>
                </a:solidFill>
                <a:effectLst/>
                <a:latin typeface="var(--cds-font-family-source-sans-pro)"/>
              </a:rPr>
              <a:t>english</a:t>
            </a:r>
            <a:r>
              <a:rPr lang="en-US" b="0" i="0" dirty="0">
                <a:solidFill>
                  <a:srgbClr val="1F1F1F"/>
                </a:solidFill>
                <a:effectLst/>
                <a:latin typeface="var(--cds-font-family-source-sans-pro)"/>
              </a:rPr>
              <a:t>, multiplying it by a matrix that you learn and then you can use cosine similarity between the output and all the </a:t>
            </a:r>
            <a:r>
              <a:rPr lang="en-US" b="0" i="0" dirty="0" err="1">
                <a:solidFill>
                  <a:srgbClr val="1F1F1F"/>
                </a:solidFill>
                <a:effectLst/>
                <a:latin typeface="var(--cds-font-family-source-sans-pro)"/>
              </a:rPr>
              <a:t>french</a:t>
            </a:r>
            <a:r>
              <a:rPr lang="en-US" b="0" i="0" dirty="0">
                <a:solidFill>
                  <a:srgbClr val="1F1F1F"/>
                </a:solidFill>
                <a:effectLst/>
                <a:latin typeface="var(--cds-font-family-source-sans-pro)"/>
              </a:rPr>
              <a:t> vectors. You should see that the closest result is the vector which corresponds to "chat".</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Here is a visualization of that showing you the aligned vectors: </a:t>
            </a:r>
          </a:p>
        </p:txBody>
      </p:sp>
      <p:grpSp>
        <p:nvGrpSpPr>
          <p:cNvPr id="22" name="Group 21">
            <a:extLst>
              <a:ext uri="{FF2B5EF4-FFF2-40B4-BE49-F238E27FC236}">
                <a16:creationId xmlns:a16="http://schemas.microsoft.com/office/drawing/2014/main" id="{508AA2B3-114D-CCDC-CE59-AD0695541760}"/>
              </a:ext>
            </a:extLst>
          </p:cNvPr>
          <p:cNvGrpSpPr/>
          <p:nvPr/>
        </p:nvGrpSpPr>
        <p:grpSpPr>
          <a:xfrm>
            <a:off x="6055950" y="3711654"/>
            <a:ext cx="5811584" cy="2509633"/>
            <a:chOff x="5914100" y="3462088"/>
            <a:chExt cx="5811584" cy="2509633"/>
          </a:xfrm>
        </p:grpSpPr>
        <p:pic>
          <p:nvPicPr>
            <p:cNvPr id="13" name="Picture 12">
              <a:extLst>
                <a:ext uri="{FF2B5EF4-FFF2-40B4-BE49-F238E27FC236}">
                  <a16:creationId xmlns:a16="http://schemas.microsoft.com/office/drawing/2014/main" id="{C5A5BFA2-50ED-982E-BD25-1AF07C04389E}"/>
                </a:ext>
              </a:extLst>
            </p:cNvPr>
            <p:cNvPicPr>
              <a:picLocks noChangeAspect="1"/>
            </p:cNvPicPr>
            <p:nvPr/>
          </p:nvPicPr>
          <p:blipFill>
            <a:blip r:embed="rId3"/>
            <a:stretch>
              <a:fillRect/>
            </a:stretch>
          </p:blipFill>
          <p:spPr>
            <a:xfrm>
              <a:off x="5914100" y="3462088"/>
              <a:ext cx="5336969" cy="1976408"/>
            </a:xfrm>
            <a:prstGeom prst="rect">
              <a:avLst/>
            </a:prstGeom>
          </p:spPr>
        </p:pic>
        <p:pic>
          <p:nvPicPr>
            <p:cNvPr id="15" name="Picture 14">
              <a:extLst>
                <a:ext uri="{FF2B5EF4-FFF2-40B4-BE49-F238E27FC236}">
                  <a16:creationId xmlns:a16="http://schemas.microsoft.com/office/drawing/2014/main" id="{CD7E0A33-0C7A-8A1C-CCAF-EFF408FEB583}"/>
                </a:ext>
              </a:extLst>
            </p:cNvPr>
            <p:cNvPicPr>
              <a:picLocks noChangeAspect="1"/>
            </p:cNvPicPr>
            <p:nvPr/>
          </p:nvPicPr>
          <p:blipFill>
            <a:blip r:embed="rId4"/>
            <a:stretch>
              <a:fillRect/>
            </a:stretch>
          </p:blipFill>
          <p:spPr>
            <a:xfrm>
              <a:off x="5934484" y="5491619"/>
              <a:ext cx="5791200" cy="480102"/>
            </a:xfrm>
            <a:prstGeom prst="rect">
              <a:avLst/>
            </a:prstGeom>
          </p:spPr>
        </p:pic>
      </p:grpSp>
      <p:pic>
        <p:nvPicPr>
          <p:cNvPr id="17" name="Picture 16">
            <a:extLst>
              <a:ext uri="{FF2B5EF4-FFF2-40B4-BE49-F238E27FC236}">
                <a16:creationId xmlns:a16="http://schemas.microsoft.com/office/drawing/2014/main" id="{865CF6F6-5225-E9C8-3BBA-F6EF909CCAE4}"/>
              </a:ext>
            </a:extLst>
          </p:cNvPr>
          <p:cNvPicPr>
            <a:picLocks noChangeAspect="1"/>
          </p:cNvPicPr>
          <p:nvPr/>
        </p:nvPicPr>
        <p:blipFill rotWithShape="1">
          <a:blip r:embed="rId5"/>
          <a:srcRect r="43226" b="17219"/>
          <a:stretch/>
        </p:blipFill>
        <p:spPr>
          <a:xfrm>
            <a:off x="171015" y="3460294"/>
            <a:ext cx="2362298" cy="2031325"/>
          </a:xfrm>
          <a:prstGeom prst="rect">
            <a:avLst/>
          </a:prstGeom>
        </p:spPr>
      </p:pic>
      <p:pic>
        <p:nvPicPr>
          <p:cNvPr id="19" name="Picture 18">
            <a:extLst>
              <a:ext uri="{FF2B5EF4-FFF2-40B4-BE49-F238E27FC236}">
                <a16:creationId xmlns:a16="http://schemas.microsoft.com/office/drawing/2014/main" id="{6ACD7569-8F8B-9C36-A5D5-412C1DB43BB4}"/>
              </a:ext>
            </a:extLst>
          </p:cNvPr>
          <p:cNvPicPr>
            <a:picLocks noChangeAspect="1"/>
          </p:cNvPicPr>
          <p:nvPr/>
        </p:nvPicPr>
        <p:blipFill>
          <a:blip r:embed="rId6"/>
          <a:stretch>
            <a:fillRect/>
          </a:stretch>
        </p:blipFill>
        <p:spPr>
          <a:xfrm>
            <a:off x="2595097" y="3929594"/>
            <a:ext cx="3276884" cy="2636748"/>
          </a:xfrm>
          <a:prstGeom prst="rect">
            <a:avLst/>
          </a:prstGeom>
        </p:spPr>
      </p:pic>
      <p:pic>
        <p:nvPicPr>
          <p:cNvPr id="21" name="Picture 20">
            <a:extLst>
              <a:ext uri="{FF2B5EF4-FFF2-40B4-BE49-F238E27FC236}">
                <a16:creationId xmlns:a16="http://schemas.microsoft.com/office/drawing/2014/main" id="{CD97F5A9-4B16-DB29-330A-4F470568ADF7}"/>
              </a:ext>
            </a:extLst>
          </p:cNvPr>
          <p:cNvPicPr>
            <a:picLocks noChangeAspect="1"/>
          </p:cNvPicPr>
          <p:nvPr/>
        </p:nvPicPr>
        <p:blipFill>
          <a:blip r:embed="rId7"/>
          <a:stretch>
            <a:fillRect/>
          </a:stretch>
        </p:blipFill>
        <p:spPr>
          <a:xfrm>
            <a:off x="2533312" y="3609526"/>
            <a:ext cx="3276884" cy="320068"/>
          </a:xfrm>
          <a:prstGeom prst="rect">
            <a:avLst/>
          </a:prstGeom>
        </p:spPr>
      </p:pic>
    </p:spTree>
    <p:extLst>
      <p:ext uri="{BB962C8B-B14F-4D97-AF65-F5344CB8AC3E}">
        <p14:creationId xmlns:p14="http://schemas.microsoft.com/office/powerpoint/2010/main" val="1417307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C69CA2-695D-6A27-C181-772BADF8CA4D}"/>
              </a:ext>
            </a:extLst>
          </p:cNvPr>
          <p:cNvSpPr txBox="1"/>
          <p:nvPr/>
        </p:nvSpPr>
        <p:spPr>
          <a:xfrm>
            <a:off x="0" y="70973"/>
            <a:ext cx="6096000" cy="369332"/>
          </a:xfrm>
          <a:prstGeom prst="rect">
            <a:avLst/>
          </a:prstGeom>
          <a:noFill/>
        </p:spPr>
        <p:txBody>
          <a:bodyPr wrap="square">
            <a:spAutoFit/>
          </a:bodyPr>
          <a:lstStyle/>
          <a:p>
            <a:pPr algn="l"/>
            <a:r>
              <a:rPr lang="en-US" b="1" i="0" dirty="0">
                <a:solidFill>
                  <a:srgbClr val="1F1F1F"/>
                </a:solidFill>
                <a:effectLst/>
              </a:rPr>
              <a:t>K-nearest neighbors</a:t>
            </a:r>
          </a:p>
        </p:txBody>
      </p:sp>
      <p:pic>
        <p:nvPicPr>
          <p:cNvPr id="7" name="Picture 6">
            <a:extLst>
              <a:ext uri="{FF2B5EF4-FFF2-40B4-BE49-F238E27FC236}">
                <a16:creationId xmlns:a16="http://schemas.microsoft.com/office/drawing/2014/main" id="{531414D0-F8EC-DFEF-D975-FA1B917A8F07}"/>
              </a:ext>
            </a:extLst>
          </p:cNvPr>
          <p:cNvPicPr>
            <a:picLocks noChangeAspect="1"/>
          </p:cNvPicPr>
          <p:nvPr/>
        </p:nvPicPr>
        <p:blipFill>
          <a:blip r:embed="rId2"/>
          <a:stretch>
            <a:fillRect/>
          </a:stretch>
        </p:blipFill>
        <p:spPr>
          <a:xfrm>
            <a:off x="0" y="440305"/>
            <a:ext cx="9988320" cy="6029593"/>
          </a:xfrm>
          <a:prstGeom prst="rect">
            <a:avLst/>
          </a:prstGeom>
        </p:spPr>
      </p:pic>
    </p:spTree>
    <p:extLst>
      <p:ext uri="{BB962C8B-B14F-4D97-AF65-F5344CB8AC3E}">
        <p14:creationId xmlns:p14="http://schemas.microsoft.com/office/powerpoint/2010/main" val="499462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E4840E-7448-FA8E-73D4-AD483854CF3B}"/>
              </a:ext>
            </a:extLst>
          </p:cNvPr>
          <p:cNvSpPr txBox="1"/>
          <p:nvPr/>
        </p:nvSpPr>
        <p:spPr>
          <a:xfrm>
            <a:off x="78658" y="80805"/>
            <a:ext cx="6096000" cy="369332"/>
          </a:xfrm>
          <a:prstGeom prst="rect">
            <a:avLst/>
          </a:prstGeom>
          <a:noFill/>
        </p:spPr>
        <p:txBody>
          <a:bodyPr wrap="square">
            <a:spAutoFit/>
          </a:bodyPr>
          <a:lstStyle/>
          <a:p>
            <a:pPr algn="l"/>
            <a:r>
              <a:rPr lang="en-US" b="1" i="0" dirty="0">
                <a:solidFill>
                  <a:srgbClr val="1F1F1F"/>
                </a:solidFill>
                <a:effectLst/>
              </a:rPr>
              <a:t>Hash tables and hash functions</a:t>
            </a:r>
          </a:p>
        </p:txBody>
      </p:sp>
      <p:pic>
        <p:nvPicPr>
          <p:cNvPr id="7" name="Picture 6">
            <a:extLst>
              <a:ext uri="{FF2B5EF4-FFF2-40B4-BE49-F238E27FC236}">
                <a16:creationId xmlns:a16="http://schemas.microsoft.com/office/drawing/2014/main" id="{84CE219F-2F80-028D-EE7E-CA6773A98D3D}"/>
              </a:ext>
            </a:extLst>
          </p:cNvPr>
          <p:cNvPicPr>
            <a:picLocks noChangeAspect="1"/>
          </p:cNvPicPr>
          <p:nvPr/>
        </p:nvPicPr>
        <p:blipFill>
          <a:blip r:embed="rId2"/>
          <a:stretch>
            <a:fillRect/>
          </a:stretch>
        </p:blipFill>
        <p:spPr>
          <a:xfrm>
            <a:off x="78658" y="442589"/>
            <a:ext cx="5462363" cy="2543450"/>
          </a:xfrm>
          <a:prstGeom prst="rect">
            <a:avLst/>
          </a:prstGeom>
        </p:spPr>
      </p:pic>
      <p:pic>
        <p:nvPicPr>
          <p:cNvPr id="9" name="Picture 8">
            <a:extLst>
              <a:ext uri="{FF2B5EF4-FFF2-40B4-BE49-F238E27FC236}">
                <a16:creationId xmlns:a16="http://schemas.microsoft.com/office/drawing/2014/main" id="{C3FFB888-1818-394D-5F2F-78C9656125D8}"/>
              </a:ext>
            </a:extLst>
          </p:cNvPr>
          <p:cNvPicPr>
            <a:picLocks noChangeAspect="1"/>
          </p:cNvPicPr>
          <p:nvPr/>
        </p:nvPicPr>
        <p:blipFill>
          <a:blip r:embed="rId3"/>
          <a:stretch>
            <a:fillRect/>
          </a:stretch>
        </p:blipFill>
        <p:spPr>
          <a:xfrm>
            <a:off x="5903727" y="450137"/>
            <a:ext cx="4936830" cy="1264177"/>
          </a:xfrm>
          <a:prstGeom prst="rect">
            <a:avLst/>
          </a:prstGeom>
        </p:spPr>
      </p:pic>
      <p:pic>
        <p:nvPicPr>
          <p:cNvPr id="11" name="Picture 10">
            <a:extLst>
              <a:ext uri="{FF2B5EF4-FFF2-40B4-BE49-F238E27FC236}">
                <a16:creationId xmlns:a16="http://schemas.microsoft.com/office/drawing/2014/main" id="{A69ED691-28A1-B7E2-D510-82CDAF270FC4}"/>
              </a:ext>
            </a:extLst>
          </p:cNvPr>
          <p:cNvPicPr>
            <a:picLocks noChangeAspect="1"/>
          </p:cNvPicPr>
          <p:nvPr/>
        </p:nvPicPr>
        <p:blipFill>
          <a:blip r:embed="rId4"/>
          <a:stretch>
            <a:fillRect/>
          </a:stretch>
        </p:blipFill>
        <p:spPr>
          <a:xfrm>
            <a:off x="157239" y="3118898"/>
            <a:ext cx="7453006" cy="3215919"/>
          </a:xfrm>
          <a:prstGeom prst="rect">
            <a:avLst/>
          </a:prstGeom>
        </p:spPr>
      </p:pic>
      <p:sp>
        <p:nvSpPr>
          <p:cNvPr id="13" name="TextBox 12">
            <a:extLst>
              <a:ext uri="{FF2B5EF4-FFF2-40B4-BE49-F238E27FC236}">
                <a16:creationId xmlns:a16="http://schemas.microsoft.com/office/drawing/2014/main" id="{A26DC94A-DE99-3B1A-234D-CD346D3DE87A}"/>
              </a:ext>
            </a:extLst>
          </p:cNvPr>
          <p:cNvSpPr txBox="1"/>
          <p:nvPr/>
        </p:nvSpPr>
        <p:spPr>
          <a:xfrm>
            <a:off x="5903727" y="5022869"/>
            <a:ext cx="6096000"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diagram above shows a concrete example of a hash function which takes a vector and returns a value. Then you can mod that value by the number of buckets and put that number in its corresponding bucket. For example, 14 is in the 4th bucket, 17 &amp; 97 are in the 7th bucket</a:t>
            </a:r>
            <a:endParaRPr lang="en-US" dirty="0"/>
          </a:p>
        </p:txBody>
      </p:sp>
      <p:sp>
        <p:nvSpPr>
          <p:cNvPr id="14" name="TextBox 13">
            <a:extLst>
              <a:ext uri="{FF2B5EF4-FFF2-40B4-BE49-F238E27FC236}">
                <a16:creationId xmlns:a16="http://schemas.microsoft.com/office/drawing/2014/main" id="{3237C1AB-1999-2393-21B9-419FBD7C3DBE}"/>
              </a:ext>
            </a:extLst>
          </p:cNvPr>
          <p:cNvSpPr txBox="1"/>
          <p:nvPr/>
        </p:nvSpPr>
        <p:spPr>
          <a:xfrm>
            <a:off x="7325006" y="3886218"/>
            <a:ext cx="2094271" cy="369332"/>
          </a:xfrm>
          <a:prstGeom prst="rect">
            <a:avLst/>
          </a:prstGeom>
          <a:noFill/>
        </p:spPr>
        <p:txBody>
          <a:bodyPr wrap="square" rtlCol="0">
            <a:spAutoFit/>
          </a:bodyPr>
          <a:lstStyle/>
          <a:p>
            <a:r>
              <a:rPr lang="en-US" dirty="0"/>
              <a:t>Buckets</a:t>
            </a:r>
          </a:p>
        </p:txBody>
      </p:sp>
      <p:sp>
        <p:nvSpPr>
          <p:cNvPr id="15" name="Arrow: Right 14">
            <a:extLst>
              <a:ext uri="{FF2B5EF4-FFF2-40B4-BE49-F238E27FC236}">
                <a16:creationId xmlns:a16="http://schemas.microsoft.com/office/drawing/2014/main" id="{50E84443-8289-C8CB-93FD-3443F12C3862}"/>
              </a:ext>
            </a:extLst>
          </p:cNvPr>
          <p:cNvSpPr/>
          <p:nvPr/>
        </p:nvSpPr>
        <p:spPr>
          <a:xfrm>
            <a:off x="6666271" y="3949831"/>
            <a:ext cx="521110" cy="2471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1793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3A0390F-8136-ED5F-6532-3553432C5A86}"/>
              </a:ext>
            </a:extLst>
          </p:cNvPr>
          <p:cNvSpPr txBox="1"/>
          <p:nvPr/>
        </p:nvSpPr>
        <p:spPr>
          <a:xfrm>
            <a:off x="78658" y="80805"/>
            <a:ext cx="6096000" cy="369332"/>
          </a:xfrm>
          <a:prstGeom prst="rect">
            <a:avLst/>
          </a:prstGeom>
          <a:noFill/>
        </p:spPr>
        <p:txBody>
          <a:bodyPr wrap="square">
            <a:spAutoFit/>
          </a:bodyPr>
          <a:lstStyle/>
          <a:p>
            <a:pPr algn="l"/>
            <a:r>
              <a:rPr lang="en-US" b="1" i="0" dirty="0">
                <a:solidFill>
                  <a:srgbClr val="1F1F1F"/>
                </a:solidFill>
                <a:effectLst/>
              </a:rPr>
              <a:t>Hash tables and hash functions (contd..)</a:t>
            </a:r>
          </a:p>
        </p:txBody>
      </p:sp>
      <p:sp>
        <p:nvSpPr>
          <p:cNvPr id="6" name="TextBox 5">
            <a:extLst>
              <a:ext uri="{FF2B5EF4-FFF2-40B4-BE49-F238E27FC236}">
                <a16:creationId xmlns:a16="http://schemas.microsoft.com/office/drawing/2014/main" id="{6B7B829C-658E-7A2C-D27A-2FE471854F94}"/>
              </a:ext>
            </a:extLst>
          </p:cNvPr>
          <p:cNvSpPr txBox="1"/>
          <p:nvPr/>
        </p:nvSpPr>
        <p:spPr>
          <a:xfrm>
            <a:off x="196645" y="450137"/>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Let's take a look at how you can do it using some code. </a:t>
            </a:r>
            <a:endParaRPr lang="en-US" dirty="0"/>
          </a:p>
        </p:txBody>
      </p:sp>
      <p:pic>
        <p:nvPicPr>
          <p:cNvPr id="8" name="Picture 7">
            <a:extLst>
              <a:ext uri="{FF2B5EF4-FFF2-40B4-BE49-F238E27FC236}">
                <a16:creationId xmlns:a16="http://schemas.microsoft.com/office/drawing/2014/main" id="{65707E5B-ACFD-77A0-BD0E-DF36D28652DC}"/>
              </a:ext>
            </a:extLst>
          </p:cNvPr>
          <p:cNvPicPr>
            <a:picLocks noChangeAspect="1"/>
          </p:cNvPicPr>
          <p:nvPr/>
        </p:nvPicPr>
        <p:blipFill>
          <a:blip r:embed="rId2"/>
          <a:stretch>
            <a:fillRect/>
          </a:stretch>
        </p:blipFill>
        <p:spPr>
          <a:xfrm>
            <a:off x="300192" y="942426"/>
            <a:ext cx="7049111" cy="2751058"/>
          </a:xfrm>
          <a:prstGeom prst="rect">
            <a:avLst/>
          </a:prstGeom>
        </p:spPr>
      </p:pic>
      <p:pic>
        <p:nvPicPr>
          <p:cNvPr id="10" name="Picture 9">
            <a:extLst>
              <a:ext uri="{FF2B5EF4-FFF2-40B4-BE49-F238E27FC236}">
                <a16:creationId xmlns:a16="http://schemas.microsoft.com/office/drawing/2014/main" id="{C1B9F221-DC43-C5E1-3B10-4751BCE43EBC}"/>
              </a:ext>
            </a:extLst>
          </p:cNvPr>
          <p:cNvPicPr>
            <a:picLocks noChangeAspect="1"/>
          </p:cNvPicPr>
          <p:nvPr/>
        </p:nvPicPr>
        <p:blipFill>
          <a:blip r:embed="rId3"/>
          <a:stretch>
            <a:fillRect/>
          </a:stretch>
        </p:blipFill>
        <p:spPr>
          <a:xfrm>
            <a:off x="300192" y="3901322"/>
            <a:ext cx="8183313" cy="2875873"/>
          </a:xfrm>
          <a:prstGeom prst="rect">
            <a:avLst/>
          </a:prstGeom>
        </p:spPr>
      </p:pic>
    </p:spTree>
    <p:extLst>
      <p:ext uri="{BB962C8B-B14F-4D97-AF65-F5344CB8AC3E}">
        <p14:creationId xmlns:p14="http://schemas.microsoft.com/office/powerpoint/2010/main" val="3528291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B47A80-D82C-774C-3BCB-63801CB332B3}"/>
              </a:ext>
            </a:extLst>
          </p:cNvPr>
          <p:cNvSpPr txBox="1"/>
          <p:nvPr/>
        </p:nvSpPr>
        <p:spPr>
          <a:xfrm>
            <a:off x="68826" y="120134"/>
            <a:ext cx="6096000" cy="369332"/>
          </a:xfrm>
          <a:prstGeom prst="rect">
            <a:avLst/>
          </a:prstGeom>
          <a:noFill/>
        </p:spPr>
        <p:txBody>
          <a:bodyPr wrap="square">
            <a:spAutoFit/>
          </a:bodyPr>
          <a:lstStyle/>
          <a:p>
            <a:pPr algn="l"/>
            <a:r>
              <a:rPr lang="en-US" b="1" i="0" dirty="0">
                <a:solidFill>
                  <a:srgbClr val="1F1F1F"/>
                </a:solidFill>
                <a:effectLst/>
              </a:rPr>
              <a:t>Locality sensitive hashing</a:t>
            </a:r>
          </a:p>
        </p:txBody>
      </p:sp>
      <p:sp>
        <p:nvSpPr>
          <p:cNvPr id="7" name="TextBox 6">
            <a:extLst>
              <a:ext uri="{FF2B5EF4-FFF2-40B4-BE49-F238E27FC236}">
                <a16:creationId xmlns:a16="http://schemas.microsoft.com/office/drawing/2014/main" id="{996D15FD-3545-A13C-3993-618CD717F245}"/>
              </a:ext>
            </a:extLst>
          </p:cNvPr>
          <p:cNvSpPr txBox="1"/>
          <p:nvPr/>
        </p:nvSpPr>
        <p:spPr>
          <a:xfrm>
            <a:off x="68826" y="560890"/>
            <a:ext cx="12123174"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Locality sensitive hashing is a technique that allows you to hash similar inputs into the same buckets with high probability. </a:t>
            </a:r>
            <a:endParaRPr lang="en-US" dirty="0"/>
          </a:p>
        </p:txBody>
      </p:sp>
      <p:pic>
        <p:nvPicPr>
          <p:cNvPr id="9" name="Picture 8">
            <a:extLst>
              <a:ext uri="{FF2B5EF4-FFF2-40B4-BE49-F238E27FC236}">
                <a16:creationId xmlns:a16="http://schemas.microsoft.com/office/drawing/2014/main" id="{30DDD74F-0F30-1232-F57C-7E497975A982}"/>
              </a:ext>
            </a:extLst>
          </p:cNvPr>
          <p:cNvPicPr>
            <a:picLocks noChangeAspect="1"/>
          </p:cNvPicPr>
          <p:nvPr/>
        </p:nvPicPr>
        <p:blipFill>
          <a:blip r:embed="rId2"/>
          <a:stretch>
            <a:fillRect/>
          </a:stretch>
        </p:blipFill>
        <p:spPr>
          <a:xfrm>
            <a:off x="719969" y="1010234"/>
            <a:ext cx="3773374" cy="1565440"/>
          </a:xfrm>
          <a:prstGeom prst="rect">
            <a:avLst/>
          </a:prstGeom>
        </p:spPr>
      </p:pic>
      <p:sp>
        <p:nvSpPr>
          <p:cNvPr id="11" name="TextBox 10">
            <a:extLst>
              <a:ext uri="{FF2B5EF4-FFF2-40B4-BE49-F238E27FC236}">
                <a16:creationId xmlns:a16="http://schemas.microsoft.com/office/drawing/2014/main" id="{D3DE60C8-0475-1D5E-A098-D5A88D4029FE}"/>
              </a:ext>
            </a:extLst>
          </p:cNvPr>
          <p:cNvSpPr txBox="1"/>
          <p:nvPr/>
        </p:nvSpPr>
        <p:spPr>
          <a:xfrm>
            <a:off x="5664045" y="1010234"/>
            <a:ext cx="6096000"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Instead of the typical buckets we have been using, you can think of clustering the points by deciding whether they are above or below the line. Now as we go to higher dimensions (say n-dimensional vectors), you would be using planes instead of lines. Let's look at a concrete example:</a:t>
            </a:r>
            <a:endParaRPr lang="en-US" dirty="0"/>
          </a:p>
        </p:txBody>
      </p:sp>
      <p:pic>
        <p:nvPicPr>
          <p:cNvPr id="13" name="Picture 12">
            <a:extLst>
              <a:ext uri="{FF2B5EF4-FFF2-40B4-BE49-F238E27FC236}">
                <a16:creationId xmlns:a16="http://schemas.microsoft.com/office/drawing/2014/main" id="{5DFFB2A1-0FD3-0FB5-5F80-CE8CFE69D916}"/>
              </a:ext>
            </a:extLst>
          </p:cNvPr>
          <p:cNvPicPr>
            <a:picLocks noChangeAspect="1"/>
          </p:cNvPicPr>
          <p:nvPr/>
        </p:nvPicPr>
        <p:blipFill>
          <a:blip r:embed="rId3"/>
          <a:stretch>
            <a:fillRect/>
          </a:stretch>
        </p:blipFill>
        <p:spPr>
          <a:xfrm>
            <a:off x="3669075" y="4476564"/>
            <a:ext cx="4482233" cy="1617610"/>
          </a:xfrm>
          <a:prstGeom prst="rect">
            <a:avLst/>
          </a:prstGeom>
        </p:spPr>
      </p:pic>
      <p:pic>
        <p:nvPicPr>
          <p:cNvPr id="15" name="Picture 14">
            <a:extLst>
              <a:ext uri="{FF2B5EF4-FFF2-40B4-BE49-F238E27FC236}">
                <a16:creationId xmlns:a16="http://schemas.microsoft.com/office/drawing/2014/main" id="{199E573F-384B-1BD5-2EE0-55DE7B544279}"/>
              </a:ext>
            </a:extLst>
          </p:cNvPr>
          <p:cNvPicPr>
            <a:picLocks noChangeAspect="1"/>
          </p:cNvPicPr>
          <p:nvPr/>
        </p:nvPicPr>
        <p:blipFill>
          <a:blip r:embed="rId4"/>
          <a:stretch>
            <a:fillRect/>
          </a:stretch>
        </p:blipFill>
        <p:spPr>
          <a:xfrm>
            <a:off x="117988" y="2784787"/>
            <a:ext cx="7935268" cy="1622946"/>
          </a:xfrm>
          <a:prstGeom prst="rect">
            <a:avLst/>
          </a:prstGeom>
        </p:spPr>
      </p:pic>
      <p:pic>
        <p:nvPicPr>
          <p:cNvPr id="17" name="Picture 16">
            <a:extLst>
              <a:ext uri="{FF2B5EF4-FFF2-40B4-BE49-F238E27FC236}">
                <a16:creationId xmlns:a16="http://schemas.microsoft.com/office/drawing/2014/main" id="{0AC2DA86-CE7D-ED3B-0965-495261353CA6}"/>
              </a:ext>
            </a:extLst>
          </p:cNvPr>
          <p:cNvPicPr>
            <a:picLocks noChangeAspect="1"/>
          </p:cNvPicPr>
          <p:nvPr/>
        </p:nvPicPr>
        <p:blipFill>
          <a:blip r:embed="rId5"/>
          <a:stretch>
            <a:fillRect/>
          </a:stretch>
        </p:blipFill>
        <p:spPr>
          <a:xfrm>
            <a:off x="452557" y="4552853"/>
            <a:ext cx="2143160" cy="1576753"/>
          </a:xfrm>
          <a:prstGeom prst="rect">
            <a:avLst/>
          </a:prstGeom>
        </p:spPr>
      </p:pic>
      <p:pic>
        <p:nvPicPr>
          <p:cNvPr id="19" name="Picture 18">
            <a:extLst>
              <a:ext uri="{FF2B5EF4-FFF2-40B4-BE49-F238E27FC236}">
                <a16:creationId xmlns:a16="http://schemas.microsoft.com/office/drawing/2014/main" id="{57A4DD28-7DBB-F077-7DEF-88E0BB63AF5C}"/>
              </a:ext>
            </a:extLst>
          </p:cNvPr>
          <p:cNvPicPr>
            <a:picLocks noChangeAspect="1"/>
          </p:cNvPicPr>
          <p:nvPr/>
        </p:nvPicPr>
        <p:blipFill>
          <a:blip r:embed="rId6"/>
          <a:stretch>
            <a:fillRect/>
          </a:stretch>
        </p:blipFill>
        <p:spPr>
          <a:xfrm>
            <a:off x="117988" y="6239294"/>
            <a:ext cx="7483488" cy="586791"/>
          </a:xfrm>
          <a:prstGeom prst="rect">
            <a:avLst/>
          </a:prstGeom>
        </p:spPr>
      </p:pic>
    </p:spTree>
    <p:extLst>
      <p:ext uri="{BB962C8B-B14F-4D97-AF65-F5344CB8AC3E}">
        <p14:creationId xmlns:p14="http://schemas.microsoft.com/office/powerpoint/2010/main" val="273088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145E91C-743F-ACAE-101B-B0F7B18C973D}"/>
              </a:ext>
            </a:extLst>
          </p:cNvPr>
          <p:cNvSpPr txBox="1"/>
          <p:nvPr/>
        </p:nvSpPr>
        <p:spPr>
          <a:xfrm>
            <a:off x="186813" y="90637"/>
            <a:ext cx="6096000" cy="369332"/>
          </a:xfrm>
          <a:prstGeom prst="rect">
            <a:avLst/>
          </a:prstGeom>
          <a:noFill/>
        </p:spPr>
        <p:txBody>
          <a:bodyPr wrap="square">
            <a:spAutoFit/>
          </a:bodyPr>
          <a:lstStyle/>
          <a:p>
            <a:pPr algn="l"/>
            <a:r>
              <a:rPr lang="en-US" b="1" i="0" dirty="0">
                <a:solidFill>
                  <a:srgbClr val="1F1F1F"/>
                </a:solidFill>
                <a:effectLst/>
              </a:rPr>
              <a:t>Multiple Planes</a:t>
            </a:r>
          </a:p>
        </p:txBody>
      </p:sp>
      <p:sp>
        <p:nvSpPr>
          <p:cNvPr id="7" name="TextBox 6">
            <a:extLst>
              <a:ext uri="{FF2B5EF4-FFF2-40B4-BE49-F238E27FC236}">
                <a16:creationId xmlns:a16="http://schemas.microsoft.com/office/drawing/2014/main" id="{5A6E4494-4E12-F147-BBEA-A0BB80124DAB}"/>
              </a:ext>
            </a:extLst>
          </p:cNvPr>
          <p:cNvSpPr txBox="1"/>
          <p:nvPr/>
        </p:nvSpPr>
        <p:spPr>
          <a:xfrm>
            <a:off x="186812" y="459969"/>
            <a:ext cx="11090787"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You can use multiple planes to get a single hash value. Let's take a look at the following example: </a:t>
            </a:r>
            <a:endParaRPr lang="en-US" dirty="0"/>
          </a:p>
        </p:txBody>
      </p:sp>
      <p:pic>
        <p:nvPicPr>
          <p:cNvPr id="9" name="Picture 8">
            <a:extLst>
              <a:ext uri="{FF2B5EF4-FFF2-40B4-BE49-F238E27FC236}">
                <a16:creationId xmlns:a16="http://schemas.microsoft.com/office/drawing/2014/main" id="{43C52C0C-8F2F-78A5-6068-A0DE7EBA50B7}"/>
              </a:ext>
            </a:extLst>
          </p:cNvPr>
          <p:cNvPicPr>
            <a:picLocks noChangeAspect="1"/>
          </p:cNvPicPr>
          <p:nvPr/>
        </p:nvPicPr>
        <p:blipFill>
          <a:blip r:embed="rId2"/>
          <a:stretch>
            <a:fillRect/>
          </a:stretch>
        </p:blipFill>
        <p:spPr>
          <a:xfrm>
            <a:off x="261344" y="912929"/>
            <a:ext cx="5628180" cy="2114227"/>
          </a:xfrm>
          <a:prstGeom prst="rect">
            <a:avLst/>
          </a:prstGeom>
        </p:spPr>
      </p:pic>
      <p:pic>
        <p:nvPicPr>
          <p:cNvPr id="11" name="Picture 10">
            <a:extLst>
              <a:ext uri="{FF2B5EF4-FFF2-40B4-BE49-F238E27FC236}">
                <a16:creationId xmlns:a16="http://schemas.microsoft.com/office/drawing/2014/main" id="{542641A8-1FAA-3DCD-FB09-04C96789941A}"/>
              </a:ext>
            </a:extLst>
          </p:cNvPr>
          <p:cNvPicPr>
            <a:picLocks noChangeAspect="1"/>
          </p:cNvPicPr>
          <p:nvPr/>
        </p:nvPicPr>
        <p:blipFill>
          <a:blip r:embed="rId3"/>
          <a:stretch>
            <a:fillRect/>
          </a:stretch>
        </p:blipFill>
        <p:spPr>
          <a:xfrm>
            <a:off x="186812" y="4032751"/>
            <a:ext cx="6959870" cy="2650416"/>
          </a:xfrm>
          <a:prstGeom prst="rect">
            <a:avLst/>
          </a:prstGeom>
        </p:spPr>
      </p:pic>
      <p:pic>
        <p:nvPicPr>
          <p:cNvPr id="13" name="Picture 12">
            <a:extLst>
              <a:ext uri="{FF2B5EF4-FFF2-40B4-BE49-F238E27FC236}">
                <a16:creationId xmlns:a16="http://schemas.microsoft.com/office/drawing/2014/main" id="{F46744E8-8C08-E68F-D40C-0A0285D76FBD}"/>
              </a:ext>
            </a:extLst>
          </p:cNvPr>
          <p:cNvPicPr>
            <a:picLocks noChangeAspect="1"/>
          </p:cNvPicPr>
          <p:nvPr/>
        </p:nvPicPr>
        <p:blipFill>
          <a:blip r:embed="rId4"/>
          <a:stretch>
            <a:fillRect/>
          </a:stretch>
        </p:blipFill>
        <p:spPr>
          <a:xfrm>
            <a:off x="5997677" y="912929"/>
            <a:ext cx="6105669" cy="3009922"/>
          </a:xfrm>
          <a:prstGeom prst="rect">
            <a:avLst/>
          </a:prstGeom>
        </p:spPr>
      </p:pic>
    </p:spTree>
    <p:extLst>
      <p:ext uri="{BB962C8B-B14F-4D97-AF65-F5344CB8AC3E}">
        <p14:creationId xmlns:p14="http://schemas.microsoft.com/office/powerpoint/2010/main" val="539781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370A1E-C4B5-4C8E-1D78-BC10E9EB7D85}"/>
              </a:ext>
            </a:extLst>
          </p:cNvPr>
          <p:cNvSpPr txBox="1"/>
          <p:nvPr/>
        </p:nvSpPr>
        <p:spPr>
          <a:xfrm>
            <a:off x="127820" y="70973"/>
            <a:ext cx="6096000" cy="369332"/>
          </a:xfrm>
          <a:prstGeom prst="rect">
            <a:avLst/>
          </a:prstGeom>
          <a:noFill/>
        </p:spPr>
        <p:txBody>
          <a:bodyPr wrap="square">
            <a:spAutoFit/>
          </a:bodyPr>
          <a:lstStyle/>
          <a:p>
            <a:pPr algn="l"/>
            <a:r>
              <a:rPr lang="en-US" b="1" i="0" dirty="0">
                <a:solidFill>
                  <a:srgbClr val="1F1F1F"/>
                </a:solidFill>
                <a:effectLst/>
              </a:rPr>
              <a:t>Approximate nearest neighbors</a:t>
            </a:r>
          </a:p>
        </p:txBody>
      </p:sp>
      <p:pic>
        <p:nvPicPr>
          <p:cNvPr id="7" name="Picture 6">
            <a:extLst>
              <a:ext uri="{FF2B5EF4-FFF2-40B4-BE49-F238E27FC236}">
                <a16:creationId xmlns:a16="http://schemas.microsoft.com/office/drawing/2014/main" id="{F3F49245-1578-A7B3-E801-37352EF0A1C2}"/>
              </a:ext>
            </a:extLst>
          </p:cNvPr>
          <p:cNvPicPr>
            <a:picLocks noChangeAspect="1"/>
          </p:cNvPicPr>
          <p:nvPr/>
        </p:nvPicPr>
        <p:blipFill>
          <a:blip r:embed="rId2"/>
          <a:stretch>
            <a:fillRect/>
          </a:stretch>
        </p:blipFill>
        <p:spPr>
          <a:xfrm>
            <a:off x="241412" y="440305"/>
            <a:ext cx="7433658" cy="3836727"/>
          </a:xfrm>
          <a:prstGeom prst="rect">
            <a:avLst/>
          </a:prstGeom>
        </p:spPr>
      </p:pic>
      <p:pic>
        <p:nvPicPr>
          <p:cNvPr id="9" name="Picture 8">
            <a:extLst>
              <a:ext uri="{FF2B5EF4-FFF2-40B4-BE49-F238E27FC236}">
                <a16:creationId xmlns:a16="http://schemas.microsoft.com/office/drawing/2014/main" id="{572313CF-FC96-73AC-C699-28B4C67E93EE}"/>
              </a:ext>
            </a:extLst>
          </p:cNvPr>
          <p:cNvPicPr>
            <a:picLocks noChangeAspect="1"/>
          </p:cNvPicPr>
          <p:nvPr/>
        </p:nvPicPr>
        <p:blipFill>
          <a:blip r:embed="rId3"/>
          <a:stretch>
            <a:fillRect/>
          </a:stretch>
        </p:blipFill>
        <p:spPr>
          <a:xfrm>
            <a:off x="4734753" y="4090219"/>
            <a:ext cx="6996527" cy="2509995"/>
          </a:xfrm>
          <a:prstGeom prst="rect">
            <a:avLst/>
          </a:prstGeom>
        </p:spPr>
      </p:pic>
    </p:spTree>
    <p:extLst>
      <p:ext uri="{BB962C8B-B14F-4D97-AF65-F5344CB8AC3E}">
        <p14:creationId xmlns:p14="http://schemas.microsoft.com/office/powerpoint/2010/main" val="247092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EEBAFF-54EC-E37C-D5F5-03DD9FAE263E}"/>
              </a:ext>
            </a:extLst>
          </p:cNvPr>
          <p:cNvSpPr txBox="1"/>
          <p:nvPr/>
        </p:nvSpPr>
        <p:spPr>
          <a:xfrm>
            <a:off x="117988" y="110301"/>
            <a:ext cx="6096000" cy="369332"/>
          </a:xfrm>
          <a:prstGeom prst="rect">
            <a:avLst/>
          </a:prstGeom>
          <a:noFill/>
        </p:spPr>
        <p:txBody>
          <a:bodyPr wrap="square">
            <a:spAutoFit/>
          </a:bodyPr>
          <a:lstStyle/>
          <a:p>
            <a:pPr algn="l"/>
            <a:r>
              <a:rPr lang="en-US" b="1" i="0" dirty="0">
                <a:solidFill>
                  <a:srgbClr val="1F1F1F"/>
                </a:solidFill>
                <a:effectLst/>
              </a:rPr>
              <a:t>Searching documents</a:t>
            </a:r>
          </a:p>
        </p:txBody>
      </p:sp>
      <p:sp>
        <p:nvSpPr>
          <p:cNvPr id="7" name="TextBox 6">
            <a:extLst>
              <a:ext uri="{FF2B5EF4-FFF2-40B4-BE49-F238E27FC236}">
                <a16:creationId xmlns:a16="http://schemas.microsoft.com/office/drawing/2014/main" id="{FBD1B214-3DC9-D713-9F52-461E85C5BDF6}"/>
              </a:ext>
            </a:extLst>
          </p:cNvPr>
          <p:cNvSpPr txBox="1"/>
          <p:nvPr/>
        </p:nvSpPr>
        <p:spPr>
          <a:xfrm>
            <a:off x="117987" y="479633"/>
            <a:ext cx="11366089"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previous video shows you a toy example of how you can actually represent a document as a vector. </a:t>
            </a:r>
            <a:endParaRPr lang="en-US" dirty="0"/>
          </a:p>
        </p:txBody>
      </p:sp>
      <p:pic>
        <p:nvPicPr>
          <p:cNvPr id="9" name="Picture 8">
            <a:extLst>
              <a:ext uri="{FF2B5EF4-FFF2-40B4-BE49-F238E27FC236}">
                <a16:creationId xmlns:a16="http://schemas.microsoft.com/office/drawing/2014/main" id="{537F2A2A-047C-0375-E742-609EC16AEF5E}"/>
              </a:ext>
            </a:extLst>
          </p:cNvPr>
          <p:cNvPicPr>
            <a:picLocks noChangeAspect="1"/>
          </p:cNvPicPr>
          <p:nvPr/>
        </p:nvPicPr>
        <p:blipFill>
          <a:blip r:embed="rId2"/>
          <a:stretch>
            <a:fillRect/>
          </a:stretch>
        </p:blipFill>
        <p:spPr>
          <a:xfrm>
            <a:off x="212741" y="941812"/>
            <a:ext cx="5768840" cy="2712955"/>
          </a:xfrm>
          <a:prstGeom prst="rect">
            <a:avLst/>
          </a:prstGeom>
        </p:spPr>
      </p:pic>
      <p:pic>
        <p:nvPicPr>
          <p:cNvPr id="11" name="Picture 10">
            <a:extLst>
              <a:ext uri="{FF2B5EF4-FFF2-40B4-BE49-F238E27FC236}">
                <a16:creationId xmlns:a16="http://schemas.microsoft.com/office/drawing/2014/main" id="{816DFDFC-30A0-2EF6-4436-7B8F491E56A0}"/>
              </a:ext>
            </a:extLst>
          </p:cNvPr>
          <p:cNvPicPr>
            <a:picLocks noChangeAspect="1"/>
          </p:cNvPicPr>
          <p:nvPr/>
        </p:nvPicPr>
        <p:blipFill>
          <a:blip r:embed="rId3"/>
          <a:stretch>
            <a:fillRect/>
          </a:stretch>
        </p:blipFill>
        <p:spPr>
          <a:xfrm>
            <a:off x="212741" y="3618665"/>
            <a:ext cx="7800549" cy="3129034"/>
          </a:xfrm>
          <a:prstGeom prst="rect">
            <a:avLst/>
          </a:prstGeom>
        </p:spPr>
      </p:pic>
    </p:spTree>
    <p:extLst>
      <p:ext uri="{BB962C8B-B14F-4D97-AF65-F5344CB8AC3E}">
        <p14:creationId xmlns:p14="http://schemas.microsoft.com/office/powerpoint/2010/main" val="3910605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334</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Source Sans Pro</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43</cp:revision>
  <dcterms:created xsi:type="dcterms:W3CDTF">2024-01-15T19:55:33Z</dcterms:created>
  <dcterms:modified xsi:type="dcterms:W3CDTF">2024-01-15T20:51:28Z</dcterms:modified>
</cp:coreProperties>
</file>