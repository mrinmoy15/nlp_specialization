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3EB03-9642-4150-4D10-93DD375C2E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D7A12F-B0CB-3E87-F266-AD45FECE5C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A596E5-1ACE-91C3-3706-6478F47B136D}"/>
              </a:ext>
            </a:extLst>
          </p:cNvPr>
          <p:cNvSpPr>
            <a:spLocks noGrp="1"/>
          </p:cNvSpPr>
          <p:nvPr>
            <p:ph type="dt" sz="half" idx="10"/>
          </p:nvPr>
        </p:nvSpPr>
        <p:spPr/>
        <p:txBody>
          <a:bodyPr/>
          <a:lstStyle/>
          <a:p>
            <a:fld id="{FB15A2F6-A487-4504-9C02-675B0FDD175B}" type="datetimeFigureOut">
              <a:rPr lang="en-US" smtClean="0"/>
              <a:t>1/15/2024</a:t>
            </a:fld>
            <a:endParaRPr lang="en-US"/>
          </a:p>
        </p:txBody>
      </p:sp>
      <p:sp>
        <p:nvSpPr>
          <p:cNvPr id="5" name="Footer Placeholder 4">
            <a:extLst>
              <a:ext uri="{FF2B5EF4-FFF2-40B4-BE49-F238E27FC236}">
                <a16:creationId xmlns:a16="http://schemas.microsoft.com/office/drawing/2014/main" id="{E551AB59-4A54-8C08-085B-594747A30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09CC41-E6B9-6DB9-054F-2E22F252F9F8}"/>
              </a:ext>
            </a:extLst>
          </p:cNvPr>
          <p:cNvSpPr>
            <a:spLocks noGrp="1"/>
          </p:cNvSpPr>
          <p:nvPr>
            <p:ph type="sldNum" sz="quarter" idx="12"/>
          </p:nvPr>
        </p:nvSpPr>
        <p:spPr/>
        <p:txBody>
          <a:bodyPr/>
          <a:lstStyle/>
          <a:p>
            <a:fld id="{C2B13F2B-D9E7-4538-BA48-A90A6C74BE21}" type="slidenum">
              <a:rPr lang="en-US" smtClean="0"/>
              <a:t>‹#›</a:t>
            </a:fld>
            <a:endParaRPr lang="en-US"/>
          </a:p>
        </p:txBody>
      </p:sp>
    </p:spTree>
    <p:extLst>
      <p:ext uri="{BB962C8B-B14F-4D97-AF65-F5344CB8AC3E}">
        <p14:creationId xmlns:p14="http://schemas.microsoft.com/office/powerpoint/2010/main" val="709520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116AD-54C8-464F-BED0-D1064EC954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786D99-CBF0-C89C-3AA1-076810BB43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8E4383-030E-A995-27C4-7A067847D7B1}"/>
              </a:ext>
            </a:extLst>
          </p:cNvPr>
          <p:cNvSpPr>
            <a:spLocks noGrp="1"/>
          </p:cNvSpPr>
          <p:nvPr>
            <p:ph type="dt" sz="half" idx="10"/>
          </p:nvPr>
        </p:nvSpPr>
        <p:spPr/>
        <p:txBody>
          <a:bodyPr/>
          <a:lstStyle/>
          <a:p>
            <a:fld id="{FB15A2F6-A487-4504-9C02-675B0FDD175B}" type="datetimeFigureOut">
              <a:rPr lang="en-US" smtClean="0"/>
              <a:t>1/15/2024</a:t>
            </a:fld>
            <a:endParaRPr lang="en-US"/>
          </a:p>
        </p:txBody>
      </p:sp>
      <p:sp>
        <p:nvSpPr>
          <p:cNvPr id="5" name="Footer Placeholder 4">
            <a:extLst>
              <a:ext uri="{FF2B5EF4-FFF2-40B4-BE49-F238E27FC236}">
                <a16:creationId xmlns:a16="http://schemas.microsoft.com/office/drawing/2014/main" id="{11485C6D-FB2F-6101-58B9-45A236D443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DEE410-E02C-6CA5-3B75-CECA7A7DD780}"/>
              </a:ext>
            </a:extLst>
          </p:cNvPr>
          <p:cNvSpPr>
            <a:spLocks noGrp="1"/>
          </p:cNvSpPr>
          <p:nvPr>
            <p:ph type="sldNum" sz="quarter" idx="12"/>
          </p:nvPr>
        </p:nvSpPr>
        <p:spPr/>
        <p:txBody>
          <a:bodyPr/>
          <a:lstStyle/>
          <a:p>
            <a:fld id="{C2B13F2B-D9E7-4538-BA48-A90A6C74BE21}" type="slidenum">
              <a:rPr lang="en-US" smtClean="0"/>
              <a:t>‹#›</a:t>
            </a:fld>
            <a:endParaRPr lang="en-US"/>
          </a:p>
        </p:txBody>
      </p:sp>
    </p:spTree>
    <p:extLst>
      <p:ext uri="{BB962C8B-B14F-4D97-AF65-F5344CB8AC3E}">
        <p14:creationId xmlns:p14="http://schemas.microsoft.com/office/powerpoint/2010/main" val="312794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E7F27-2B76-8AB7-0A8A-7C10499B8E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5BF8F2-4161-3DC9-3521-0E417B5DC7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0CF194-8E9E-E9F1-9D91-BD1847B70CC2}"/>
              </a:ext>
            </a:extLst>
          </p:cNvPr>
          <p:cNvSpPr>
            <a:spLocks noGrp="1"/>
          </p:cNvSpPr>
          <p:nvPr>
            <p:ph type="dt" sz="half" idx="10"/>
          </p:nvPr>
        </p:nvSpPr>
        <p:spPr/>
        <p:txBody>
          <a:bodyPr/>
          <a:lstStyle/>
          <a:p>
            <a:fld id="{FB15A2F6-A487-4504-9C02-675B0FDD175B}" type="datetimeFigureOut">
              <a:rPr lang="en-US" smtClean="0"/>
              <a:t>1/15/2024</a:t>
            </a:fld>
            <a:endParaRPr lang="en-US"/>
          </a:p>
        </p:txBody>
      </p:sp>
      <p:sp>
        <p:nvSpPr>
          <p:cNvPr id="5" name="Footer Placeholder 4">
            <a:extLst>
              <a:ext uri="{FF2B5EF4-FFF2-40B4-BE49-F238E27FC236}">
                <a16:creationId xmlns:a16="http://schemas.microsoft.com/office/drawing/2014/main" id="{B9342864-810E-3AF9-ED80-074526BCF2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4E8655-8AEE-C56A-D2E4-B0D2F7FD037B}"/>
              </a:ext>
            </a:extLst>
          </p:cNvPr>
          <p:cNvSpPr>
            <a:spLocks noGrp="1"/>
          </p:cNvSpPr>
          <p:nvPr>
            <p:ph type="sldNum" sz="quarter" idx="12"/>
          </p:nvPr>
        </p:nvSpPr>
        <p:spPr/>
        <p:txBody>
          <a:bodyPr/>
          <a:lstStyle/>
          <a:p>
            <a:fld id="{C2B13F2B-D9E7-4538-BA48-A90A6C74BE21}" type="slidenum">
              <a:rPr lang="en-US" smtClean="0"/>
              <a:t>‹#›</a:t>
            </a:fld>
            <a:endParaRPr lang="en-US"/>
          </a:p>
        </p:txBody>
      </p:sp>
    </p:spTree>
    <p:extLst>
      <p:ext uri="{BB962C8B-B14F-4D97-AF65-F5344CB8AC3E}">
        <p14:creationId xmlns:p14="http://schemas.microsoft.com/office/powerpoint/2010/main" val="1358850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CC70-78F8-34BD-A11B-4655A3B78E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E2FFA8-1C85-E49D-A312-3AED2D3884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562E74-00DC-A99D-5D6F-3E68BB2322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D523AB-25DA-8E98-4E82-68A9919CCB42}"/>
              </a:ext>
            </a:extLst>
          </p:cNvPr>
          <p:cNvSpPr>
            <a:spLocks noGrp="1"/>
          </p:cNvSpPr>
          <p:nvPr>
            <p:ph type="dt" sz="half" idx="10"/>
          </p:nvPr>
        </p:nvSpPr>
        <p:spPr/>
        <p:txBody>
          <a:bodyPr/>
          <a:lstStyle/>
          <a:p>
            <a:fld id="{FB15A2F6-A487-4504-9C02-675B0FDD175B}" type="datetimeFigureOut">
              <a:rPr lang="en-US" smtClean="0"/>
              <a:t>1/15/2024</a:t>
            </a:fld>
            <a:endParaRPr lang="en-US"/>
          </a:p>
        </p:txBody>
      </p:sp>
      <p:sp>
        <p:nvSpPr>
          <p:cNvPr id="6" name="Footer Placeholder 5">
            <a:extLst>
              <a:ext uri="{FF2B5EF4-FFF2-40B4-BE49-F238E27FC236}">
                <a16:creationId xmlns:a16="http://schemas.microsoft.com/office/drawing/2014/main" id="{B798F660-5B09-6D11-BFAC-512A41FA05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191CCB-EB7D-4C44-F65C-0D7208004227}"/>
              </a:ext>
            </a:extLst>
          </p:cNvPr>
          <p:cNvSpPr>
            <a:spLocks noGrp="1"/>
          </p:cNvSpPr>
          <p:nvPr>
            <p:ph type="sldNum" sz="quarter" idx="12"/>
          </p:nvPr>
        </p:nvSpPr>
        <p:spPr/>
        <p:txBody>
          <a:bodyPr/>
          <a:lstStyle/>
          <a:p>
            <a:fld id="{C2B13F2B-D9E7-4538-BA48-A90A6C74BE21}" type="slidenum">
              <a:rPr lang="en-US" smtClean="0"/>
              <a:t>‹#›</a:t>
            </a:fld>
            <a:endParaRPr lang="en-US"/>
          </a:p>
        </p:txBody>
      </p:sp>
    </p:spTree>
    <p:extLst>
      <p:ext uri="{BB962C8B-B14F-4D97-AF65-F5344CB8AC3E}">
        <p14:creationId xmlns:p14="http://schemas.microsoft.com/office/powerpoint/2010/main" val="275341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C6E8C-162E-9493-C161-24B046ACCC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B30427-F787-12E5-0BFA-D7EFA6D9FA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359804-BAC6-0878-649B-3FE045EDB7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5410F1-1798-23C4-BF5A-6ABD8A73EF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DEA18E-DE32-23AE-416D-31854B3A47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F80336-5684-E3EE-39E6-764185D4E5DD}"/>
              </a:ext>
            </a:extLst>
          </p:cNvPr>
          <p:cNvSpPr>
            <a:spLocks noGrp="1"/>
          </p:cNvSpPr>
          <p:nvPr>
            <p:ph type="dt" sz="half" idx="10"/>
          </p:nvPr>
        </p:nvSpPr>
        <p:spPr/>
        <p:txBody>
          <a:bodyPr/>
          <a:lstStyle/>
          <a:p>
            <a:fld id="{FB15A2F6-A487-4504-9C02-675B0FDD175B}" type="datetimeFigureOut">
              <a:rPr lang="en-US" smtClean="0"/>
              <a:t>1/15/2024</a:t>
            </a:fld>
            <a:endParaRPr lang="en-US"/>
          </a:p>
        </p:txBody>
      </p:sp>
      <p:sp>
        <p:nvSpPr>
          <p:cNvPr id="8" name="Footer Placeholder 7">
            <a:extLst>
              <a:ext uri="{FF2B5EF4-FFF2-40B4-BE49-F238E27FC236}">
                <a16:creationId xmlns:a16="http://schemas.microsoft.com/office/drawing/2014/main" id="{13D7C58B-2E01-81AD-1755-0F4B87A204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9A9D06-DB31-EE10-F9C2-5BF92A601FE8}"/>
              </a:ext>
            </a:extLst>
          </p:cNvPr>
          <p:cNvSpPr>
            <a:spLocks noGrp="1"/>
          </p:cNvSpPr>
          <p:nvPr>
            <p:ph type="sldNum" sz="quarter" idx="12"/>
          </p:nvPr>
        </p:nvSpPr>
        <p:spPr/>
        <p:txBody>
          <a:bodyPr/>
          <a:lstStyle/>
          <a:p>
            <a:fld id="{C2B13F2B-D9E7-4538-BA48-A90A6C74BE21}" type="slidenum">
              <a:rPr lang="en-US" smtClean="0"/>
              <a:t>‹#›</a:t>
            </a:fld>
            <a:endParaRPr lang="en-US"/>
          </a:p>
        </p:txBody>
      </p:sp>
    </p:spTree>
    <p:extLst>
      <p:ext uri="{BB962C8B-B14F-4D97-AF65-F5344CB8AC3E}">
        <p14:creationId xmlns:p14="http://schemas.microsoft.com/office/powerpoint/2010/main" val="624624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00897-4AC1-57A5-6638-931D8000B8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7F7DB2-2992-A1B7-6676-1D86983CD7AA}"/>
              </a:ext>
            </a:extLst>
          </p:cNvPr>
          <p:cNvSpPr>
            <a:spLocks noGrp="1"/>
          </p:cNvSpPr>
          <p:nvPr>
            <p:ph type="dt" sz="half" idx="10"/>
          </p:nvPr>
        </p:nvSpPr>
        <p:spPr/>
        <p:txBody>
          <a:bodyPr/>
          <a:lstStyle/>
          <a:p>
            <a:fld id="{FB15A2F6-A487-4504-9C02-675B0FDD175B}" type="datetimeFigureOut">
              <a:rPr lang="en-US" smtClean="0"/>
              <a:t>1/15/2024</a:t>
            </a:fld>
            <a:endParaRPr lang="en-US"/>
          </a:p>
        </p:txBody>
      </p:sp>
      <p:sp>
        <p:nvSpPr>
          <p:cNvPr id="4" name="Footer Placeholder 3">
            <a:extLst>
              <a:ext uri="{FF2B5EF4-FFF2-40B4-BE49-F238E27FC236}">
                <a16:creationId xmlns:a16="http://schemas.microsoft.com/office/drawing/2014/main" id="{5E5AB4C9-8A4A-6E77-B7DA-AB98695719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BAF842-EF16-4D1C-A868-B1E973C3D678}"/>
              </a:ext>
            </a:extLst>
          </p:cNvPr>
          <p:cNvSpPr>
            <a:spLocks noGrp="1"/>
          </p:cNvSpPr>
          <p:nvPr>
            <p:ph type="sldNum" sz="quarter" idx="12"/>
          </p:nvPr>
        </p:nvSpPr>
        <p:spPr/>
        <p:txBody>
          <a:bodyPr/>
          <a:lstStyle/>
          <a:p>
            <a:fld id="{C2B13F2B-D9E7-4538-BA48-A90A6C74BE21}" type="slidenum">
              <a:rPr lang="en-US" smtClean="0"/>
              <a:t>‹#›</a:t>
            </a:fld>
            <a:endParaRPr lang="en-US"/>
          </a:p>
        </p:txBody>
      </p:sp>
    </p:spTree>
    <p:extLst>
      <p:ext uri="{BB962C8B-B14F-4D97-AF65-F5344CB8AC3E}">
        <p14:creationId xmlns:p14="http://schemas.microsoft.com/office/powerpoint/2010/main" val="1861205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ED8C8C-FF24-3139-941A-6FC2567DC115}"/>
              </a:ext>
            </a:extLst>
          </p:cNvPr>
          <p:cNvSpPr>
            <a:spLocks noGrp="1"/>
          </p:cNvSpPr>
          <p:nvPr>
            <p:ph type="dt" sz="half" idx="10"/>
          </p:nvPr>
        </p:nvSpPr>
        <p:spPr/>
        <p:txBody>
          <a:bodyPr/>
          <a:lstStyle/>
          <a:p>
            <a:fld id="{FB15A2F6-A487-4504-9C02-675B0FDD175B}" type="datetimeFigureOut">
              <a:rPr lang="en-US" smtClean="0"/>
              <a:t>1/15/2024</a:t>
            </a:fld>
            <a:endParaRPr lang="en-US"/>
          </a:p>
        </p:txBody>
      </p:sp>
      <p:sp>
        <p:nvSpPr>
          <p:cNvPr id="3" name="Footer Placeholder 2">
            <a:extLst>
              <a:ext uri="{FF2B5EF4-FFF2-40B4-BE49-F238E27FC236}">
                <a16:creationId xmlns:a16="http://schemas.microsoft.com/office/drawing/2014/main" id="{0911467B-7C5C-BD3C-994E-B75F8D218B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E3062F-7FCF-97CA-0DA2-F907C074ED50}"/>
              </a:ext>
            </a:extLst>
          </p:cNvPr>
          <p:cNvSpPr>
            <a:spLocks noGrp="1"/>
          </p:cNvSpPr>
          <p:nvPr>
            <p:ph type="sldNum" sz="quarter" idx="12"/>
          </p:nvPr>
        </p:nvSpPr>
        <p:spPr/>
        <p:txBody>
          <a:bodyPr/>
          <a:lstStyle/>
          <a:p>
            <a:fld id="{C2B13F2B-D9E7-4538-BA48-A90A6C74BE21}" type="slidenum">
              <a:rPr lang="en-US" smtClean="0"/>
              <a:t>‹#›</a:t>
            </a:fld>
            <a:endParaRPr lang="en-US"/>
          </a:p>
        </p:txBody>
      </p:sp>
    </p:spTree>
    <p:extLst>
      <p:ext uri="{BB962C8B-B14F-4D97-AF65-F5344CB8AC3E}">
        <p14:creationId xmlns:p14="http://schemas.microsoft.com/office/powerpoint/2010/main" val="467054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7D822-5828-87B2-25D5-FE85923CEF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E7DDF9-C7E0-89D6-6776-C9290A39E4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400CDF-3A65-3D97-6F6B-7BECE20DB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219614-9094-DBED-233F-E060C3619201}"/>
              </a:ext>
            </a:extLst>
          </p:cNvPr>
          <p:cNvSpPr>
            <a:spLocks noGrp="1"/>
          </p:cNvSpPr>
          <p:nvPr>
            <p:ph type="dt" sz="half" idx="10"/>
          </p:nvPr>
        </p:nvSpPr>
        <p:spPr/>
        <p:txBody>
          <a:bodyPr/>
          <a:lstStyle/>
          <a:p>
            <a:fld id="{FB15A2F6-A487-4504-9C02-675B0FDD175B}" type="datetimeFigureOut">
              <a:rPr lang="en-US" smtClean="0"/>
              <a:t>1/15/2024</a:t>
            </a:fld>
            <a:endParaRPr lang="en-US"/>
          </a:p>
        </p:txBody>
      </p:sp>
      <p:sp>
        <p:nvSpPr>
          <p:cNvPr id="6" name="Footer Placeholder 5">
            <a:extLst>
              <a:ext uri="{FF2B5EF4-FFF2-40B4-BE49-F238E27FC236}">
                <a16:creationId xmlns:a16="http://schemas.microsoft.com/office/drawing/2014/main" id="{4031EFC5-B00A-8395-FCFB-B9CDB38CD2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5B8D04-3666-BCAC-CA97-C21D1DFB0F5F}"/>
              </a:ext>
            </a:extLst>
          </p:cNvPr>
          <p:cNvSpPr>
            <a:spLocks noGrp="1"/>
          </p:cNvSpPr>
          <p:nvPr>
            <p:ph type="sldNum" sz="quarter" idx="12"/>
          </p:nvPr>
        </p:nvSpPr>
        <p:spPr/>
        <p:txBody>
          <a:bodyPr/>
          <a:lstStyle/>
          <a:p>
            <a:fld id="{C2B13F2B-D9E7-4538-BA48-A90A6C74BE21}" type="slidenum">
              <a:rPr lang="en-US" smtClean="0"/>
              <a:t>‹#›</a:t>
            </a:fld>
            <a:endParaRPr lang="en-US"/>
          </a:p>
        </p:txBody>
      </p:sp>
    </p:spTree>
    <p:extLst>
      <p:ext uri="{BB962C8B-B14F-4D97-AF65-F5344CB8AC3E}">
        <p14:creationId xmlns:p14="http://schemas.microsoft.com/office/powerpoint/2010/main" val="1826262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A1B34-CA5F-092A-D835-BF5BA7807D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90F479-7818-6D79-2A03-4A894EDEAD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A67AEF-E1D7-1369-E1A9-BC91FE4E10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2C52FF-EC62-6523-48E8-326AE5945898}"/>
              </a:ext>
            </a:extLst>
          </p:cNvPr>
          <p:cNvSpPr>
            <a:spLocks noGrp="1"/>
          </p:cNvSpPr>
          <p:nvPr>
            <p:ph type="dt" sz="half" idx="10"/>
          </p:nvPr>
        </p:nvSpPr>
        <p:spPr/>
        <p:txBody>
          <a:bodyPr/>
          <a:lstStyle/>
          <a:p>
            <a:fld id="{FB15A2F6-A487-4504-9C02-675B0FDD175B}" type="datetimeFigureOut">
              <a:rPr lang="en-US" smtClean="0"/>
              <a:t>1/15/2024</a:t>
            </a:fld>
            <a:endParaRPr lang="en-US"/>
          </a:p>
        </p:txBody>
      </p:sp>
      <p:sp>
        <p:nvSpPr>
          <p:cNvPr id="6" name="Footer Placeholder 5">
            <a:extLst>
              <a:ext uri="{FF2B5EF4-FFF2-40B4-BE49-F238E27FC236}">
                <a16:creationId xmlns:a16="http://schemas.microsoft.com/office/drawing/2014/main" id="{C7E963F8-4306-A0ED-A6FE-C9F52E446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79A10D-F2E3-5C80-8055-DD413C5F5ACE}"/>
              </a:ext>
            </a:extLst>
          </p:cNvPr>
          <p:cNvSpPr>
            <a:spLocks noGrp="1"/>
          </p:cNvSpPr>
          <p:nvPr>
            <p:ph type="sldNum" sz="quarter" idx="12"/>
          </p:nvPr>
        </p:nvSpPr>
        <p:spPr/>
        <p:txBody>
          <a:bodyPr/>
          <a:lstStyle/>
          <a:p>
            <a:fld id="{C2B13F2B-D9E7-4538-BA48-A90A6C74BE21}" type="slidenum">
              <a:rPr lang="en-US" smtClean="0"/>
              <a:t>‹#›</a:t>
            </a:fld>
            <a:endParaRPr lang="en-US"/>
          </a:p>
        </p:txBody>
      </p:sp>
    </p:spTree>
    <p:extLst>
      <p:ext uri="{BB962C8B-B14F-4D97-AF65-F5344CB8AC3E}">
        <p14:creationId xmlns:p14="http://schemas.microsoft.com/office/powerpoint/2010/main" val="3322278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B6F41-C5A1-FCF1-1E94-508BD66A7C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02684D-C2F1-B450-EA93-5CCEA4BFAD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38B9A6-6AB2-6742-494F-C8A73819A9EC}"/>
              </a:ext>
            </a:extLst>
          </p:cNvPr>
          <p:cNvSpPr>
            <a:spLocks noGrp="1"/>
          </p:cNvSpPr>
          <p:nvPr>
            <p:ph type="dt" sz="half" idx="10"/>
          </p:nvPr>
        </p:nvSpPr>
        <p:spPr/>
        <p:txBody>
          <a:bodyPr/>
          <a:lstStyle/>
          <a:p>
            <a:fld id="{FB15A2F6-A487-4504-9C02-675B0FDD175B}" type="datetimeFigureOut">
              <a:rPr lang="en-US" smtClean="0"/>
              <a:t>1/15/2024</a:t>
            </a:fld>
            <a:endParaRPr lang="en-US"/>
          </a:p>
        </p:txBody>
      </p:sp>
      <p:sp>
        <p:nvSpPr>
          <p:cNvPr id="5" name="Footer Placeholder 4">
            <a:extLst>
              <a:ext uri="{FF2B5EF4-FFF2-40B4-BE49-F238E27FC236}">
                <a16:creationId xmlns:a16="http://schemas.microsoft.com/office/drawing/2014/main" id="{F95A14D0-61BC-9178-DF0C-F2ADD55EDD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E68142-FECC-676E-1152-CD8A3B4D1DC8}"/>
              </a:ext>
            </a:extLst>
          </p:cNvPr>
          <p:cNvSpPr>
            <a:spLocks noGrp="1"/>
          </p:cNvSpPr>
          <p:nvPr>
            <p:ph type="sldNum" sz="quarter" idx="12"/>
          </p:nvPr>
        </p:nvSpPr>
        <p:spPr/>
        <p:txBody>
          <a:bodyPr/>
          <a:lstStyle/>
          <a:p>
            <a:fld id="{C2B13F2B-D9E7-4538-BA48-A90A6C74BE21}" type="slidenum">
              <a:rPr lang="en-US" smtClean="0"/>
              <a:t>‹#›</a:t>
            </a:fld>
            <a:endParaRPr lang="en-US"/>
          </a:p>
        </p:txBody>
      </p:sp>
    </p:spTree>
    <p:extLst>
      <p:ext uri="{BB962C8B-B14F-4D97-AF65-F5344CB8AC3E}">
        <p14:creationId xmlns:p14="http://schemas.microsoft.com/office/powerpoint/2010/main" val="4123786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0C9ACA-50AA-0C8E-7265-C46BB210A2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595108-3F56-4ADB-01CC-FB8D4C02B1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515CBE-7167-626D-8997-DD1272F23D9C}"/>
              </a:ext>
            </a:extLst>
          </p:cNvPr>
          <p:cNvSpPr>
            <a:spLocks noGrp="1"/>
          </p:cNvSpPr>
          <p:nvPr>
            <p:ph type="dt" sz="half" idx="10"/>
          </p:nvPr>
        </p:nvSpPr>
        <p:spPr/>
        <p:txBody>
          <a:bodyPr/>
          <a:lstStyle/>
          <a:p>
            <a:fld id="{FB15A2F6-A487-4504-9C02-675B0FDD175B}" type="datetimeFigureOut">
              <a:rPr lang="en-US" smtClean="0"/>
              <a:t>1/15/2024</a:t>
            </a:fld>
            <a:endParaRPr lang="en-US"/>
          </a:p>
        </p:txBody>
      </p:sp>
      <p:sp>
        <p:nvSpPr>
          <p:cNvPr id="5" name="Footer Placeholder 4">
            <a:extLst>
              <a:ext uri="{FF2B5EF4-FFF2-40B4-BE49-F238E27FC236}">
                <a16:creationId xmlns:a16="http://schemas.microsoft.com/office/drawing/2014/main" id="{F470E667-9669-BF08-3AB7-734C0407CA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572D8B-A81A-AA53-79FF-FD04887BB638}"/>
              </a:ext>
            </a:extLst>
          </p:cNvPr>
          <p:cNvSpPr>
            <a:spLocks noGrp="1"/>
          </p:cNvSpPr>
          <p:nvPr>
            <p:ph type="sldNum" sz="quarter" idx="12"/>
          </p:nvPr>
        </p:nvSpPr>
        <p:spPr/>
        <p:txBody>
          <a:bodyPr/>
          <a:lstStyle/>
          <a:p>
            <a:fld id="{C2B13F2B-D9E7-4538-BA48-A90A6C74BE21}" type="slidenum">
              <a:rPr lang="en-US" smtClean="0"/>
              <a:t>‹#›</a:t>
            </a:fld>
            <a:endParaRPr lang="en-US"/>
          </a:p>
        </p:txBody>
      </p:sp>
    </p:spTree>
    <p:extLst>
      <p:ext uri="{BB962C8B-B14F-4D97-AF65-F5344CB8AC3E}">
        <p14:creationId xmlns:p14="http://schemas.microsoft.com/office/powerpoint/2010/main" val="4259085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38490F-51FE-48B8-9B2F-4A4B204636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3D6CBAC-BBB2-6F5C-DE16-3988D56AC9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E2493D-1E5D-03D0-9400-7A337DF23C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15A2F6-A487-4504-9C02-675B0FDD175B}" type="datetimeFigureOut">
              <a:rPr lang="en-US" smtClean="0"/>
              <a:t>1/15/2024</a:t>
            </a:fld>
            <a:endParaRPr lang="en-US"/>
          </a:p>
        </p:txBody>
      </p:sp>
      <p:sp>
        <p:nvSpPr>
          <p:cNvPr id="5" name="Footer Placeholder 4">
            <a:extLst>
              <a:ext uri="{FF2B5EF4-FFF2-40B4-BE49-F238E27FC236}">
                <a16:creationId xmlns:a16="http://schemas.microsoft.com/office/drawing/2014/main" id="{314BED2F-C6E6-BA78-2E03-62C6D902D5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37FF27-8614-9D44-B725-EF4D2AC9B2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B13F2B-D9E7-4538-BA48-A90A6C74BE21}" type="slidenum">
              <a:rPr lang="en-US" smtClean="0"/>
              <a:t>‹#›</a:t>
            </a:fld>
            <a:endParaRPr lang="en-US"/>
          </a:p>
        </p:txBody>
      </p:sp>
    </p:spTree>
    <p:extLst>
      <p:ext uri="{BB962C8B-B14F-4D97-AF65-F5344CB8AC3E}">
        <p14:creationId xmlns:p14="http://schemas.microsoft.com/office/powerpoint/2010/main" val="88909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E79B77-1060-BEB5-7873-59E951A9746D}"/>
              </a:ext>
            </a:extLst>
          </p:cNvPr>
          <p:cNvPicPr>
            <a:picLocks noChangeAspect="1"/>
          </p:cNvPicPr>
          <p:nvPr/>
        </p:nvPicPr>
        <p:blipFill>
          <a:blip r:embed="rId2"/>
          <a:stretch>
            <a:fillRect/>
          </a:stretch>
        </p:blipFill>
        <p:spPr>
          <a:xfrm>
            <a:off x="406856" y="218436"/>
            <a:ext cx="9513892" cy="6144591"/>
          </a:xfrm>
          <a:prstGeom prst="rect">
            <a:avLst/>
          </a:prstGeom>
        </p:spPr>
      </p:pic>
    </p:spTree>
    <p:extLst>
      <p:ext uri="{BB962C8B-B14F-4D97-AF65-F5344CB8AC3E}">
        <p14:creationId xmlns:p14="http://schemas.microsoft.com/office/powerpoint/2010/main" val="3378934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63AC31-2EDF-27DB-8F7B-97CD3B33A7CC}"/>
              </a:ext>
            </a:extLst>
          </p:cNvPr>
          <p:cNvPicPr>
            <a:picLocks noChangeAspect="1"/>
          </p:cNvPicPr>
          <p:nvPr/>
        </p:nvPicPr>
        <p:blipFill>
          <a:blip r:embed="rId2"/>
          <a:stretch>
            <a:fillRect/>
          </a:stretch>
        </p:blipFill>
        <p:spPr>
          <a:xfrm>
            <a:off x="255907" y="87286"/>
            <a:ext cx="8937253" cy="5713000"/>
          </a:xfrm>
          <a:prstGeom prst="rect">
            <a:avLst/>
          </a:prstGeom>
        </p:spPr>
      </p:pic>
      <p:pic>
        <p:nvPicPr>
          <p:cNvPr id="7" name="Picture 6">
            <a:extLst>
              <a:ext uri="{FF2B5EF4-FFF2-40B4-BE49-F238E27FC236}">
                <a16:creationId xmlns:a16="http://schemas.microsoft.com/office/drawing/2014/main" id="{AF9E902B-D383-5013-25AE-8413FB797E22}"/>
              </a:ext>
            </a:extLst>
          </p:cNvPr>
          <p:cNvPicPr>
            <a:picLocks noChangeAspect="1"/>
          </p:cNvPicPr>
          <p:nvPr/>
        </p:nvPicPr>
        <p:blipFill>
          <a:blip r:embed="rId3"/>
          <a:stretch>
            <a:fillRect/>
          </a:stretch>
        </p:blipFill>
        <p:spPr>
          <a:xfrm>
            <a:off x="3853179" y="5932148"/>
            <a:ext cx="2386715" cy="606303"/>
          </a:xfrm>
          <a:prstGeom prst="rect">
            <a:avLst/>
          </a:prstGeom>
        </p:spPr>
      </p:pic>
    </p:spTree>
    <p:extLst>
      <p:ext uri="{BB962C8B-B14F-4D97-AF65-F5344CB8AC3E}">
        <p14:creationId xmlns:p14="http://schemas.microsoft.com/office/powerpoint/2010/main" val="3822702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6A8531-4837-89C9-5C19-AA7E3F3CD925}"/>
              </a:ext>
            </a:extLst>
          </p:cNvPr>
          <p:cNvSpPr txBox="1"/>
          <p:nvPr/>
        </p:nvSpPr>
        <p:spPr>
          <a:xfrm>
            <a:off x="0" y="0"/>
            <a:ext cx="6096000" cy="369332"/>
          </a:xfrm>
          <a:prstGeom prst="rect">
            <a:avLst/>
          </a:prstGeom>
          <a:noFill/>
        </p:spPr>
        <p:txBody>
          <a:bodyPr wrap="square">
            <a:spAutoFit/>
          </a:bodyPr>
          <a:lstStyle/>
          <a:p>
            <a:pPr algn="l"/>
            <a:r>
              <a:rPr lang="en-US" b="1" i="0" dirty="0">
                <a:solidFill>
                  <a:srgbClr val="1F1F1F"/>
                </a:solidFill>
                <a:effectLst/>
              </a:rPr>
              <a:t>Naive Bayes Introduction</a:t>
            </a:r>
          </a:p>
        </p:txBody>
      </p:sp>
      <p:sp>
        <p:nvSpPr>
          <p:cNvPr id="7" name="TextBox 6">
            <a:extLst>
              <a:ext uri="{FF2B5EF4-FFF2-40B4-BE49-F238E27FC236}">
                <a16:creationId xmlns:a16="http://schemas.microsoft.com/office/drawing/2014/main" id="{ED7B3647-3888-9D4A-93EC-213ABFF381B7}"/>
              </a:ext>
            </a:extLst>
          </p:cNvPr>
          <p:cNvSpPr txBox="1"/>
          <p:nvPr/>
        </p:nvSpPr>
        <p:spPr>
          <a:xfrm>
            <a:off x="-1" y="369332"/>
            <a:ext cx="10461523"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To build a classifier, we will first start by creating conditional probabilities given the following table:</a:t>
            </a:r>
            <a:endParaRPr lang="en-US" dirty="0"/>
          </a:p>
        </p:txBody>
      </p:sp>
      <p:pic>
        <p:nvPicPr>
          <p:cNvPr id="9" name="Picture 8">
            <a:extLst>
              <a:ext uri="{FF2B5EF4-FFF2-40B4-BE49-F238E27FC236}">
                <a16:creationId xmlns:a16="http://schemas.microsoft.com/office/drawing/2014/main" id="{32B47A5F-0827-F164-E432-C584A82907AD}"/>
              </a:ext>
            </a:extLst>
          </p:cNvPr>
          <p:cNvPicPr>
            <a:picLocks noChangeAspect="1"/>
          </p:cNvPicPr>
          <p:nvPr/>
        </p:nvPicPr>
        <p:blipFill>
          <a:blip r:embed="rId2"/>
          <a:stretch>
            <a:fillRect/>
          </a:stretch>
        </p:blipFill>
        <p:spPr>
          <a:xfrm>
            <a:off x="174585" y="738665"/>
            <a:ext cx="5954063" cy="2614136"/>
          </a:xfrm>
          <a:prstGeom prst="rect">
            <a:avLst/>
          </a:prstGeom>
        </p:spPr>
      </p:pic>
      <p:sp>
        <p:nvSpPr>
          <p:cNvPr id="11" name="TextBox 10">
            <a:extLst>
              <a:ext uri="{FF2B5EF4-FFF2-40B4-BE49-F238E27FC236}">
                <a16:creationId xmlns:a16="http://schemas.microsoft.com/office/drawing/2014/main" id="{6FDCA6F8-ABF4-A2D1-1D9B-0C60F8D2B19C}"/>
              </a:ext>
            </a:extLst>
          </p:cNvPr>
          <p:cNvSpPr txBox="1"/>
          <p:nvPr/>
        </p:nvSpPr>
        <p:spPr>
          <a:xfrm>
            <a:off x="8068" y="3426230"/>
            <a:ext cx="6120580"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This allows us compute the following table of probabilities:</a:t>
            </a:r>
            <a:endParaRPr lang="en-US" dirty="0"/>
          </a:p>
        </p:txBody>
      </p:sp>
      <p:pic>
        <p:nvPicPr>
          <p:cNvPr id="13" name="Picture 12">
            <a:extLst>
              <a:ext uri="{FF2B5EF4-FFF2-40B4-BE49-F238E27FC236}">
                <a16:creationId xmlns:a16="http://schemas.microsoft.com/office/drawing/2014/main" id="{627C77BF-49FD-B443-D2DE-7AF32EFCD115}"/>
              </a:ext>
            </a:extLst>
          </p:cNvPr>
          <p:cNvPicPr>
            <a:picLocks noChangeAspect="1"/>
          </p:cNvPicPr>
          <p:nvPr/>
        </p:nvPicPr>
        <p:blipFill>
          <a:blip r:embed="rId3"/>
          <a:stretch>
            <a:fillRect/>
          </a:stretch>
        </p:blipFill>
        <p:spPr>
          <a:xfrm>
            <a:off x="174585" y="3868991"/>
            <a:ext cx="2415749" cy="2819644"/>
          </a:xfrm>
          <a:prstGeom prst="rect">
            <a:avLst/>
          </a:prstGeom>
        </p:spPr>
      </p:pic>
      <p:sp>
        <p:nvSpPr>
          <p:cNvPr id="15" name="TextBox 14">
            <a:extLst>
              <a:ext uri="{FF2B5EF4-FFF2-40B4-BE49-F238E27FC236}">
                <a16:creationId xmlns:a16="http://schemas.microsoft.com/office/drawing/2014/main" id="{0CCCE59A-7DF6-5282-088B-2616C5106A67}"/>
              </a:ext>
            </a:extLst>
          </p:cNvPr>
          <p:cNvSpPr txBox="1"/>
          <p:nvPr/>
        </p:nvSpPr>
        <p:spPr>
          <a:xfrm>
            <a:off x="6303234" y="2277466"/>
            <a:ext cx="6120580"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Once you have the probabilities, you can compute the likelihood score as follows</a:t>
            </a:r>
            <a:endParaRPr lang="en-US" dirty="0"/>
          </a:p>
        </p:txBody>
      </p:sp>
      <p:pic>
        <p:nvPicPr>
          <p:cNvPr id="17" name="Picture 16">
            <a:extLst>
              <a:ext uri="{FF2B5EF4-FFF2-40B4-BE49-F238E27FC236}">
                <a16:creationId xmlns:a16="http://schemas.microsoft.com/office/drawing/2014/main" id="{2A0481EB-6474-9FE9-DD4A-069D28C25028}"/>
              </a:ext>
            </a:extLst>
          </p:cNvPr>
          <p:cNvPicPr>
            <a:picLocks noChangeAspect="1"/>
          </p:cNvPicPr>
          <p:nvPr/>
        </p:nvPicPr>
        <p:blipFill>
          <a:blip r:embed="rId4"/>
          <a:stretch>
            <a:fillRect/>
          </a:stretch>
        </p:blipFill>
        <p:spPr>
          <a:xfrm>
            <a:off x="5184142" y="3888487"/>
            <a:ext cx="6575406" cy="2800148"/>
          </a:xfrm>
          <a:prstGeom prst="rect">
            <a:avLst/>
          </a:prstGeom>
        </p:spPr>
      </p:pic>
    </p:spTree>
    <p:extLst>
      <p:ext uri="{BB962C8B-B14F-4D97-AF65-F5344CB8AC3E}">
        <p14:creationId xmlns:p14="http://schemas.microsoft.com/office/powerpoint/2010/main" val="3343569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BB6A8A-5EBE-CD52-81C9-4A774EF1A9D6}"/>
              </a:ext>
            </a:extLst>
          </p:cNvPr>
          <p:cNvSpPr txBox="1"/>
          <p:nvPr/>
        </p:nvSpPr>
        <p:spPr>
          <a:xfrm>
            <a:off x="88490" y="110302"/>
            <a:ext cx="6096000" cy="369332"/>
          </a:xfrm>
          <a:prstGeom prst="rect">
            <a:avLst/>
          </a:prstGeom>
          <a:noFill/>
        </p:spPr>
        <p:txBody>
          <a:bodyPr wrap="square">
            <a:spAutoFit/>
          </a:bodyPr>
          <a:lstStyle/>
          <a:p>
            <a:pPr algn="l"/>
            <a:r>
              <a:rPr lang="en-US" b="1" i="0" dirty="0">
                <a:solidFill>
                  <a:srgbClr val="1F1F1F"/>
                </a:solidFill>
                <a:effectLst/>
              </a:rPr>
              <a:t>Laplacian Smoothing</a:t>
            </a:r>
          </a:p>
        </p:txBody>
      </p:sp>
      <p:pic>
        <p:nvPicPr>
          <p:cNvPr id="7" name="Picture 6">
            <a:extLst>
              <a:ext uri="{FF2B5EF4-FFF2-40B4-BE49-F238E27FC236}">
                <a16:creationId xmlns:a16="http://schemas.microsoft.com/office/drawing/2014/main" id="{3DA4CC93-C507-860F-6BF6-2B5213F36267}"/>
              </a:ext>
            </a:extLst>
          </p:cNvPr>
          <p:cNvPicPr>
            <a:picLocks noChangeAspect="1"/>
          </p:cNvPicPr>
          <p:nvPr/>
        </p:nvPicPr>
        <p:blipFill>
          <a:blip r:embed="rId2"/>
          <a:stretch>
            <a:fillRect/>
          </a:stretch>
        </p:blipFill>
        <p:spPr>
          <a:xfrm>
            <a:off x="221881" y="627660"/>
            <a:ext cx="10777806" cy="4258972"/>
          </a:xfrm>
          <a:prstGeom prst="rect">
            <a:avLst/>
          </a:prstGeom>
        </p:spPr>
      </p:pic>
    </p:spTree>
    <p:extLst>
      <p:ext uri="{BB962C8B-B14F-4D97-AF65-F5344CB8AC3E}">
        <p14:creationId xmlns:p14="http://schemas.microsoft.com/office/powerpoint/2010/main" val="1463094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EDE7BF-39E6-AD27-DB61-BF05DC72DA21}"/>
              </a:ext>
            </a:extLst>
          </p:cNvPr>
          <p:cNvSpPr txBox="1"/>
          <p:nvPr/>
        </p:nvSpPr>
        <p:spPr>
          <a:xfrm>
            <a:off x="157316" y="90638"/>
            <a:ext cx="6096000" cy="369332"/>
          </a:xfrm>
          <a:prstGeom prst="rect">
            <a:avLst/>
          </a:prstGeom>
          <a:noFill/>
        </p:spPr>
        <p:txBody>
          <a:bodyPr wrap="square">
            <a:spAutoFit/>
          </a:bodyPr>
          <a:lstStyle/>
          <a:p>
            <a:pPr algn="l"/>
            <a:r>
              <a:rPr lang="en-US" b="1" i="0" dirty="0">
                <a:solidFill>
                  <a:srgbClr val="1F1F1F"/>
                </a:solidFill>
                <a:effectLst/>
              </a:rPr>
              <a:t>Log Likelihood, Part 1</a:t>
            </a:r>
          </a:p>
        </p:txBody>
      </p:sp>
      <p:sp>
        <p:nvSpPr>
          <p:cNvPr id="7" name="TextBox 6">
            <a:extLst>
              <a:ext uri="{FF2B5EF4-FFF2-40B4-BE49-F238E27FC236}">
                <a16:creationId xmlns:a16="http://schemas.microsoft.com/office/drawing/2014/main" id="{6D49C4B5-6617-633D-2FE7-25506B1AD051}"/>
              </a:ext>
            </a:extLst>
          </p:cNvPr>
          <p:cNvSpPr txBox="1"/>
          <p:nvPr/>
        </p:nvSpPr>
        <p:spPr>
          <a:xfrm>
            <a:off x="157316" y="569874"/>
            <a:ext cx="11562736"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To compute the log likelihood, we need to get the ratios and use them to compute a score that will allow us to decide whether a tweet is positive or negative. The higher the ratio, the more positive the word is:</a:t>
            </a:r>
            <a:endParaRPr lang="en-US" dirty="0"/>
          </a:p>
        </p:txBody>
      </p:sp>
      <p:pic>
        <p:nvPicPr>
          <p:cNvPr id="9" name="Picture 8">
            <a:extLst>
              <a:ext uri="{FF2B5EF4-FFF2-40B4-BE49-F238E27FC236}">
                <a16:creationId xmlns:a16="http://schemas.microsoft.com/office/drawing/2014/main" id="{3BC7A562-85D6-5C5F-239C-98E5AF2ECCA4}"/>
              </a:ext>
            </a:extLst>
          </p:cNvPr>
          <p:cNvPicPr>
            <a:picLocks noChangeAspect="1"/>
          </p:cNvPicPr>
          <p:nvPr/>
        </p:nvPicPr>
        <p:blipFill>
          <a:blip r:embed="rId2"/>
          <a:stretch>
            <a:fillRect/>
          </a:stretch>
        </p:blipFill>
        <p:spPr>
          <a:xfrm>
            <a:off x="238482" y="1326109"/>
            <a:ext cx="5379618" cy="2102891"/>
          </a:xfrm>
          <a:prstGeom prst="rect">
            <a:avLst/>
          </a:prstGeom>
        </p:spPr>
      </p:pic>
      <p:pic>
        <p:nvPicPr>
          <p:cNvPr id="11" name="Picture 10">
            <a:extLst>
              <a:ext uri="{FF2B5EF4-FFF2-40B4-BE49-F238E27FC236}">
                <a16:creationId xmlns:a16="http://schemas.microsoft.com/office/drawing/2014/main" id="{58513934-8B13-71D0-7041-2F25D15D8349}"/>
              </a:ext>
            </a:extLst>
          </p:cNvPr>
          <p:cNvPicPr>
            <a:picLocks noChangeAspect="1"/>
          </p:cNvPicPr>
          <p:nvPr/>
        </p:nvPicPr>
        <p:blipFill>
          <a:blip r:embed="rId3"/>
          <a:stretch>
            <a:fillRect/>
          </a:stretch>
        </p:blipFill>
        <p:spPr>
          <a:xfrm>
            <a:off x="157316" y="3632717"/>
            <a:ext cx="7590178" cy="2331922"/>
          </a:xfrm>
          <a:prstGeom prst="rect">
            <a:avLst/>
          </a:prstGeom>
        </p:spPr>
      </p:pic>
      <p:pic>
        <p:nvPicPr>
          <p:cNvPr id="13" name="Picture 12">
            <a:extLst>
              <a:ext uri="{FF2B5EF4-FFF2-40B4-BE49-F238E27FC236}">
                <a16:creationId xmlns:a16="http://schemas.microsoft.com/office/drawing/2014/main" id="{4AAD9B9B-CD06-6A41-847C-4189736F85E1}"/>
              </a:ext>
            </a:extLst>
          </p:cNvPr>
          <p:cNvPicPr>
            <a:picLocks noChangeAspect="1"/>
          </p:cNvPicPr>
          <p:nvPr/>
        </p:nvPicPr>
        <p:blipFill>
          <a:blip r:embed="rId4"/>
          <a:stretch>
            <a:fillRect/>
          </a:stretch>
        </p:blipFill>
        <p:spPr>
          <a:xfrm>
            <a:off x="6573902" y="1432446"/>
            <a:ext cx="5282091" cy="1984030"/>
          </a:xfrm>
          <a:prstGeom prst="rect">
            <a:avLst/>
          </a:prstGeom>
        </p:spPr>
      </p:pic>
      <p:pic>
        <p:nvPicPr>
          <p:cNvPr id="15" name="Picture 14">
            <a:extLst>
              <a:ext uri="{FF2B5EF4-FFF2-40B4-BE49-F238E27FC236}">
                <a16:creationId xmlns:a16="http://schemas.microsoft.com/office/drawing/2014/main" id="{BDC85C65-E2C9-E3F4-8CB6-FA8B3C3C2183}"/>
              </a:ext>
            </a:extLst>
          </p:cNvPr>
          <p:cNvPicPr>
            <a:picLocks noChangeAspect="1"/>
          </p:cNvPicPr>
          <p:nvPr/>
        </p:nvPicPr>
        <p:blipFill>
          <a:blip r:embed="rId5"/>
          <a:stretch>
            <a:fillRect/>
          </a:stretch>
        </p:blipFill>
        <p:spPr>
          <a:xfrm>
            <a:off x="3952405" y="6109040"/>
            <a:ext cx="3970364" cy="358171"/>
          </a:xfrm>
          <a:prstGeom prst="rect">
            <a:avLst/>
          </a:prstGeom>
        </p:spPr>
      </p:pic>
    </p:spTree>
    <p:extLst>
      <p:ext uri="{BB962C8B-B14F-4D97-AF65-F5344CB8AC3E}">
        <p14:creationId xmlns:p14="http://schemas.microsoft.com/office/powerpoint/2010/main" val="2678855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488E4F-F697-71B0-3D5E-5AB40D672D6D}"/>
              </a:ext>
            </a:extLst>
          </p:cNvPr>
          <p:cNvSpPr txBox="1"/>
          <p:nvPr/>
        </p:nvSpPr>
        <p:spPr>
          <a:xfrm>
            <a:off x="167148" y="100469"/>
            <a:ext cx="6096000" cy="369332"/>
          </a:xfrm>
          <a:prstGeom prst="rect">
            <a:avLst/>
          </a:prstGeom>
          <a:noFill/>
        </p:spPr>
        <p:txBody>
          <a:bodyPr wrap="square">
            <a:spAutoFit/>
          </a:bodyPr>
          <a:lstStyle/>
          <a:p>
            <a:pPr algn="l"/>
            <a:r>
              <a:rPr lang="en-US" b="1" i="0" dirty="0">
                <a:solidFill>
                  <a:srgbClr val="1F1F1F"/>
                </a:solidFill>
                <a:effectLst/>
              </a:rPr>
              <a:t>Log Likelihood Part 2</a:t>
            </a:r>
          </a:p>
        </p:txBody>
      </p:sp>
      <p:pic>
        <p:nvPicPr>
          <p:cNvPr id="7" name="Picture 6">
            <a:extLst>
              <a:ext uri="{FF2B5EF4-FFF2-40B4-BE49-F238E27FC236}">
                <a16:creationId xmlns:a16="http://schemas.microsoft.com/office/drawing/2014/main" id="{66795354-6C5F-73F5-889D-FC36A41B326D}"/>
              </a:ext>
            </a:extLst>
          </p:cNvPr>
          <p:cNvPicPr>
            <a:picLocks noChangeAspect="1"/>
          </p:cNvPicPr>
          <p:nvPr/>
        </p:nvPicPr>
        <p:blipFill>
          <a:blip r:embed="rId2"/>
          <a:stretch>
            <a:fillRect/>
          </a:stretch>
        </p:blipFill>
        <p:spPr>
          <a:xfrm>
            <a:off x="237736" y="580418"/>
            <a:ext cx="10056638" cy="5428356"/>
          </a:xfrm>
          <a:prstGeom prst="rect">
            <a:avLst/>
          </a:prstGeom>
        </p:spPr>
      </p:pic>
    </p:spTree>
    <p:extLst>
      <p:ext uri="{BB962C8B-B14F-4D97-AF65-F5344CB8AC3E}">
        <p14:creationId xmlns:p14="http://schemas.microsoft.com/office/powerpoint/2010/main" val="3261138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AE6D21-F0A9-3694-2491-100EE73EE6C3}"/>
              </a:ext>
            </a:extLst>
          </p:cNvPr>
          <p:cNvSpPr txBox="1"/>
          <p:nvPr/>
        </p:nvSpPr>
        <p:spPr>
          <a:xfrm>
            <a:off x="0" y="0"/>
            <a:ext cx="6096000" cy="369332"/>
          </a:xfrm>
          <a:prstGeom prst="rect">
            <a:avLst/>
          </a:prstGeom>
          <a:noFill/>
        </p:spPr>
        <p:txBody>
          <a:bodyPr wrap="square">
            <a:spAutoFit/>
          </a:bodyPr>
          <a:lstStyle/>
          <a:p>
            <a:pPr algn="l"/>
            <a:r>
              <a:rPr lang="en-US" b="1" i="0" dirty="0">
                <a:solidFill>
                  <a:srgbClr val="1F1F1F"/>
                </a:solidFill>
                <a:effectLst/>
              </a:rPr>
              <a:t>Training naïve Bayes</a:t>
            </a:r>
          </a:p>
        </p:txBody>
      </p:sp>
      <p:sp>
        <p:nvSpPr>
          <p:cNvPr id="7" name="TextBox 6">
            <a:extLst>
              <a:ext uri="{FF2B5EF4-FFF2-40B4-BE49-F238E27FC236}">
                <a16:creationId xmlns:a16="http://schemas.microsoft.com/office/drawing/2014/main" id="{46672641-53DB-FC02-7BA9-E37949CD676A}"/>
              </a:ext>
            </a:extLst>
          </p:cNvPr>
          <p:cNvSpPr txBox="1"/>
          <p:nvPr/>
        </p:nvSpPr>
        <p:spPr>
          <a:xfrm>
            <a:off x="-1" y="458499"/>
            <a:ext cx="10245213"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To train your naïve Bayes classifier, you have to perform the following steps:</a:t>
            </a:r>
            <a:endParaRPr lang="en-US" dirty="0"/>
          </a:p>
        </p:txBody>
      </p:sp>
      <p:pic>
        <p:nvPicPr>
          <p:cNvPr id="9" name="Picture 8">
            <a:extLst>
              <a:ext uri="{FF2B5EF4-FFF2-40B4-BE49-F238E27FC236}">
                <a16:creationId xmlns:a16="http://schemas.microsoft.com/office/drawing/2014/main" id="{85A7E71E-44E1-D4D6-6E8C-4EE032D336F8}"/>
              </a:ext>
            </a:extLst>
          </p:cNvPr>
          <p:cNvPicPr>
            <a:picLocks noChangeAspect="1"/>
          </p:cNvPicPr>
          <p:nvPr/>
        </p:nvPicPr>
        <p:blipFill>
          <a:blip r:embed="rId2"/>
          <a:stretch>
            <a:fillRect/>
          </a:stretch>
        </p:blipFill>
        <p:spPr>
          <a:xfrm>
            <a:off x="114445" y="916998"/>
            <a:ext cx="5159187" cy="2834886"/>
          </a:xfrm>
          <a:prstGeom prst="rect">
            <a:avLst/>
          </a:prstGeom>
        </p:spPr>
      </p:pic>
      <p:pic>
        <p:nvPicPr>
          <p:cNvPr id="11" name="Picture 10">
            <a:extLst>
              <a:ext uri="{FF2B5EF4-FFF2-40B4-BE49-F238E27FC236}">
                <a16:creationId xmlns:a16="http://schemas.microsoft.com/office/drawing/2014/main" id="{52A8A078-20C4-1391-F761-7AADA232FB6F}"/>
              </a:ext>
            </a:extLst>
          </p:cNvPr>
          <p:cNvPicPr>
            <a:picLocks noChangeAspect="1"/>
          </p:cNvPicPr>
          <p:nvPr/>
        </p:nvPicPr>
        <p:blipFill>
          <a:blip r:embed="rId3"/>
          <a:stretch>
            <a:fillRect/>
          </a:stretch>
        </p:blipFill>
        <p:spPr>
          <a:xfrm>
            <a:off x="5263800" y="916998"/>
            <a:ext cx="6382879" cy="3148446"/>
          </a:xfrm>
          <a:prstGeom prst="rect">
            <a:avLst/>
          </a:prstGeom>
        </p:spPr>
      </p:pic>
      <p:pic>
        <p:nvPicPr>
          <p:cNvPr id="13" name="Picture 12">
            <a:extLst>
              <a:ext uri="{FF2B5EF4-FFF2-40B4-BE49-F238E27FC236}">
                <a16:creationId xmlns:a16="http://schemas.microsoft.com/office/drawing/2014/main" id="{334A1064-579A-AAE6-AED6-9463E6D7CB5A}"/>
              </a:ext>
            </a:extLst>
          </p:cNvPr>
          <p:cNvPicPr>
            <a:picLocks noChangeAspect="1"/>
          </p:cNvPicPr>
          <p:nvPr/>
        </p:nvPicPr>
        <p:blipFill>
          <a:blip r:embed="rId4"/>
          <a:stretch>
            <a:fillRect/>
          </a:stretch>
        </p:blipFill>
        <p:spPr>
          <a:xfrm>
            <a:off x="2192276" y="3935855"/>
            <a:ext cx="7315834" cy="2781541"/>
          </a:xfrm>
          <a:prstGeom prst="rect">
            <a:avLst/>
          </a:prstGeom>
        </p:spPr>
      </p:pic>
    </p:spTree>
    <p:extLst>
      <p:ext uri="{BB962C8B-B14F-4D97-AF65-F5344CB8AC3E}">
        <p14:creationId xmlns:p14="http://schemas.microsoft.com/office/powerpoint/2010/main" val="2750871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FF35A7-6C2E-BF8B-F9F0-47A49C0BC1A4}"/>
              </a:ext>
            </a:extLst>
          </p:cNvPr>
          <p:cNvSpPr txBox="1"/>
          <p:nvPr/>
        </p:nvSpPr>
        <p:spPr>
          <a:xfrm>
            <a:off x="88490" y="110302"/>
            <a:ext cx="6096000" cy="369332"/>
          </a:xfrm>
          <a:prstGeom prst="rect">
            <a:avLst/>
          </a:prstGeom>
          <a:noFill/>
        </p:spPr>
        <p:txBody>
          <a:bodyPr wrap="square">
            <a:spAutoFit/>
          </a:bodyPr>
          <a:lstStyle/>
          <a:p>
            <a:pPr algn="l"/>
            <a:r>
              <a:rPr lang="en-US" b="1" i="0" dirty="0">
                <a:solidFill>
                  <a:srgbClr val="1F1F1F"/>
                </a:solidFill>
                <a:effectLst/>
              </a:rPr>
              <a:t>Testing naïve Bayes</a:t>
            </a:r>
          </a:p>
        </p:txBody>
      </p:sp>
      <p:pic>
        <p:nvPicPr>
          <p:cNvPr id="7" name="Picture 6">
            <a:extLst>
              <a:ext uri="{FF2B5EF4-FFF2-40B4-BE49-F238E27FC236}">
                <a16:creationId xmlns:a16="http://schemas.microsoft.com/office/drawing/2014/main" id="{8AD2B3F5-8AE1-517E-2BBF-37BADF571242}"/>
              </a:ext>
            </a:extLst>
          </p:cNvPr>
          <p:cNvPicPr>
            <a:picLocks noChangeAspect="1"/>
          </p:cNvPicPr>
          <p:nvPr/>
        </p:nvPicPr>
        <p:blipFill>
          <a:blip r:embed="rId2"/>
          <a:stretch>
            <a:fillRect/>
          </a:stretch>
        </p:blipFill>
        <p:spPr>
          <a:xfrm>
            <a:off x="211915" y="479634"/>
            <a:ext cx="10619331" cy="5252572"/>
          </a:xfrm>
          <a:prstGeom prst="rect">
            <a:avLst/>
          </a:prstGeom>
        </p:spPr>
      </p:pic>
    </p:spTree>
    <p:extLst>
      <p:ext uri="{BB962C8B-B14F-4D97-AF65-F5344CB8AC3E}">
        <p14:creationId xmlns:p14="http://schemas.microsoft.com/office/powerpoint/2010/main" val="3922487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DC209F1-1919-B211-4C01-B0F6600711AF}"/>
              </a:ext>
            </a:extLst>
          </p:cNvPr>
          <p:cNvSpPr txBox="1"/>
          <p:nvPr/>
        </p:nvSpPr>
        <p:spPr>
          <a:xfrm>
            <a:off x="147484" y="139799"/>
            <a:ext cx="6096000" cy="369332"/>
          </a:xfrm>
          <a:prstGeom prst="rect">
            <a:avLst/>
          </a:prstGeom>
          <a:noFill/>
        </p:spPr>
        <p:txBody>
          <a:bodyPr wrap="square">
            <a:spAutoFit/>
          </a:bodyPr>
          <a:lstStyle/>
          <a:p>
            <a:pPr algn="l"/>
            <a:r>
              <a:rPr lang="en-US" b="1" i="0" dirty="0">
                <a:solidFill>
                  <a:srgbClr val="1F1F1F"/>
                </a:solidFill>
                <a:effectLst/>
              </a:rPr>
              <a:t>Applications of Naive Bayes</a:t>
            </a:r>
          </a:p>
        </p:txBody>
      </p:sp>
      <p:sp>
        <p:nvSpPr>
          <p:cNvPr id="7" name="TextBox 6">
            <a:extLst>
              <a:ext uri="{FF2B5EF4-FFF2-40B4-BE49-F238E27FC236}">
                <a16:creationId xmlns:a16="http://schemas.microsoft.com/office/drawing/2014/main" id="{904AD529-1277-7F03-4264-F2277CA12CA2}"/>
              </a:ext>
            </a:extLst>
          </p:cNvPr>
          <p:cNvSpPr txBox="1"/>
          <p:nvPr/>
        </p:nvSpPr>
        <p:spPr>
          <a:xfrm>
            <a:off x="147483" y="744312"/>
            <a:ext cx="10019071" cy="2031325"/>
          </a:xfrm>
          <a:prstGeom prst="rect">
            <a:avLst/>
          </a:prstGeom>
          <a:noFill/>
        </p:spPr>
        <p:txBody>
          <a:bodyPr wrap="square">
            <a:spAutoFit/>
          </a:bodyPr>
          <a:lstStyle/>
          <a:p>
            <a:pPr algn="l"/>
            <a:r>
              <a:rPr lang="en-US" b="0" i="0" dirty="0">
                <a:solidFill>
                  <a:srgbClr val="1F1F1F"/>
                </a:solidFill>
                <a:effectLst/>
                <a:latin typeface="var(--cds-font-family-source-sans-pro)"/>
              </a:rPr>
              <a:t>There are many applications of naive Bayes including: </a:t>
            </a:r>
          </a:p>
          <a:p>
            <a:pPr marL="285750" indent="-285750" algn="l">
              <a:buFont typeface="Arial" panose="020B0604020202020204" pitchFamily="34" charset="0"/>
              <a:buChar char="•"/>
            </a:pPr>
            <a:r>
              <a:rPr lang="en-US" b="0" i="0" dirty="0">
                <a:solidFill>
                  <a:srgbClr val="1F1F1F"/>
                </a:solidFill>
                <a:effectLst/>
                <a:latin typeface="var(--cds-font-family-source-sans-pro)"/>
              </a:rPr>
              <a:t>Author identification</a:t>
            </a:r>
          </a:p>
          <a:p>
            <a:pPr marL="285750" indent="-285750" algn="l">
              <a:buFont typeface="Arial" panose="020B0604020202020204" pitchFamily="34" charset="0"/>
              <a:buChar char="•"/>
            </a:pPr>
            <a:r>
              <a:rPr lang="en-US" b="0" i="0" dirty="0">
                <a:solidFill>
                  <a:srgbClr val="1F1F1F"/>
                </a:solidFill>
                <a:effectLst/>
                <a:latin typeface="var(--cds-font-family-source-sans-pro)"/>
              </a:rPr>
              <a:t>Spam filtering </a:t>
            </a:r>
          </a:p>
          <a:p>
            <a:pPr marL="285750" indent="-285750" algn="l">
              <a:buFont typeface="Arial" panose="020B0604020202020204" pitchFamily="34" charset="0"/>
              <a:buChar char="•"/>
            </a:pPr>
            <a:r>
              <a:rPr lang="en-US" b="0" i="0" dirty="0">
                <a:solidFill>
                  <a:srgbClr val="1F1F1F"/>
                </a:solidFill>
                <a:effectLst/>
                <a:latin typeface="var(--cds-font-family-source-sans-pro)"/>
              </a:rPr>
              <a:t>Information retrieval </a:t>
            </a:r>
          </a:p>
          <a:p>
            <a:pPr marL="285750" indent="-285750" algn="l">
              <a:buFont typeface="Arial" panose="020B0604020202020204" pitchFamily="34" charset="0"/>
              <a:buChar char="•"/>
            </a:pPr>
            <a:r>
              <a:rPr lang="en-US" b="0" i="0" dirty="0">
                <a:solidFill>
                  <a:srgbClr val="1F1F1F"/>
                </a:solidFill>
                <a:effectLst/>
                <a:latin typeface="var(--cds-font-family-source-sans-pro)"/>
              </a:rPr>
              <a:t>Word disambiguation </a:t>
            </a:r>
          </a:p>
          <a:p>
            <a:pPr algn="l"/>
            <a:endParaRPr lang="en-US" b="0" i="0" dirty="0">
              <a:solidFill>
                <a:srgbClr val="1F1F1F"/>
              </a:solidFill>
              <a:effectLst/>
              <a:latin typeface="var(--cds-font-family-source-sans-pro)"/>
            </a:endParaRPr>
          </a:p>
          <a:p>
            <a:pPr algn="l"/>
            <a:r>
              <a:rPr lang="en-US" b="0" i="0" dirty="0">
                <a:solidFill>
                  <a:srgbClr val="1F1F1F"/>
                </a:solidFill>
                <a:effectLst/>
                <a:latin typeface="var(--cds-font-family-source-sans-pro)"/>
              </a:rPr>
              <a:t>This method is usually used as a simple baseline. It is also really fast.</a:t>
            </a:r>
          </a:p>
        </p:txBody>
      </p:sp>
    </p:spTree>
    <p:extLst>
      <p:ext uri="{BB962C8B-B14F-4D97-AF65-F5344CB8AC3E}">
        <p14:creationId xmlns:p14="http://schemas.microsoft.com/office/powerpoint/2010/main" val="2992278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CAFAA0-AAC0-EEF6-FEEC-52795FA2800B}"/>
              </a:ext>
            </a:extLst>
          </p:cNvPr>
          <p:cNvSpPr txBox="1"/>
          <p:nvPr/>
        </p:nvSpPr>
        <p:spPr>
          <a:xfrm>
            <a:off x="196645" y="100469"/>
            <a:ext cx="6096000" cy="369332"/>
          </a:xfrm>
          <a:prstGeom prst="rect">
            <a:avLst/>
          </a:prstGeom>
          <a:noFill/>
        </p:spPr>
        <p:txBody>
          <a:bodyPr wrap="square">
            <a:spAutoFit/>
          </a:bodyPr>
          <a:lstStyle/>
          <a:p>
            <a:pPr algn="l"/>
            <a:r>
              <a:rPr lang="en-US" b="1" i="0" dirty="0">
                <a:solidFill>
                  <a:srgbClr val="1F1F1F"/>
                </a:solidFill>
                <a:effectLst/>
              </a:rPr>
              <a:t>Naïve Bayes Assumptions</a:t>
            </a:r>
          </a:p>
        </p:txBody>
      </p:sp>
      <p:sp>
        <p:nvSpPr>
          <p:cNvPr id="7" name="TextBox 6">
            <a:extLst>
              <a:ext uri="{FF2B5EF4-FFF2-40B4-BE49-F238E27FC236}">
                <a16:creationId xmlns:a16="http://schemas.microsoft.com/office/drawing/2014/main" id="{652B40E2-BE10-86E1-0E74-FB61552697C9}"/>
              </a:ext>
            </a:extLst>
          </p:cNvPr>
          <p:cNvSpPr txBox="1"/>
          <p:nvPr/>
        </p:nvSpPr>
        <p:spPr>
          <a:xfrm>
            <a:off x="196644" y="600219"/>
            <a:ext cx="11523407"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Naïve Bayes makes the independence assumption and is affected by the word frequencies in the corpus. For example, if you had the following</a:t>
            </a:r>
            <a:endParaRPr lang="en-US" dirty="0"/>
          </a:p>
        </p:txBody>
      </p:sp>
      <p:pic>
        <p:nvPicPr>
          <p:cNvPr id="9" name="Picture 8">
            <a:extLst>
              <a:ext uri="{FF2B5EF4-FFF2-40B4-BE49-F238E27FC236}">
                <a16:creationId xmlns:a16="http://schemas.microsoft.com/office/drawing/2014/main" id="{27295A88-52AB-B803-C71E-1F33DA5B3C97}"/>
              </a:ext>
            </a:extLst>
          </p:cNvPr>
          <p:cNvPicPr>
            <a:picLocks noChangeAspect="1"/>
          </p:cNvPicPr>
          <p:nvPr/>
        </p:nvPicPr>
        <p:blipFill>
          <a:blip r:embed="rId2"/>
          <a:stretch>
            <a:fillRect/>
          </a:stretch>
        </p:blipFill>
        <p:spPr>
          <a:xfrm>
            <a:off x="196644" y="1376968"/>
            <a:ext cx="6774313" cy="1936503"/>
          </a:xfrm>
          <a:prstGeom prst="rect">
            <a:avLst/>
          </a:prstGeom>
        </p:spPr>
      </p:pic>
      <p:sp>
        <p:nvSpPr>
          <p:cNvPr id="11" name="TextBox 10">
            <a:extLst>
              <a:ext uri="{FF2B5EF4-FFF2-40B4-BE49-F238E27FC236}">
                <a16:creationId xmlns:a16="http://schemas.microsoft.com/office/drawing/2014/main" id="{23E361D8-7765-61B2-FC31-1D03E7100E28}"/>
              </a:ext>
            </a:extLst>
          </p:cNvPr>
          <p:cNvSpPr txBox="1"/>
          <p:nvPr/>
        </p:nvSpPr>
        <p:spPr>
          <a:xfrm>
            <a:off x="7049616" y="1246550"/>
            <a:ext cx="5142384" cy="2308324"/>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In the first image, you can see the word sunny and hot tend to depend on each other and are correlated to a certain extent with the word "desert". Naive Bayes assumes independence throughout. Furthermore, if you were to fill in the sentence on the right, this naive model will assign equal weight to the words "spring, summer, fall, winter". </a:t>
            </a:r>
            <a:endParaRPr lang="en-US" dirty="0"/>
          </a:p>
        </p:txBody>
      </p:sp>
      <p:sp>
        <p:nvSpPr>
          <p:cNvPr id="13" name="TextBox 12">
            <a:extLst>
              <a:ext uri="{FF2B5EF4-FFF2-40B4-BE49-F238E27FC236}">
                <a16:creationId xmlns:a16="http://schemas.microsoft.com/office/drawing/2014/main" id="{39CAD6FC-FDB3-6909-FEB5-3CAED63796D1}"/>
              </a:ext>
            </a:extLst>
          </p:cNvPr>
          <p:cNvSpPr txBox="1"/>
          <p:nvPr/>
        </p:nvSpPr>
        <p:spPr>
          <a:xfrm>
            <a:off x="6096000" y="4872786"/>
            <a:ext cx="6096000" cy="1477328"/>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On Twitter, there are usually more positive tweets than negative ones. However, some "clean" datasets you may find are artificially balanced to have to the same amount of positive and negative tweets. Just keep in mind, that in the real world, the data could be much noisier.</a:t>
            </a:r>
            <a:endParaRPr lang="en-US" dirty="0"/>
          </a:p>
        </p:txBody>
      </p:sp>
      <p:pic>
        <p:nvPicPr>
          <p:cNvPr id="15" name="Picture 14">
            <a:extLst>
              <a:ext uri="{FF2B5EF4-FFF2-40B4-BE49-F238E27FC236}">
                <a16:creationId xmlns:a16="http://schemas.microsoft.com/office/drawing/2014/main" id="{57CE97BA-DED0-97ED-00BD-3ECB979163D6}"/>
              </a:ext>
            </a:extLst>
          </p:cNvPr>
          <p:cNvPicPr>
            <a:picLocks noChangeAspect="1"/>
          </p:cNvPicPr>
          <p:nvPr/>
        </p:nvPicPr>
        <p:blipFill rotWithShape="1">
          <a:blip r:embed="rId3"/>
          <a:srcRect r="22620"/>
          <a:stretch/>
        </p:blipFill>
        <p:spPr>
          <a:xfrm>
            <a:off x="924231" y="4046645"/>
            <a:ext cx="4640827" cy="2034716"/>
          </a:xfrm>
          <a:prstGeom prst="rect">
            <a:avLst/>
          </a:prstGeom>
        </p:spPr>
      </p:pic>
    </p:spTree>
    <p:extLst>
      <p:ext uri="{BB962C8B-B14F-4D97-AF65-F5344CB8AC3E}">
        <p14:creationId xmlns:p14="http://schemas.microsoft.com/office/powerpoint/2010/main" val="187260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189E7FF-5044-B0FE-8117-AC653EBF783D}"/>
              </a:ext>
            </a:extLst>
          </p:cNvPr>
          <p:cNvSpPr txBox="1"/>
          <p:nvPr/>
        </p:nvSpPr>
        <p:spPr>
          <a:xfrm>
            <a:off x="157316" y="129966"/>
            <a:ext cx="6096000" cy="369332"/>
          </a:xfrm>
          <a:prstGeom prst="rect">
            <a:avLst/>
          </a:prstGeom>
          <a:noFill/>
        </p:spPr>
        <p:txBody>
          <a:bodyPr wrap="square">
            <a:spAutoFit/>
          </a:bodyPr>
          <a:lstStyle/>
          <a:p>
            <a:pPr algn="l"/>
            <a:r>
              <a:rPr lang="en-US" b="1" i="0" dirty="0">
                <a:solidFill>
                  <a:srgbClr val="1F1F1F"/>
                </a:solidFill>
                <a:effectLst/>
              </a:rPr>
              <a:t>Error Analysis</a:t>
            </a:r>
          </a:p>
        </p:txBody>
      </p:sp>
      <p:sp>
        <p:nvSpPr>
          <p:cNvPr id="7" name="TextBox 6">
            <a:extLst>
              <a:ext uri="{FF2B5EF4-FFF2-40B4-BE49-F238E27FC236}">
                <a16:creationId xmlns:a16="http://schemas.microsoft.com/office/drawing/2014/main" id="{DFF9FCDF-22C4-5100-8783-7EBD8AE5CF3E}"/>
              </a:ext>
            </a:extLst>
          </p:cNvPr>
          <p:cNvSpPr txBox="1"/>
          <p:nvPr/>
        </p:nvSpPr>
        <p:spPr>
          <a:xfrm>
            <a:off x="167723" y="636950"/>
            <a:ext cx="11729884" cy="1754326"/>
          </a:xfrm>
          <a:prstGeom prst="rect">
            <a:avLst/>
          </a:prstGeom>
          <a:noFill/>
        </p:spPr>
        <p:txBody>
          <a:bodyPr wrap="square">
            <a:spAutoFit/>
          </a:bodyPr>
          <a:lstStyle/>
          <a:p>
            <a:pPr algn="l"/>
            <a:r>
              <a:rPr lang="en-US" b="0" i="0" dirty="0">
                <a:solidFill>
                  <a:srgbClr val="1F1F1F"/>
                </a:solidFill>
                <a:effectLst/>
                <a:latin typeface="var(--cds-font-family-source-sans-pro)"/>
              </a:rPr>
              <a:t>There are several mistakes that could cause you to misclassify an example or a tweet. For example, </a:t>
            </a:r>
          </a:p>
          <a:p>
            <a:pPr marL="285750" indent="-285750" algn="l">
              <a:buFont typeface="Arial" panose="020B0604020202020204" pitchFamily="34" charset="0"/>
              <a:buChar char="•"/>
            </a:pPr>
            <a:r>
              <a:rPr lang="en-US" b="0" i="0" dirty="0">
                <a:solidFill>
                  <a:srgbClr val="1F1F1F"/>
                </a:solidFill>
                <a:effectLst/>
                <a:latin typeface="var(--cds-font-family-source-sans-pro)"/>
              </a:rPr>
              <a:t>Removing punctuation</a:t>
            </a:r>
          </a:p>
          <a:p>
            <a:pPr marL="285750" indent="-285750" algn="l">
              <a:buFont typeface="Arial" panose="020B0604020202020204" pitchFamily="34" charset="0"/>
              <a:buChar char="•"/>
            </a:pPr>
            <a:r>
              <a:rPr lang="en-US" b="0" i="0" dirty="0">
                <a:solidFill>
                  <a:srgbClr val="1F1F1F"/>
                </a:solidFill>
                <a:effectLst/>
                <a:latin typeface="var(--cds-font-family-source-sans-pro)"/>
              </a:rPr>
              <a:t>Removing words</a:t>
            </a:r>
          </a:p>
          <a:p>
            <a:pPr marL="285750" indent="-285750">
              <a:buFont typeface="Arial" panose="020B0604020202020204" pitchFamily="34" charset="0"/>
              <a:buChar char="•"/>
            </a:pPr>
            <a:r>
              <a:rPr lang="en-US" b="0" i="0" dirty="0">
                <a:solidFill>
                  <a:srgbClr val="1F1F1F"/>
                </a:solidFill>
                <a:effectLst/>
                <a:latin typeface="var(--cds-font-family-source-sans-pro)"/>
              </a:rPr>
              <a:t>Word order</a:t>
            </a:r>
          </a:p>
          <a:p>
            <a:pPr marL="285750" indent="-285750">
              <a:buFont typeface="Arial" panose="020B0604020202020204" pitchFamily="34" charset="0"/>
              <a:buChar char="•"/>
            </a:pPr>
            <a:r>
              <a:rPr lang="en-US" b="0" i="0" dirty="0">
                <a:solidFill>
                  <a:srgbClr val="1F1F1F"/>
                </a:solidFill>
                <a:effectLst/>
                <a:latin typeface="var(--cds-font-family-source-sans-pro)"/>
              </a:rPr>
              <a:t>Adversarial attacks (</a:t>
            </a:r>
            <a:r>
              <a:rPr lang="en-US" b="0" i="0" dirty="0">
                <a:solidFill>
                  <a:srgbClr val="1F1F1F"/>
                </a:solidFill>
                <a:effectLst/>
                <a:latin typeface="Source Sans Pro" panose="020B0503030403020204" pitchFamily="34" charset="0"/>
              </a:rPr>
              <a:t>These include sarcasm, irony, euphemisms.</a:t>
            </a:r>
            <a:r>
              <a:rPr lang="en-US" b="0" i="0" dirty="0">
                <a:solidFill>
                  <a:srgbClr val="1F1F1F"/>
                </a:solidFill>
                <a:effectLst/>
                <a:latin typeface="var(--cds-font-family-source-sans-pro)"/>
              </a:rPr>
              <a:t>)</a:t>
            </a:r>
          </a:p>
          <a:p>
            <a:pPr marL="285750" indent="-285750" algn="l">
              <a:buFont typeface="Arial" panose="020B0604020202020204" pitchFamily="34" charset="0"/>
              <a:buChar char="•"/>
            </a:pPr>
            <a:endParaRPr lang="en-US" b="0" i="0" dirty="0">
              <a:solidFill>
                <a:srgbClr val="1F1F1F"/>
              </a:solidFill>
              <a:effectLst/>
              <a:latin typeface="var(--cds-font-family-source-sans-pro)"/>
            </a:endParaRPr>
          </a:p>
        </p:txBody>
      </p:sp>
      <p:pic>
        <p:nvPicPr>
          <p:cNvPr id="9" name="Picture 8">
            <a:extLst>
              <a:ext uri="{FF2B5EF4-FFF2-40B4-BE49-F238E27FC236}">
                <a16:creationId xmlns:a16="http://schemas.microsoft.com/office/drawing/2014/main" id="{83B55A87-6AA8-384C-06A3-BD15F6CE8A99}"/>
              </a:ext>
            </a:extLst>
          </p:cNvPr>
          <p:cNvPicPr>
            <a:picLocks noChangeAspect="1"/>
          </p:cNvPicPr>
          <p:nvPr/>
        </p:nvPicPr>
        <p:blipFill>
          <a:blip r:embed="rId2"/>
          <a:stretch>
            <a:fillRect/>
          </a:stretch>
        </p:blipFill>
        <p:spPr>
          <a:xfrm>
            <a:off x="178130" y="2604823"/>
            <a:ext cx="6075186" cy="2059906"/>
          </a:xfrm>
          <a:prstGeom prst="rect">
            <a:avLst/>
          </a:prstGeom>
        </p:spPr>
      </p:pic>
      <p:pic>
        <p:nvPicPr>
          <p:cNvPr id="11" name="Picture 10">
            <a:extLst>
              <a:ext uri="{FF2B5EF4-FFF2-40B4-BE49-F238E27FC236}">
                <a16:creationId xmlns:a16="http://schemas.microsoft.com/office/drawing/2014/main" id="{C40EA122-098F-D16E-CB32-0FA40011FE64}"/>
              </a:ext>
            </a:extLst>
          </p:cNvPr>
          <p:cNvPicPr>
            <a:picLocks noChangeAspect="1"/>
          </p:cNvPicPr>
          <p:nvPr/>
        </p:nvPicPr>
        <p:blipFill>
          <a:blip r:embed="rId3"/>
          <a:stretch>
            <a:fillRect/>
          </a:stretch>
        </p:blipFill>
        <p:spPr>
          <a:xfrm>
            <a:off x="5479020" y="4127384"/>
            <a:ext cx="5776461" cy="1729890"/>
          </a:xfrm>
          <a:prstGeom prst="rect">
            <a:avLst/>
          </a:prstGeom>
        </p:spPr>
      </p:pic>
    </p:spTree>
    <p:extLst>
      <p:ext uri="{BB962C8B-B14F-4D97-AF65-F5344CB8AC3E}">
        <p14:creationId xmlns:p14="http://schemas.microsoft.com/office/powerpoint/2010/main" val="2388522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718</TotalTime>
  <Words>352</Words>
  <Application>Microsoft Office PowerPoint</Application>
  <PresentationFormat>Widescreen</PresentationFormat>
  <Paragraphs>29</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Source Sans Pro</vt:lpstr>
      <vt:lpstr>var(--cds-font-family-source-sans-pro)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mrinmoy bhuyan</dc:creator>
  <cp:lastModifiedBy>mrinmoy bhuyan</cp:lastModifiedBy>
  <cp:revision>44</cp:revision>
  <dcterms:created xsi:type="dcterms:W3CDTF">2024-01-15T06:57:36Z</dcterms:created>
  <dcterms:modified xsi:type="dcterms:W3CDTF">2024-01-15T18:55:46Z</dcterms:modified>
</cp:coreProperties>
</file>