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E742-DCFC-7A82-1EEF-D5982EDC1F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2BA496-F4F1-27F4-27B6-D5E4A953B2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E3BBC9-E4D6-66EF-C0B1-2D443F1E5D88}"/>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5" name="Footer Placeholder 4">
            <a:extLst>
              <a:ext uri="{FF2B5EF4-FFF2-40B4-BE49-F238E27FC236}">
                <a16:creationId xmlns:a16="http://schemas.microsoft.com/office/drawing/2014/main" id="{D5898596-D84F-5942-0897-C4A714F139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6947CA-0B14-D766-27FB-C61C019254F2}"/>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2858791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379B3-01F8-29E6-48E5-A8E469CC91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2B6FBC-FA04-05FE-8D71-36A20F73E9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D33B0-EB02-ABCB-966C-B780590B1C95}"/>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5" name="Footer Placeholder 4">
            <a:extLst>
              <a:ext uri="{FF2B5EF4-FFF2-40B4-BE49-F238E27FC236}">
                <a16:creationId xmlns:a16="http://schemas.microsoft.com/office/drawing/2014/main" id="{83A26F00-74FC-2613-A153-A3DD89222E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1A7D0-8AF2-E431-D0F2-46DC9350579C}"/>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2828075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2D9B6-C87B-80DA-ADFF-2A26882E5F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CF6C3D-B949-3F6E-4AA5-639122EF88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210D33-951B-0E3E-7082-440A104F21A2}"/>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5" name="Footer Placeholder 4">
            <a:extLst>
              <a:ext uri="{FF2B5EF4-FFF2-40B4-BE49-F238E27FC236}">
                <a16:creationId xmlns:a16="http://schemas.microsoft.com/office/drawing/2014/main" id="{2B18ABBF-12B0-BD4F-DF32-10C2ECB90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31FE3-A37C-57AE-212B-F410458D5EC0}"/>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357546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B27A-96D8-7F7C-3A8B-CFF1541516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89DF0E-7C4B-2A6F-2DA8-0B0D334864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D3FFF6-A933-CCC5-0312-6320B0212C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D3EE09-AC28-A02E-2C33-6E33C9F45795}"/>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6" name="Footer Placeholder 5">
            <a:extLst>
              <a:ext uri="{FF2B5EF4-FFF2-40B4-BE49-F238E27FC236}">
                <a16:creationId xmlns:a16="http://schemas.microsoft.com/office/drawing/2014/main" id="{6CB0F2F9-5D45-50D6-BDD0-C836D4A691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57F8C5-ACCE-991A-0753-A459506F6086}"/>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1379656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2D839-814F-7583-ECEE-7A17E7A43E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D3C8D8-8584-F2DC-8FAE-513B4A4F4E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37F266-A29A-4D50-80E2-72774FC3FC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D70EF2-F711-19F9-4DDF-76D8909A81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831C20-F7D2-73C7-2FF6-C121A54F2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DC50F7-876B-2C67-FF34-9FD52A925E33}"/>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8" name="Footer Placeholder 7">
            <a:extLst>
              <a:ext uri="{FF2B5EF4-FFF2-40B4-BE49-F238E27FC236}">
                <a16:creationId xmlns:a16="http://schemas.microsoft.com/office/drawing/2014/main" id="{DAD3A3FF-6B40-6392-7183-30BF0E7124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9B5DEA-A6FA-2790-8DF9-A7879C34E7A3}"/>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3358546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FB520-AE30-2A5E-BBF3-75E7282348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EEBD53-0499-064A-72C7-9BE3515DFAD5}"/>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4" name="Footer Placeholder 3">
            <a:extLst>
              <a:ext uri="{FF2B5EF4-FFF2-40B4-BE49-F238E27FC236}">
                <a16:creationId xmlns:a16="http://schemas.microsoft.com/office/drawing/2014/main" id="{E81C046E-D983-33FC-1E10-FF2D380854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9B907-2ED0-8278-5808-F53F7D6AC224}"/>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2245073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5EECB-91D6-464D-5B13-96E5A3A03679}"/>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3" name="Footer Placeholder 2">
            <a:extLst>
              <a:ext uri="{FF2B5EF4-FFF2-40B4-BE49-F238E27FC236}">
                <a16:creationId xmlns:a16="http://schemas.microsoft.com/office/drawing/2014/main" id="{851D8E6E-441F-B507-E3A8-864ABB8B70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C08A60-D5A4-9D9C-BEC7-9B930825A244}"/>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1336256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576DD-3BE1-2B22-18E8-3687D89966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67FA49-6045-4743-99B6-BBC58ADBBB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39A3FD-4AAE-E117-C8B6-68ECC60E4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5F0E25-A392-0AAF-A1A4-25CBB711A7AD}"/>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6" name="Footer Placeholder 5">
            <a:extLst>
              <a:ext uri="{FF2B5EF4-FFF2-40B4-BE49-F238E27FC236}">
                <a16:creationId xmlns:a16="http://schemas.microsoft.com/office/drawing/2014/main" id="{39C821DB-F0B1-61A8-F374-EC7770E975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DE1A7C-87C7-3764-B00D-E289F06B1556}"/>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121409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D8E32-5A59-C81F-88AE-E7A7530D3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A2E51B-EFF2-AF25-7B29-BB18719D8F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60D1F4-6A20-3B59-611F-43CFCB483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E0DCE-EE18-1D85-32E2-524CA43C56CF}"/>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6" name="Footer Placeholder 5">
            <a:extLst>
              <a:ext uri="{FF2B5EF4-FFF2-40B4-BE49-F238E27FC236}">
                <a16:creationId xmlns:a16="http://schemas.microsoft.com/office/drawing/2014/main" id="{01CCE745-5E89-7023-AEB8-3E18D8B17D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A61A31-4966-D50F-06C9-82735DCE3A36}"/>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1809048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A2243-07AD-A1F2-A36D-FBD8E489C0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1C8C77-6A0D-D115-D910-48E6091F6F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18F26-0E55-7575-F75E-0E190DB0B4AC}"/>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5" name="Footer Placeholder 4">
            <a:extLst>
              <a:ext uri="{FF2B5EF4-FFF2-40B4-BE49-F238E27FC236}">
                <a16:creationId xmlns:a16="http://schemas.microsoft.com/office/drawing/2014/main" id="{5B14EB36-9DB2-BF3D-16C3-40F960BDCF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CC8D87-F295-33E4-6D6F-1D6A5FEF2D5E}"/>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836092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445297-11F6-1009-9717-35340B991E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1C0C41-99F2-2D0B-3DAF-7F23A59A07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CE11DE-5E07-8577-435C-B7FFD5CD1E18}"/>
              </a:ext>
            </a:extLst>
          </p:cNvPr>
          <p:cNvSpPr>
            <a:spLocks noGrp="1"/>
          </p:cNvSpPr>
          <p:nvPr>
            <p:ph type="dt" sz="half" idx="10"/>
          </p:nvPr>
        </p:nvSpPr>
        <p:spPr/>
        <p:txBody>
          <a:bodyPr/>
          <a:lstStyle/>
          <a:p>
            <a:fld id="{3CE074EA-0F12-47D6-BBA8-DE02458F873D}" type="datetimeFigureOut">
              <a:rPr lang="en-US" smtClean="0"/>
              <a:t>1/13/2024</a:t>
            </a:fld>
            <a:endParaRPr lang="en-US"/>
          </a:p>
        </p:txBody>
      </p:sp>
      <p:sp>
        <p:nvSpPr>
          <p:cNvPr id="5" name="Footer Placeholder 4">
            <a:extLst>
              <a:ext uri="{FF2B5EF4-FFF2-40B4-BE49-F238E27FC236}">
                <a16:creationId xmlns:a16="http://schemas.microsoft.com/office/drawing/2014/main" id="{E2C9591B-0E20-4387-BD24-B245E5E303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2CFA2-1C6F-127C-1BC2-465CA67482B3}"/>
              </a:ext>
            </a:extLst>
          </p:cNvPr>
          <p:cNvSpPr>
            <a:spLocks noGrp="1"/>
          </p:cNvSpPr>
          <p:nvPr>
            <p:ph type="sldNum" sz="quarter" idx="12"/>
          </p:nvPr>
        </p:nvSpPr>
        <p:spPr/>
        <p:txBody>
          <a:bodyPr/>
          <a:lstStyle/>
          <a:p>
            <a:fld id="{9AA2D1AC-0D10-461E-868F-4D477D91812A}" type="slidenum">
              <a:rPr lang="en-US" smtClean="0"/>
              <a:t>‹#›</a:t>
            </a:fld>
            <a:endParaRPr lang="en-US"/>
          </a:p>
        </p:txBody>
      </p:sp>
    </p:spTree>
    <p:extLst>
      <p:ext uri="{BB962C8B-B14F-4D97-AF65-F5344CB8AC3E}">
        <p14:creationId xmlns:p14="http://schemas.microsoft.com/office/powerpoint/2010/main" val="862514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2AC379-4F0B-9BE3-853B-3337D4152C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009060-CC99-85F2-5D4B-58961A9543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745F3-D138-ECB2-9398-8574A9FCA2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E074EA-0F12-47D6-BBA8-DE02458F873D}" type="datetimeFigureOut">
              <a:rPr lang="en-US" smtClean="0"/>
              <a:t>1/13/2024</a:t>
            </a:fld>
            <a:endParaRPr lang="en-US"/>
          </a:p>
        </p:txBody>
      </p:sp>
      <p:sp>
        <p:nvSpPr>
          <p:cNvPr id="5" name="Footer Placeholder 4">
            <a:extLst>
              <a:ext uri="{FF2B5EF4-FFF2-40B4-BE49-F238E27FC236}">
                <a16:creationId xmlns:a16="http://schemas.microsoft.com/office/drawing/2014/main" id="{645826E2-3A9E-0CC4-AB3D-1A6A3C524D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DA354CC-4CFF-45BA-7E29-664E950EE4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A2D1AC-0D10-461E-868F-4D477D91812A}" type="slidenum">
              <a:rPr lang="en-US" smtClean="0"/>
              <a:t>‹#›</a:t>
            </a:fld>
            <a:endParaRPr lang="en-US"/>
          </a:p>
        </p:txBody>
      </p:sp>
    </p:spTree>
    <p:extLst>
      <p:ext uri="{BB962C8B-B14F-4D97-AF65-F5344CB8AC3E}">
        <p14:creationId xmlns:p14="http://schemas.microsoft.com/office/powerpoint/2010/main" val="241645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F57E76-332C-38FE-01EC-696BED107BA0}"/>
              </a:ext>
            </a:extLst>
          </p:cNvPr>
          <p:cNvSpPr txBox="1"/>
          <p:nvPr/>
        </p:nvSpPr>
        <p:spPr>
          <a:xfrm>
            <a:off x="0" y="70973"/>
            <a:ext cx="6096000" cy="369332"/>
          </a:xfrm>
          <a:prstGeom prst="rect">
            <a:avLst/>
          </a:prstGeom>
          <a:noFill/>
        </p:spPr>
        <p:txBody>
          <a:bodyPr wrap="square">
            <a:spAutoFit/>
          </a:bodyPr>
          <a:lstStyle/>
          <a:p>
            <a:pPr algn="l"/>
            <a:r>
              <a:rPr lang="en-US" b="1" i="0" dirty="0">
                <a:solidFill>
                  <a:srgbClr val="1F1F1F"/>
                </a:solidFill>
                <a:effectLst/>
              </a:rPr>
              <a:t>Supervised ML &amp; Sentiment Analysis</a:t>
            </a:r>
          </a:p>
        </p:txBody>
      </p:sp>
      <p:pic>
        <p:nvPicPr>
          <p:cNvPr id="7" name="Picture 6">
            <a:extLst>
              <a:ext uri="{FF2B5EF4-FFF2-40B4-BE49-F238E27FC236}">
                <a16:creationId xmlns:a16="http://schemas.microsoft.com/office/drawing/2014/main" id="{631AAA28-93FB-A07D-0D07-9524CF31CDD8}"/>
              </a:ext>
            </a:extLst>
          </p:cNvPr>
          <p:cNvPicPr>
            <a:picLocks noChangeAspect="1"/>
          </p:cNvPicPr>
          <p:nvPr/>
        </p:nvPicPr>
        <p:blipFill>
          <a:blip r:embed="rId2"/>
          <a:stretch>
            <a:fillRect/>
          </a:stretch>
        </p:blipFill>
        <p:spPr>
          <a:xfrm>
            <a:off x="72185" y="440305"/>
            <a:ext cx="7544454" cy="807790"/>
          </a:xfrm>
          <a:prstGeom prst="rect">
            <a:avLst/>
          </a:prstGeom>
        </p:spPr>
      </p:pic>
      <p:pic>
        <p:nvPicPr>
          <p:cNvPr id="9" name="Picture 8">
            <a:extLst>
              <a:ext uri="{FF2B5EF4-FFF2-40B4-BE49-F238E27FC236}">
                <a16:creationId xmlns:a16="http://schemas.microsoft.com/office/drawing/2014/main" id="{A6D2AD06-7594-FB31-6727-6AB205A97627}"/>
              </a:ext>
            </a:extLst>
          </p:cNvPr>
          <p:cNvPicPr>
            <a:picLocks noChangeAspect="1"/>
          </p:cNvPicPr>
          <p:nvPr/>
        </p:nvPicPr>
        <p:blipFill>
          <a:blip r:embed="rId3"/>
          <a:stretch>
            <a:fillRect/>
          </a:stretch>
        </p:blipFill>
        <p:spPr>
          <a:xfrm>
            <a:off x="221067" y="1396170"/>
            <a:ext cx="5922116" cy="2880862"/>
          </a:xfrm>
          <a:prstGeom prst="rect">
            <a:avLst/>
          </a:prstGeom>
        </p:spPr>
      </p:pic>
      <p:sp>
        <p:nvSpPr>
          <p:cNvPr id="11" name="TextBox 10">
            <a:extLst>
              <a:ext uri="{FF2B5EF4-FFF2-40B4-BE49-F238E27FC236}">
                <a16:creationId xmlns:a16="http://schemas.microsoft.com/office/drawing/2014/main" id="{31AB4E75-6171-524A-8E81-0547E3C0ACDB}"/>
              </a:ext>
            </a:extLst>
          </p:cNvPr>
          <p:cNvSpPr txBox="1"/>
          <p:nvPr/>
        </p:nvSpPr>
        <p:spPr>
          <a:xfrm>
            <a:off x="6561213" y="1617427"/>
            <a:ext cx="5409720"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perform sentiment analysis on a tweet, you first represent the text (i.e. "I am happy because I am learning NLP ") as features, you then train your logistic regression classifier, and then you can use it to classify the text.</a:t>
            </a:r>
            <a:endParaRPr lang="en-US" dirty="0"/>
          </a:p>
        </p:txBody>
      </p:sp>
      <p:pic>
        <p:nvPicPr>
          <p:cNvPr id="13" name="Picture 12">
            <a:extLst>
              <a:ext uri="{FF2B5EF4-FFF2-40B4-BE49-F238E27FC236}">
                <a16:creationId xmlns:a16="http://schemas.microsoft.com/office/drawing/2014/main" id="{676F0609-8EEB-CF9D-31D5-1B707A1F10F3}"/>
              </a:ext>
            </a:extLst>
          </p:cNvPr>
          <p:cNvPicPr>
            <a:picLocks noChangeAspect="1"/>
          </p:cNvPicPr>
          <p:nvPr/>
        </p:nvPicPr>
        <p:blipFill>
          <a:blip r:embed="rId4"/>
          <a:stretch>
            <a:fillRect/>
          </a:stretch>
        </p:blipFill>
        <p:spPr>
          <a:xfrm>
            <a:off x="4868478" y="4200766"/>
            <a:ext cx="7102455" cy="2042337"/>
          </a:xfrm>
          <a:prstGeom prst="rect">
            <a:avLst/>
          </a:prstGeom>
        </p:spPr>
      </p:pic>
      <p:sp>
        <p:nvSpPr>
          <p:cNvPr id="15" name="TextBox 14">
            <a:extLst>
              <a:ext uri="{FF2B5EF4-FFF2-40B4-BE49-F238E27FC236}">
                <a16:creationId xmlns:a16="http://schemas.microsoft.com/office/drawing/2014/main" id="{7E87403C-416E-8158-5487-275B6F910101}"/>
              </a:ext>
            </a:extLst>
          </p:cNvPr>
          <p:cNvSpPr txBox="1"/>
          <p:nvPr/>
        </p:nvSpPr>
        <p:spPr>
          <a:xfrm>
            <a:off x="475306" y="6404212"/>
            <a:ext cx="10900615"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Note that in this case, you either classify 1, for a positive sentiment, or 0, for a negative sentiment. </a:t>
            </a:r>
            <a:endParaRPr lang="en-US" dirty="0"/>
          </a:p>
        </p:txBody>
      </p:sp>
    </p:spTree>
    <p:extLst>
      <p:ext uri="{BB962C8B-B14F-4D97-AF65-F5344CB8AC3E}">
        <p14:creationId xmlns:p14="http://schemas.microsoft.com/office/powerpoint/2010/main" val="106900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6DB9D3-857C-CDF7-F287-CF27B7620ABC}"/>
              </a:ext>
            </a:extLst>
          </p:cNvPr>
          <p:cNvSpPr txBox="1"/>
          <p:nvPr/>
        </p:nvSpPr>
        <p:spPr>
          <a:xfrm>
            <a:off x="0" y="70973"/>
            <a:ext cx="6096000" cy="369332"/>
          </a:xfrm>
          <a:prstGeom prst="rect">
            <a:avLst/>
          </a:prstGeom>
          <a:noFill/>
        </p:spPr>
        <p:txBody>
          <a:bodyPr wrap="square">
            <a:spAutoFit/>
          </a:bodyPr>
          <a:lstStyle/>
          <a:p>
            <a:pPr algn="l"/>
            <a:r>
              <a:rPr lang="en-US" b="1" i="0" dirty="0">
                <a:solidFill>
                  <a:srgbClr val="1F1F1F"/>
                </a:solidFill>
                <a:effectLst/>
              </a:rPr>
              <a:t>Vocabulary &amp; Feature Extraction</a:t>
            </a:r>
          </a:p>
        </p:txBody>
      </p:sp>
      <p:pic>
        <p:nvPicPr>
          <p:cNvPr id="7" name="Picture 6">
            <a:extLst>
              <a:ext uri="{FF2B5EF4-FFF2-40B4-BE49-F238E27FC236}">
                <a16:creationId xmlns:a16="http://schemas.microsoft.com/office/drawing/2014/main" id="{1A23ED6D-8400-4ADE-86B3-7ABAEC20F9E8}"/>
              </a:ext>
            </a:extLst>
          </p:cNvPr>
          <p:cNvPicPr>
            <a:picLocks noChangeAspect="1"/>
          </p:cNvPicPr>
          <p:nvPr/>
        </p:nvPicPr>
        <p:blipFill>
          <a:blip r:embed="rId2"/>
          <a:stretch>
            <a:fillRect/>
          </a:stretch>
        </p:blipFill>
        <p:spPr>
          <a:xfrm>
            <a:off x="218071" y="526485"/>
            <a:ext cx="7567316" cy="731583"/>
          </a:xfrm>
          <a:prstGeom prst="rect">
            <a:avLst/>
          </a:prstGeom>
        </p:spPr>
      </p:pic>
      <p:pic>
        <p:nvPicPr>
          <p:cNvPr id="9" name="Picture 8">
            <a:extLst>
              <a:ext uri="{FF2B5EF4-FFF2-40B4-BE49-F238E27FC236}">
                <a16:creationId xmlns:a16="http://schemas.microsoft.com/office/drawing/2014/main" id="{FF7B0E41-D5E4-086F-CE59-7252771037A1}"/>
              </a:ext>
            </a:extLst>
          </p:cNvPr>
          <p:cNvPicPr>
            <a:picLocks noChangeAspect="1"/>
          </p:cNvPicPr>
          <p:nvPr/>
        </p:nvPicPr>
        <p:blipFill>
          <a:blip r:embed="rId3"/>
          <a:stretch>
            <a:fillRect/>
          </a:stretch>
        </p:blipFill>
        <p:spPr>
          <a:xfrm>
            <a:off x="1520618" y="1587544"/>
            <a:ext cx="7125317" cy="2758679"/>
          </a:xfrm>
          <a:prstGeom prst="rect">
            <a:avLst/>
          </a:prstGeom>
        </p:spPr>
      </p:pic>
      <p:pic>
        <p:nvPicPr>
          <p:cNvPr id="11" name="Picture 10">
            <a:extLst>
              <a:ext uri="{FF2B5EF4-FFF2-40B4-BE49-F238E27FC236}">
                <a16:creationId xmlns:a16="http://schemas.microsoft.com/office/drawing/2014/main" id="{F4DEB849-473D-9FD5-61F0-BDD6F2F1E108}"/>
              </a:ext>
            </a:extLst>
          </p:cNvPr>
          <p:cNvPicPr>
            <a:picLocks noChangeAspect="1"/>
          </p:cNvPicPr>
          <p:nvPr/>
        </p:nvPicPr>
        <p:blipFill>
          <a:blip r:embed="rId4"/>
          <a:stretch>
            <a:fillRect/>
          </a:stretch>
        </p:blipFill>
        <p:spPr>
          <a:xfrm>
            <a:off x="1389335" y="4834373"/>
            <a:ext cx="7643522" cy="571550"/>
          </a:xfrm>
          <a:prstGeom prst="rect">
            <a:avLst/>
          </a:prstGeom>
        </p:spPr>
      </p:pic>
    </p:spTree>
    <p:extLst>
      <p:ext uri="{BB962C8B-B14F-4D97-AF65-F5344CB8AC3E}">
        <p14:creationId xmlns:p14="http://schemas.microsoft.com/office/powerpoint/2010/main" val="1627630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B80841-1025-CA8F-C488-9A85FC8237EB}"/>
              </a:ext>
            </a:extLst>
          </p:cNvPr>
          <p:cNvSpPr txBox="1"/>
          <p:nvPr/>
        </p:nvSpPr>
        <p:spPr>
          <a:xfrm>
            <a:off x="226142" y="110301"/>
            <a:ext cx="6096000" cy="369332"/>
          </a:xfrm>
          <a:prstGeom prst="rect">
            <a:avLst/>
          </a:prstGeom>
          <a:noFill/>
        </p:spPr>
        <p:txBody>
          <a:bodyPr wrap="square">
            <a:spAutoFit/>
          </a:bodyPr>
          <a:lstStyle/>
          <a:p>
            <a:pPr algn="l"/>
            <a:r>
              <a:rPr lang="en-US" b="1" i="0" dirty="0">
                <a:solidFill>
                  <a:srgbClr val="1F1F1F"/>
                </a:solidFill>
                <a:effectLst/>
              </a:rPr>
              <a:t>Feature Extraction with Frequencies</a:t>
            </a:r>
          </a:p>
        </p:txBody>
      </p:sp>
      <p:sp>
        <p:nvSpPr>
          <p:cNvPr id="7" name="TextBox 6">
            <a:extLst>
              <a:ext uri="{FF2B5EF4-FFF2-40B4-BE49-F238E27FC236}">
                <a16:creationId xmlns:a16="http://schemas.microsoft.com/office/drawing/2014/main" id="{A2BA54EE-5D9E-ABE0-7D0F-FA8D89A94420}"/>
              </a:ext>
            </a:extLst>
          </p:cNvPr>
          <p:cNvSpPr txBox="1"/>
          <p:nvPr/>
        </p:nvSpPr>
        <p:spPr>
          <a:xfrm>
            <a:off x="226142" y="479633"/>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Given a corpus with positive and negative tweets as follows: </a:t>
            </a:r>
            <a:endParaRPr lang="en-US" dirty="0"/>
          </a:p>
        </p:txBody>
      </p:sp>
      <p:pic>
        <p:nvPicPr>
          <p:cNvPr id="9" name="Picture 8">
            <a:extLst>
              <a:ext uri="{FF2B5EF4-FFF2-40B4-BE49-F238E27FC236}">
                <a16:creationId xmlns:a16="http://schemas.microsoft.com/office/drawing/2014/main" id="{D86181DB-F358-163B-DD3E-DA5C591A428D}"/>
              </a:ext>
            </a:extLst>
          </p:cNvPr>
          <p:cNvPicPr>
            <a:picLocks noChangeAspect="1"/>
          </p:cNvPicPr>
          <p:nvPr/>
        </p:nvPicPr>
        <p:blipFill>
          <a:blip r:embed="rId2"/>
          <a:stretch>
            <a:fillRect/>
          </a:stretch>
        </p:blipFill>
        <p:spPr>
          <a:xfrm>
            <a:off x="226142" y="986617"/>
            <a:ext cx="7445385" cy="1242168"/>
          </a:xfrm>
          <a:prstGeom prst="rect">
            <a:avLst/>
          </a:prstGeom>
        </p:spPr>
      </p:pic>
      <p:sp>
        <p:nvSpPr>
          <p:cNvPr id="11" name="TextBox 10">
            <a:extLst>
              <a:ext uri="{FF2B5EF4-FFF2-40B4-BE49-F238E27FC236}">
                <a16:creationId xmlns:a16="http://schemas.microsoft.com/office/drawing/2014/main" id="{E52BDE47-6620-39E3-8588-68A74A9F599A}"/>
              </a:ext>
            </a:extLst>
          </p:cNvPr>
          <p:cNvSpPr txBox="1"/>
          <p:nvPr/>
        </p:nvSpPr>
        <p:spPr>
          <a:xfrm>
            <a:off x="68826" y="2415796"/>
            <a:ext cx="11975689"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You have to encode each tweet as a vector. Previously, this vector was of dimension </a:t>
            </a:r>
            <a:r>
              <a:rPr lang="en-US" b="1" i="1" dirty="0">
                <a:solidFill>
                  <a:srgbClr val="1F1F1F"/>
                </a:solidFill>
                <a:effectLst/>
                <a:latin typeface="KaTeX_Math"/>
              </a:rPr>
              <a:t>V</a:t>
            </a:r>
            <a:r>
              <a:rPr lang="en-US" b="1" i="0" dirty="0">
                <a:solidFill>
                  <a:srgbClr val="1F1F1F"/>
                </a:solidFill>
                <a:effectLst/>
                <a:latin typeface="Source Sans Pro" panose="020B0503030403020204" pitchFamily="34" charset="0"/>
              </a:rPr>
              <a:t>. </a:t>
            </a:r>
            <a:r>
              <a:rPr lang="en-US" b="0" i="0" dirty="0">
                <a:solidFill>
                  <a:srgbClr val="1F1F1F"/>
                </a:solidFill>
                <a:effectLst/>
                <a:latin typeface="Source Sans Pro" panose="020B0503030403020204" pitchFamily="34" charset="0"/>
              </a:rPr>
              <a:t>Now, as you will see in the upcoming videos, you will represent it with a vector of dimension </a:t>
            </a:r>
            <a:r>
              <a:rPr lang="en-US" b="1" i="0" dirty="0">
                <a:solidFill>
                  <a:srgbClr val="1F1F1F"/>
                </a:solidFill>
                <a:effectLst/>
                <a:latin typeface="KaTeX_Main"/>
              </a:rPr>
              <a:t>3</a:t>
            </a:r>
            <a:r>
              <a:rPr lang="en-US" b="0" i="0" dirty="0">
                <a:solidFill>
                  <a:srgbClr val="1F1F1F"/>
                </a:solidFill>
                <a:effectLst/>
                <a:latin typeface="Source Sans Pro" panose="020B0503030403020204" pitchFamily="34" charset="0"/>
              </a:rPr>
              <a:t>. To do so, you have to create a dictionary to map the word, and the class it appeared in (positive or negative) to the number of times that word appeared in its corresponding class. </a:t>
            </a:r>
            <a:endParaRPr lang="en-US" dirty="0"/>
          </a:p>
        </p:txBody>
      </p:sp>
      <p:pic>
        <p:nvPicPr>
          <p:cNvPr id="13" name="Picture 12">
            <a:extLst>
              <a:ext uri="{FF2B5EF4-FFF2-40B4-BE49-F238E27FC236}">
                <a16:creationId xmlns:a16="http://schemas.microsoft.com/office/drawing/2014/main" id="{96B7583A-8486-F1A3-C29C-BB20F963AC54}"/>
              </a:ext>
            </a:extLst>
          </p:cNvPr>
          <p:cNvPicPr>
            <a:picLocks noChangeAspect="1"/>
          </p:cNvPicPr>
          <p:nvPr/>
        </p:nvPicPr>
        <p:blipFill>
          <a:blip r:embed="rId3"/>
          <a:stretch>
            <a:fillRect/>
          </a:stretch>
        </p:blipFill>
        <p:spPr>
          <a:xfrm>
            <a:off x="340451" y="3518875"/>
            <a:ext cx="7216765" cy="2804403"/>
          </a:xfrm>
          <a:prstGeom prst="rect">
            <a:avLst/>
          </a:prstGeom>
        </p:spPr>
      </p:pic>
    </p:spTree>
    <p:extLst>
      <p:ext uri="{BB962C8B-B14F-4D97-AF65-F5344CB8AC3E}">
        <p14:creationId xmlns:p14="http://schemas.microsoft.com/office/powerpoint/2010/main" val="2593362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8FE132-2F57-CB5B-FBEE-59BAC884E2B5}"/>
              </a:ext>
            </a:extLst>
          </p:cNvPr>
          <p:cNvSpPr txBox="1"/>
          <p:nvPr/>
        </p:nvSpPr>
        <p:spPr>
          <a:xfrm>
            <a:off x="226142" y="479633"/>
            <a:ext cx="11739716"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the past two videos, we call this dictionary `</a:t>
            </a:r>
            <a:r>
              <a:rPr lang="en-US" b="0" i="0" dirty="0" err="1">
                <a:solidFill>
                  <a:srgbClr val="1F1F1F"/>
                </a:solidFill>
                <a:effectLst/>
                <a:latin typeface="Source Sans Pro" panose="020B0503030403020204" pitchFamily="34" charset="0"/>
              </a:rPr>
              <a:t>freqs</a:t>
            </a:r>
            <a:r>
              <a:rPr lang="en-US" b="0" i="0" dirty="0">
                <a:solidFill>
                  <a:srgbClr val="1F1F1F"/>
                </a:solidFill>
                <a:effectLst/>
                <a:latin typeface="Source Sans Pro" panose="020B0503030403020204" pitchFamily="34" charset="0"/>
              </a:rPr>
              <a:t>`. In the table above, you can see how words like happy and sad tend to take clear sides, while other words like "I, am" tend to be more neutral. Given this dictionary and the tweet, "I am sad, I am not learning NLP", you can create a vector corresponding to the feature as follows: </a:t>
            </a:r>
            <a:endParaRPr lang="en-US" dirty="0"/>
          </a:p>
        </p:txBody>
      </p:sp>
      <p:sp>
        <p:nvSpPr>
          <p:cNvPr id="6" name="TextBox 5">
            <a:extLst>
              <a:ext uri="{FF2B5EF4-FFF2-40B4-BE49-F238E27FC236}">
                <a16:creationId xmlns:a16="http://schemas.microsoft.com/office/drawing/2014/main" id="{F2F6C7BF-D1BA-477C-E109-6239974E04C1}"/>
              </a:ext>
            </a:extLst>
          </p:cNvPr>
          <p:cNvSpPr txBox="1"/>
          <p:nvPr/>
        </p:nvSpPr>
        <p:spPr>
          <a:xfrm>
            <a:off x="226142" y="110301"/>
            <a:ext cx="6096000" cy="369332"/>
          </a:xfrm>
          <a:prstGeom prst="rect">
            <a:avLst/>
          </a:prstGeom>
          <a:noFill/>
        </p:spPr>
        <p:txBody>
          <a:bodyPr wrap="square">
            <a:spAutoFit/>
          </a:bodyPr>
          <a:lstStyle/>
          <a:p>
            <a:pPr algn="l"/>
            <a:r>
              <a:rPr lang="en-US" b="1" i="0" dirty="0">
                <a:solidFill>
                  <a:srgbClr val="1F1F1F"/>
                </a:solidFill>
                <a:effectLst/>
              </a:rPr>
              <a:t>Feature Extraction with Frequencies (</a:t>
            </a:r>
            <a:r>
              <a:rPr lang="en-US" b="1" i="0" dirty="0" err="1">
                <a:solidFill>
                  <a:srgbClr val="1F1F1F"/>
                </a:solidFill>
                <a:effectLst/>
              </a:rPr>
              <a:t>contd</a:t>
            </a:r>
            <a:r>
              <a:rPr lang="en-US" b="1" i="0" dirty="0">
                <a:solidFill>
                  <a:srgbClr val="1F1F1F"/>
                </a:solidFill>
                <a:effectLst/>
              </a:rPr>
              <a:t>…)</a:t>
            </a:r>
          </a:p>
        </p:txBody>
      </p:sp>
      <p:pic>
        <p:nvPicPr>
          <p:cNvPr id="8" name="Picture 7">
            <a:extLst>
              <a:ext uri="{FF2B5EF4-FFF2-40B4-BE49-F238E27FC236}">
                <a16:creationId xmlns:a16="http://schemas.microsoft.com/office/drawing/2014/main" id="{A1058482-4158-2485-D6B1-F53D863C1E8B}"/>
              </a:ext>
            </a:extLst>
          </p:cNvPr>
          <p:cNvPicPr>
            <a:picLocks noChangeAspect="1"/>
          </p:cNvPicPr>
          <p:nvPr/>
        </p:nvPicPr>
        <p:blipFill>
          <a:blip r:embed="rId2"/>
          <a:stretch>
            <a:fillRect/>
          </a:stretch>
        </p:blipFill>
        <p:spPr>
          <a:xfrm>
            <a:off x="301152" y="1511338"/>
            <a:ext cx="6268836" cy="2401901"/>
          </a:xfrm>
          <a:prstGeom prst="rect">
            <a:avLst/>
          </a:prstGeom>
        </p:spPr>
      </p:pic>
      <p:pic>
        <p:nvPicPr>
          <p:cNvPr id="10" name="Picture 9">
            <a:extLst>
              <a:ext uri="{FF2B5EF4-FFF2-40B4-BE49-F238E27FC236}">
                <a16:creationId xmlns:a16="http://schemas.microsoft.com/office/drawing/2014/main" id="{D77C01FB-AF64-C032-A3CF-97A2972A183D}"/>
              </a:ext>
            </a:extLst>
          </p:cNvPr>
          <p:cNvPicPr>
            <a:picLocks noChangeAspect="1"/>
          </p:cNvPicPr>
          <p:nvPr/>
        </p:nvPicPr>
        <p:blipFill>
          <a:blip r:embed="rId3"/>
          <a:stretch>
            <a:fillRect/>
          </a:stretch>
        </p:blipFill>
        <p:spPr>
          <a:xfrm>
            <a:off x="301152" y="4012087"/>
            <a:ext cx="5876330" cy="2267432"/>
          </a:xfrm>
          <a:prstGeom prst="rect">
            <a:avLst/>
          </a:prstGeom>
        </p:spPr>
      </p:pic>
      <p:pic>
        <p:nvPicPr>
          <p:cNvPr id="12" name="Picture 11">
            <a:extLst>
              <a:ext uri="{FF2B5EF4-FFF2-40B4-BE49-F238E27FC236}">
                <a16:creationId xmlns:a16="http://schemas.microsoft.com/office/drawing/2014/main" id="{A65C1002-571B-E369-BA80-A8E03075C9B4}"/>
              </a:ext>
            </a:extLst>
          </p:cNvPr>
          <p:cNvPicPr>
            <a:picLocks noChangeAspect="1"/>
          </p:cNvPicPr>
          <p:nvPr/>
        </p:nvPicPr>
        <p:blipFill>
          <a:blip r:embed="rId4"/>
          <a:stretch>
            <a:fillRect/>
          </a:stretch>
        </p:blipFill>
        <p:spPr>
          <a:xfrm>
            <a:off x="2938036" y="6229494"/>
            <a:ext cx="7712108" cy="518205"/>
          </a:xfrm>
          <a:prstGeom prst="rect">
            <a:avLst/>
          </a:prstGeom>
        </p:spPr>
      </p:pic>
    </p:spTree>
    <p:extLst>
      <p:ext uri="{BB962C8B-B14F-4D97-AF65-F5344CB8AC3E}">
        <p14:creationId xmlns:p14="http://schemas.microsoft.com/office/powerpoint/2010/main" val="2728918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2948CC-811B-2208-56A9-B3F7F9811466}"/>
              </a:ext>
            </a:extLst>
          </p:cNvPr>
          <p:cNvSpPr txBox="1"/>
          <p:nvPr/>
        </p:nvSpPr>
        <p:spPr>
          <a:xfrm>
            <a:off x="68826" y="100470"/>
            <a:ext cx="6096000" cy="369332"/>
          </a:xfrm>
          <a:prstGeom prst="rect">
            <a:avLst/>
          </a:prstGeom>
          <a:noFill/>
        </p:spPr>
        <p:txBody>
          <a:bodyPr wrap="square">
            <a:spAutoFit/>
          </a:bodyPr>
          <a:lstStyle/>
          <a:p>
            <a:pPr algn="l"/>
            <a:r>
              <a:rPr lang="en-US" b="1" i="0" dirty="0">
                <a:solidFill>
                  <a:srgbClr val="1F1F1F"/>
                </a:solidFill>
                <a:effectLst/>
              </a:rPr>
              <a:t>Preprocessing</a:t>
            </a:r>
          </a:p>
        </p:txBody>
      </p:sp>
      <p:sp>
        <p:nvSpPr>
          <p:cNvPr id="7" name="TextBox 6">
            <a:extLst>
              <a:ext uri="{FF2B5EF4-FFF2-40B4-BE49-F238E27FC236}">
                <a16:creationId xmlns:a16="http://schemas.microsoft.com/office/drawing/2014/main" id="{6761D8F8-20D2-F13B-BBC5-3CBBC8F39FFF}"/>
              </a:ext>
            </a:extLst>
          </p:cNvPr>
          <p:cNvSpPr txBox="1"/>
          <p:nvPr/>
        </p:nvSpPr>
        <p:spPr>
          <a:xfrm>
            <a:off x="206476" y="469802"/>
            <a:ext cx="11739717" cy="2585323"/>
          </a:xfrm>
          <a:prstGeom prst="rect">
            <a:avLst/>
          </a:prstGeom>
          <a:noFill/>
        </p:spPr>
        <p:txBody>
          <a:bodyPr wrap="square">
            <a:spAutoFit/>
          </a:bodyPr>
          <a:lstStyle/>
          <a:p>
            <a:pPr algn="l"/>
            <a:r>
              <a:rPr lang="en-US" b="0" i="0" dirty="0">
                <a:solidFill>
                  <a:srgbClr val="1F1F1F"/>
                </a:solidFill>
                <a:effectLst/>
                <a:latin typeface="var(--cds-font-family-source-sans-pro)"/>
              </a:rPr>
              <a:t>When preprocessing, you have to perform the following:</a:t>
            </a:r>
          </a:p>
          <a:p>
            <a:pPr algn="l">
              <a:buFont typeface="+mj-lt"/>
              <a:buAutoNum type="arabicPeriod"/>
            </a:pPr>
            <a:r>
              <a:rPr lang="en-US" b="0" i="0" dirty="0">
                <a:solidFill>
                  <a:srgbClr val="1F1F1F"/>
                </a:solidFill>
                <a:effectLst/>
                <a:latin typeface="var(--cds-font-family-source-sans-pro)"/>
              </a:rPr>
              <a:t>Eliminate handles and URLs</a:t>
            </a:r>
          </a:p>
          <a:p>
            <a:pPr algn="l">
              <a:buFont typeface="+mj-lt"/>
              <a:buAutoNum type="arabicPeriod"/>
            </a:pPr>
            <a:r>
              <a:rPr lang="en-US" b="0" i="0" dirty="0">
                <a:solidFill>
                  <a:srgbClr val="1F1F1F"/>
                </a:solidFill>
                <a:effectLst/>
                <a:latin typeface="var(--cds-font-family-source-sans-pro)"/>
              </a:rPr>
              <a:t>Tokenize the string into words. </a:t>
            </a:r>
          </a:p>
          <a:p>
            <a:pPr algn="l">
              <a:buFont typeface="+mj-lt"/>
              <a:buAutoNum type="arabicPeriod"/>
            </a:pPr>
            <a:r>
              <a:rPr lang="en-US" b="0" i="0" dirty="0">
                <a:solidFill>
                  <a:srgbClr val="1F1F1F"/>
                </a:solidFill>
                <a:effectLst/>
                <a:latin typeface="var(--cds-font-family-source-sans-pro)"/>
              </a:rPr>
              <a:t>Remove stop words like "and, is, a, on, etc."</a:t>
            </a:r>
          </a:p>
          <a:p>
            <a:pPr algn="l">
              <a:buFont typeface="+mj-lt"/>
              <a:buAutoNum type="arabicPeriod"/>
            </a:pPr>
            <a:r>
              <a:rPr lang="en-US" b="0" i="0" dirty="0">
                <a:solidFill>
                  <a:srgbClr val="1F1F1F"/>
                </a:solidFill>
                <a:effectLst/>
                <a:latin typeface="var(--cds-font-family-source-sans-pro)"/>
              </a:rPr>
              <a:t>Stemming- or convert every word to its stem. Like dancer, dancing, danced, becomes '</a:t>
            </a:r>
            <a:r>
              <a:rPr lang="en-US" b="0" i="0" dirty="0" err="1">
                <a:solidFill>
                  <a:srgbClr val="1F1F1F"/>
                </a:solidFill>
                <a:effectLst/>
                <a:latin typeface="var(--cds-font-family-source-sans-pro)"/>
              </a:rPr>
              <a:t>danc</a:t>
            </a:r>
            <a:r>
              <a:rPr lang="en-US" b="0" i="0" dirty="0">
                <a:solidFill>
                  <a:srgbClr val="1F1F1F"/>
                </a:solidFill>
                <a:effectLst/>
                <a:latin typeface="var(--cds-font-family-source-sans-pro)"/>
              </a:rPr>
              <a:t>'. You can use porter stemmer to take care of this. </a:t>
            </a:r>
          </a:p>
          <a:p>
            <a:pPr algn="l">
              <a:buFont typeface="+mj-lt"/>
              <a:buAutoNum type="arabicPeriod"/>
            </a:pPr>
            <a:r>
              <a:rPr lang="en-US" b="0" i="0" dirty="0">
                <a:solidFill>
                  <a:srgbClr val="1F1F1F"/>
                </a:solidFill>
                <a:effectLst/>
                <a:latin typeface="var(--cds-font-family-source-sans-pro)"/>
              </a:rPr>
              <a:t>Convert all your words to lower case. </a:t>
            </a:r>
          </a:p>
          <a:p>
            <a:pPr algn="l"/>
            <a:r>
              <a:rPr lang="en-US" b="0" i="0" dirty="0">
                <a:solidFill>
                  <a:srgbClr val="1F1F1F"/>
                </a:solidFill>
                <a:effectLst/>
                <a:latin typeface="var(--cds-font-family-source-sans-pro)"/>
              </a:rPr>
              <a:t>For example, the following tweet "@</a:t>
            </a:r>
            <a:r>
              <a:rPr lang="en-US" b="0" i="0" dirty="0" err="1">
                <a:solidFill>
                  <a:srgbClr val="1F1F1F"/>
                </a:solidFill>
                <a:effectLst/>
                <a:latin typeface="var(--cds-font-family-source-sans-pro)"/>
              </a:rPr>
              <a:t>YMourri</a:t>
            </a:r>
            <a:r>
              <a:rPr lang="en-US" b="0" i="0" dirty="0">
                <a:solidFill>
                  <a:srgbClr val="1F1F1F"/>
                </a:solidFill>
                <a:effectLst/>
                <a:latin typeface="var(--cds-font-family-source-sans-pro)"/>
              </a:rPr>
              <a:t> and @AndrewYNg are tuning a GREAT AI model at https://deeplearning.ai!!!" after preprocessing becomes</a:t>
            </a:r>
          </a:p>
        </p:txBody>
      </p:sp>
      <p:pic>
        <p:nvPicPr>
          <p:cNvPr id="9" name="Picture 8">
            <a:extLst>
              <a:ext uri="{FF2B5EF4-FFF2-40B4-BE49-F238E27FC236}">
                <a16:creationId xmlns:a16="http://schemas.microsoft.com/office/drawing/2014/main" id="{3F5DE1A7-11EE-692E-7379-6835307A1CE0}"/>
              </a:ext>
            </a:extLst>
          </p:cNvPr>
          <p:cNvPicPr>
            <a:picLocks noChangeAspect="1"/>
          </p:cNvPicPr>
          <p:nvPr/>
        </p:nvPicPr>
        <p:blipFill>
          <a:blip r:embed="rId2"/>
          <a:stretch>
            <a:fillRect/>
          </a:stretch>
        </p:blipFill>
        <p:spPr>
          <a:xfrm>
            <a:off x="347862" y="3055125"/>
            <a:ext cx="7445385" cy="2903472"/>
          </a:xfrm>
          <a:prstGeom prst="rect">
            <a:avLst/>
          </a:prstGeom>
        </p:spPr>
      </p:pic>
      <p:pic>
        <p:nvPicPr>
          <p:cNvPr id="11" name="Picture 10">
            <a:extLst>
              <a:ext uri="{FF2B5EF4-FFF2-40B4-BE49-F238E27FC236}">
                <a16:creationId xmlns:a16="http://schemas.microsoft.com/office/drawing/2014/main" id="{4746B87B-CC35-9991-74D2-3E063B2F5415}"/>
              </a:ext>
            </a:extLst>
          </p:cNvPr>
          <p:cNvPicPr>
            <a:picLocks noChangeAspect="1"/>
          </p:cNvPicPr>
          <p:nvPr/>
        </p:nvPicPr>
        <p:blipFill>
          <a:blip r:embed="rId3"/>
          <a:stretch>
            <a:fillRect/>
          </a:stretch>
        </p:blipFill>
        <p:spPr>
          <a:xfrm>
            <a:off x="1556003" y="6200902"/>
            <a:ext cx="7369179" cy="624894"/>
          </a:xfrm>
          <a:prstGeom prst="rect">
            <a:avLst/>
          </a:prstGeom>
        </p:spPr>
      </p:pic>
    </p:spTree>
    <p:extLst>
      <p:ext uri="{BB962C8B-B14F-4D97-AF65-F5344CB8AC3E}">
        <p14:creationId xmlns:p14="http://schemas.microsoft.com/office/powerpoint/2010/main" val="2354916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0DF424-8B84-F6BD-9F5E-6C2B30CF0411}"/>
              </a:ext>
            </a:extLst>
          </p:cNvPr>
          <p:cNvSpPr txBox="1"/>
          <p:nvPr/>
        </p:nvSpPr>
        <p:spPr>
          <a:xfrm>
            <a:off x="117987" y="100470"/>
            <a:ext cx="6096000" cy="369332"/>
          </a:xfrm>
          <a:prstGeom prst="rect">
            <a:avLst/>
          </a:prstGeom>
          <a:noFill/>
        </p:spPr>
        <p:txBody>
          <a:bodyPr wrap="square">
            <a:spAutoFit/>
          </a:bodyPr>
          <a:lstStyle/>
          <a:p>
            <a:pPr algn="l"/>
            <a:r>
              <a:rPr lang="en-US" b="1" i="0" dirty="0">
                <a:solidFill>
                  <a:srgbClr val="1F1F1F"/>
                </a:solidFill>
                <a:effectLst/>
              </a:rPr>
              <a:t>Putting it all together</a:t>
            </a:r>
          </a:p>
        </p:txBody>
      </p:sp>
      <p:sp>
        <p:nvSpPr>
          <p:cNvPr id="7" name="TextBox 6">
            <a:extLst>
              <a:ext uri="{FF2B5EF4-FFF2-40B4-BE49-F238E27FC236}">
                <a16:creationId xmlns:a16="http://schemas.microsoft.com/office/drawing/2014/main" id="{55752766-F148-7ADC-9AE0-F7281C88CF0F}"/>
              </a:ext>
            </a:extLst>
          </p:cNvPr>
          <p:cNvSpPr txBox="1"/>
          <p:nvPr/>
        </p:nvSpPr>
        <p:spPr>
          <a:xfrm>
            <a:off x="117986" y="469802"/>
            <a:ext cx="11828207"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Overall , you start with a given text, you perform preprocessing, then you do feature extraction to convert text into numerical representation as follows:</a:t>
            </a:r>
            <a:endParaRPr lang="en-US" dirty="0"/>
          </a:p>
        </p:txBody>
      </p:sp>
      <p:pic>
        <p:nvPicPr>
          <p:cNvPr id="9" name="Picture 8">
            <a:extLst>
              <a:ext uri="{FF2B5EF4-FFF2-40B4-BE49-F238E27FC236}">
                <a16:creationId xmlns:a16="http://schemas.microsoft.com/office/drawing/2014/main" id="{627F25EC-06D6-8CB7-8840-3AC92352F954}"/>
              </a:ext>
            </a:extLst>
          </p:cNvPr>
          <p:cNvPicPr>
            <a:picLocks noChangeAspect="1"/>
          </p:cNvPicPr>
          <p:nvPr/>
        </p:nvPicPr>
        <p:blipFill>
          <a:blip r:embed="rId2"/>
          <a:stretch>
            <a:fillRect/>
          </a:stretch>
        </p:blipFill>
        <p:spPr>
          <a:xfrm>
            <a:off x="304483" y="1232331"/>
            <a:ext cx="5791517" cy="2606182"/>
          </a:xfrm>
          <a:prstGeom prst="rect">
            <a:avLst/>
          </a:prstGeom>
        </p:spPr>
      </p:pic>
      <p:pic>
        <p:nvPicPr>
          <p:cNvPr id="11" name="Picture 10">
            <a:extLst>
              <a:ext uri="{FF2B5EF4-FFF2-40B4-BE49-F238E27FC236}">
                <a16:creationId xmlns:a16="http://schemas.microsoft.com/office/drawing/2014/main" id="{1DC0765C-BF32-D753-2AD7-775A26DD4E28}"/>
              </a:ext>
            </a:extLst>
          </p:cNvPr>
          <p:cNvPicPr>
            <a:picLocks noChangeAspect="1"/>
          </p:cNvPicPr>
          <p:nvPr/>
        </p:nvPicPr>
        <p:blipFill>
          <a:blip r:embed="rId3"/>
          <a:stretch>
            <a:fillRect/>
          </a:stretch>
        </p:blipFill>
        <p:spPr>
          <a:xfrm>
            <a:off x="6820605" y="1232331"/>
            <a:ext cx="3604572" cy="2225233"/>
          </a:xfrm>
          <a:prstGeom prst="rect">
            <a:avLst/>
          </a:prstGeom>
        </p:spPr>
      </p:pic>
      <p:sp>
        <p:nvSpPr>
          <p:cNvPr id="13" name="TextBox 12">
            <a:extLst>
              <a:ext uri="{FF2B5EF4-FFF2-40B4-BE49-F238E27FC236}">
                <a16:creationId xmlns:a16="http://schemas.microsoft.com/office/drawing/2014/main" id="{A22F690F-2336-8AB8-15CB-AEB3E20C6AB6}"/>
              </a:ext>
            </a:extLst>
          </p:cNvPr>
          <p:cNvSpPr txBox="1"/>
          <p:nvPr/>
        </p:nvSpPr>
        <p:spPr>
          <a:xfrm>
            <a:off x="152241" y="4033373"/>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When implementing it with code, it becomes as follows:</a:t>
            </a:r>
            <a:endParaRPr lang="en-US" dirty="0"/>
          </a:p>
        </p:txBody>
      </p:sp>
      <p:pic>
        <p:nvPicPr>
          <p:cNvPr id="15" name="Picture 14">
            <a:extLst>
              <a:ext uri="{FF2B5EF4-FFF2-40B4-BE49-F238E27FC236}">
                <a16:creationId xmlns:a16="http://schemas.microsoft.com/office/drawing/2014/main" id="{03C4F580-D0FE-161F-0DE8-2F1701D0180D}"/>
              </a:ext>
            </a:extLst>
          </p:cNvPr>
          <p:cNvPicPr>
            <a:picLocks noChangeAspect="1"/>
          </p:cNvPicPr>
          <p:nvPr/>
        </p:nvPicPr>
        <p:blipFill>
          <a:blip r:embed="rId4"/>
          <a:stretch>
            <a:fillRect/>
          </a:stretch>
        </p:blipFill>
        <p:spPr>
          <a:xfrm>
            <a:off x="238147" y="4432788"/>
            <a:ext cx="5855679" cy="1730773"/>
          </a:xfrm>
          <a:prstGeom prst="rect">
            <a:avLst/>
          </a:prstGeom>
        </p:spPr>
      </p:pic>
      <p:pic>
        <p:nvPicPr>
          <p:cNvPr id="17" name="Picture 16">
            <a:extLst>
              <a:ext uri="{FF2B5EF4-FFF2-40B4-BE49-F238E27FC236}">
                <a16:creationId xmlns:a16="http://schemas.microsoft.com/office/drawing/2014/main" id="{C9247D6B-20C4-0612-8B62-6BC470EA1050}"/>
              </a:ext>
            </a:extLst>
          </p:cNvPr>
          <p:cNvPicPr>
            <a:picLocks noChangeAspect="1"/>
          </p:cNvPicPr>
          <p:nvPr/>
        </p:nvPicPr>
        <p:blipFill>
          <a:blip r:embed="rId5"/>
          <a:stretch>
            <a:fillRect/>
          </a:stretch>
        </p:blipFill>
        <p:spPr>
          <a:xfrm>
            <a:off x="152241" y="6237548"/>
            <a:ext cx="7437765" cy="518205"/>
          </a:xfrm>
          <a:prstGeom prst="rect">
            <a:avLst/>
          </a:prstGeom>
        </p:spPr>
      </p:pic>
    </p:spTree>
    <p:extLst>
      <p:ext uri="{BB962C8B-B14F-4D97-AF65-F5344CB8AC3E}">
        <p14:creationId xmlns:p14="http://schemas.microsoft.com/office/powerpoint/2010/main" val="3352682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455666-E982-FE4E-4045-7D282743CF9F}"/>
              </a:ext>
            </a:extLst>
          </p:cNvPr>
          <p:cNvSpPr txBox="1"/>
          <p:nvPr/>
        </p:nvSpPr>
        <p:spPr>
          <a:xfrm>
            <a:off x="88490" y="120134"/>
            <a:ext cx="6096000" cy="369332"/>
          </a:xfrm>
          <a:prstGeom prst="rect">
            <a:avLst/>
          </a:prstGeom>
          <a:noFill/>
        </p:spPr>
        <p:txBody>
          <a:bodyPr wrap="square">
            <a:spAutoFit/>
          </a:bodyPr>
          <a:lstStyle/>
          <a:p>
            <a:pPr algn="l"/>
            <a:r>
              <a:rPr lang="en-US" b="1" i="0" dirty="0">
                <a:solidFill>
                  <a:srgbClr val="1F1F1F"/>
                </a:solidFill>
                <a:effectLst/>
              </a:rPr>
              <a:t>Logistic Regression Overview</a:t>
            </a:r>
          </a:p>
        </p:txBody>
      </p:sp>
      <p:pic>
        <p:nvPicPr>
          <p:cNvPr id="7" name="Picture 6">
            <a:extLst>
              <a:ext uri="{FF2B5EF4-FFF2-40B4-BE49-F238E27FC236}">
                <a16:creationId xmlns:a16="http://schemas.microsoft.com/office/drawing/2014/main" id="{92AEE6E7-D1FB-4DCF-6008-627144D75432}"/>
              </a:ext>
            </a:extLst>
          </p:cNvPr>
          <p:cNvPicPr>
            <a:picLocks noChangeAspect="1"/>
          </p:cNvPicPr>
          <p:nvPr/>
        </p:nvPicPr>
        <p:blipFill>
          <a:blip r:embed="rId2"/>
          <a:stretch>
            <a:fillRect/>
          </a:stretch>
        </p:blipFill>
        <p:spPr>
          <a:xfrm>
            <a:off x="0" y="568123"/>
            <a:ext cx="6511815" cy="3354947"/>
          </a:xfrm>
          <a:prstGeom prst="rect">
            <a:avLst/>
          </a:prstGeom>
        </p:spPr>
      </p:pic>
      <p:pic>
        <p:nvPicPr>
          <p:cNvPr id="9" name="Picture 8">
            <a:extLst>
              <a:ext uri="{FF2B5EF4-FFF2-40B4-BE49-F238E27FC236}">
                <a16:creationId xmlns:a16="http://schemas.microsoft.com/office/drawing/2014/main" id="{3BF8FEB7-4334-DDA3-F08F-D77093467497}"/>
              </a:ext>
            </a:extLst>
          </p:cNvPr>
          <p:cNvPicPr>
            <a:picLocks noChangeAspect="1"/>
          </p:cNvPicPr>
          <p:nvPr/>
        </p:nvPicPr>
        <p:blipFill>
          <a:blip r:embed="rId3"/>
          <a:stretch>
            <a:fillRect/>
          </a:stretch>
        </p:blipFill>
        <p:spPr>
          <a:xfrm>
            <a:off x="6511815" y="568123"/>
            <a:ext cx="5624052" cy="3515032"/>
          </a:xfrm>
          <a:prstGeom prst="rect">
            <a:avLst/>
          </a:prstGeom>
        </p:spPr>
      </p:pic>
    </p:spTree>
    <p:extLst>
      <p:ext uri="{BB962C8B-B14F-4D97-AF65-F5344CB8AC3E}">
        <p14:creationId xmlns:p14="http://schemas.microsoft.com/office/powerpoint/2010/main" val="2980227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BC35EB-5487-9D9F-825B-C0BD415FA854}"/>
              </a:ext>
            </a:extLst>
          </p:cNvPr>
          <p:cNvSpPr txBox="1"/>
          <p:nvPr/>
        </p:nvSpPr>
        <p:spPr>
          <a:xfrm>
            <a:off x="0" y="70973"/>
            <a:ext cx="6096000" cy="369332"/>
          </a:xfrm>
          <a:prstGeom prst="rect">
            <a:avLst/>
          </a:prstGeom>
          <a:noFill/>
        </p:spPr>
        <p:txBody>
          <a:bodyPr wrap="square">
            <a:spAutoFit/>
          </a:bodyPr>
          <a:lstStyle/>
          <a:p>
            <a:pPr algn="l"/>
            <a:r>
              <a:rPr lang="en-US" b="1" i="0" dirty="0">
                <a:solidFill>
                  <a:srgbClr val="1F1F1F"/>
                </a:solidFill>
                <a:effectLst/>
              </a:rPr>
              <a:t>Logistic Regression: Training</a:t>
            </a:r>
          </a:p>
        </p:txBody>
      </p:sp>
      <p:sp>
        <p:nvSpPr>
          <p:cNvPr id="7" name="TextBox 6">
            <a:extLst>
              <a:ext uri="{FF2B5EF4-FFF2-40B4-BE49-F238E27FC236}">
                <a16:creationId xmlns:a16="http://schemas.microsoft.com/office/drawing/2014/main" id="{93093871-A2EA-6055-2B2C-9FD75C05A205}"/>
              </a:ext>
            </a:extLst>
          </p:cNvPr>
          <p:cNvSpPr txBox="1"/>
          <p:nvPr/>
        </p:nvSpPr>
        <p:spPr>
          <a:xfrm>
            <a:off x="0" y="451437"/>
            <a:ext cx="8354961"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train your logistic regression function, you will do the following:</a:t>
            </a:r>
            <a:endParaRPr lang="en-US" dirty="0"/>
          </a:p>
        </p:txBody>
      </p:sp>
      <p:pic>
        <p:nvPicPr>
          <p:cNvPr id="9" name="Picture 8">
            <a:extLst>
              <a:ext uri="{FF2B5EF4-FFF2-40B4-BE49-F238E27FC236}">
                <a16:creationId xmlns:a16="http://schemas.microsoft.com/office/drawing/2014/main" id="{9AF167AA-FBA0-ABED-BE31-040021A2102D}"/>
              </a:ext>
            </a:extLst>
          </p:cNvPr>
          <p:cNvPicPr>
            <a:picLocks noChangeAspect="1"/>
          </p:cNvPicPr>
          <p:nvPr/>
        </p:nvPicPr>
        <p:blipFill>
          <a:blip r:embed="rId2"/>
          <a:stretch>
            <a:fillRect/>
          </a:stretch>
        </p:blipFill>
        <p:spPr>
          <a:xfrm>
            <a:off x="90624" y="931768"/>
            <a:ext cx="5572757" cy="3565427"/>
          </a:xfrm>
          <a:prstGeom prst="rect">
            <a:avLst/>
          </a:prstGeom>
        </p:spPr>
      </p:pic>
      <p:pic>
        <p:nvPicPr>
          <p:cNvPr id="11" name="Picture 10">
            <a:extLst>
              <a:ext uri="{FF2B5EF4-FFF2-40B4-BE49-F238E27FC236}">
                <a16:creationId xmlns:a16="http://schemas.microsoft.com/office/drawing/2014/main" id="{2AC8C48A-3D01-8B69-46FE-6874C67CB25A}"/>
              </a:ext>
            </a:extLst>
          </p:cNvPr>
          <p:cNvPicPr>
            <a:picLocks noChangeAspect="1"/>
          </p:cNvPicPr>
          <p:nvPr/>
        </p:nvPicPr>
        <p:blipFill>
          <a:blip r:embed="rId3"/>
          <a:stretch>
            <a:fillRect/>
          </a:stretch>
        </p:blipFill>
        <p:spPr>
          <a:xfrm>
            <a:off x="230488" y="4682280"/>
            <a:ext cx="7483488" cy="1996613"/>
          </a:xfrm>
          <a:prstGeom prst="rect">
            <a:avLst/>
          </a:prstGeom>
        </p:spPr>
      </p:pic>
      <p:pic>
        <p:nvPicPr>
          <p:cNvPr id="13" name="Picture 12">
            <a:extLst>
              <a:ext uri="{FF2B5EF4-FFF2-40B4-BE49-F238E27FC236}">
                <a16:creationId xmlns:a16="http://schemas.microsoft.com/office/drawing/2014/main" id="{8991E1B7-8EF6-33E8-2D49-472C6D1C4022}"/>
              </a:ext>
            </a:extLst>
          </p:cNvPr>
          <p:cNvPicPr>
            <a:picLocks noChangeAspect="1"/>
          </p:cNvPicPr>
          <p:nvPr/>
        </p:nvPicPr>
        <p:blipFill>
          <a:blip r:embed="rId4"/>
          <a:stretch>
            <a:fillRect/>
          </a:stretch>
        </p:blipFill>
        <p:spPr>
          <a:xfrm>
            <a:off x="8404122" y="3663988"/>
            <a:ext cx="3109229" cy="2872989"/>
          </a:xfrm>
          <a:prstGeom prst="rect">
            <a:avLst/>
          </a:prstGeom>
        </p:spPr>
      </p:pic>
    </p:spTree>
    <p:extLst>
      <p:ext uri="{BB962C8B-B14F-4D97-AF65-F5344CB8AC3E}">
        <p14:creationId xmlns:p14="http://schemas.microsoft.com/office/powerpoint/2010/main" val="1393274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D79931-5A95-CC25-A3E8-5B89AAF8466B}"/>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Logistic Regression: Testing</a:t>
            </a:r>
          </a:p>
        </p:txBody>
      </p:sp>
      <p:pic>
        <p:nvPicPr>
          <p:cNvPr id="7" name="Picture 6">
            <a:extLst>
              <a:ext uri="{FF2B5EF4-FFF2-40B4-BE49-F238E27FC236}">
                <a16:creationId xmlns:a16="http://schemas.microsoft.com/office/drawing/2014/main" id="{021B49F1-262C-6C4A-8EE9-12C04DB3453C}"/>
              </a:ext>
            </a:extLst>
          </p:cNvPr>
          <p:cNvPicPr>
            <a:picLocks noChangeAspect="1"/>
          </p:cNvPicPr>
          <p:nvPr/>
        </p:nvPicPr>
        <p:blipFill>
          <a:blip r:embed="rId2"/>
          <a:stretch>
            <a:fillRect/>
          </a:stretch>
        </p:blipFill>
        <p:spPr>
          <a:xfrm>
            <a:off x="172720" y="369332"/>
            <a:ext cx="7559695" cy="3025402"/>
          </a:xfrm>
          <a:prstGeom prst="rect">
            <a:avLst/>
          </a:prstGeom>
        </p:spPr>
      </p:pic>
      <p:pic>
        <p:nvPicPr>
          <p:cNvPr id="9" name="Picture 8">
            <a:extLst>
              <a:ext uri="{FF2B5EF4-FFF2-40B4-BE49-F238E27FC236}">
                <a16:creationId xmlns:a16="http://schemas.microsoft.com/office/drawing/2014/main" id="{CB8A687E-2801-28DE-D7D8-7862EDDB4902}"/>
              </a:ext>
            </a:extLst>
          </p:cNvPr>
          <p:cNvPicPr>
            <a:picLocks noChangeAspect="1"/>
          </p:cNvPicPr>
          <p:nvPr/>
        </p:nvPicPr>
        <p:blipFill>
          <a:blip r:embed="rId3"/>
          <a:stretch>
            <a:fillRect/>
          </a:stretch>
        </p:blipFill>
        <p:spPr>
          <a:xfrm>
            <a:off x="317620" y="3615679"/>
            <a:ext cx="7643522" cy="2872989"/>
          </a:xfrm>
          <a:prstGeom prst="rect">
            <a:avLst/>
          </a:prstGeom>
        </p:spPr>
      </p:pic>
    </p:spTree>
    <p:extLst>
      <p:ext uri="{BB962C8B-B14F-4D97-AF65-F5344CB8AC3E}">
        <p14:creationId xmlns:p14="http://schemas.microsoft.com/office/powerpoint/2010/main" val="3594010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58E4C0-2CD7-58B7-E796-2071F36B767C}"/>
              </a:ext>
            </a:extLst>
          </p:cNvPr>
          <p:cNvSpPr txBox="1"/>
          <p:nvPr/>
        </p:nvSpPr>
        <p:spPr>
          <a:xfrm>
            <a:off x="0" y="90637"/>
            <a:ext cx="6096000" cy="369332"/>
          </a:xfrm>
          <a:prstGeom prst="rect">
            <a:avLst/>
          </a:prstGeom>
          <a:noFill/>
        </p:spPr>
        <p:txBody>
          <a:bodyPr wrap="square">
            <a:spAutoFit/>
          </a:bodyPr>
          <a:lstStyle/>
          <a:p>
            <a:pPr algn="l"/>
            <a:r>
              <a:rPr lang="en-US" b="1" i="0" dirty="0">
                <a:solidFill>
                  <a:srgbClr val="1F1F1F"/>
                </a:solidFill>
                <a:effectLst/>
              </a:rPr>
              <a:t>Optional Logistic Regression: Cost Function</a:t>
            </a:r>
          </a:p>
        </p:txBody>
      </p:sp>
      <p:pic>
        <p:nvPicPr>
          <p:cNvPr id="6" name="Picture 5">
            <a:extLst>
              <a:ext uri="{FF2B5EF4-FFF2-40B4-BE49-F238E27FC236}">
                <a16:creationId xmlns:a16="http://schemas.microsoft.com/office/drawing/2014/main" id="{720F2793-2962-06F0-7B1C-7DEE13DACA38}"/>
              </a:ext>
            </a:extLst>
          </p:cNvPr>
          <p:cNvPicPr>
            <a:picLocks noChangeAspect="1"/>
          </p:cNvPicPr>
          <p:nvPr/>
        </p:nvPicPr>
        <p:blipFill>
          <a:blip r:embed="rId2"/>
          <a:stretch>
            <a:fillRect/>
          </a:stretch>
        </p:blipFill>
        <p:spPr>
          <a:xfrm>
            <a:off x="251991" y="531604"/>
            <a:ext cx="9462280" cy="5722924"/>
          </a:xfrm>
          <a:prstGeom prst="rect">
            <a:avLst/>
          </a:prstGeom>
        </p:spPr>
      </p:pic>
    </p:spTree>
    <p:extLst>
      <p:ext uri="{BB962C8B-B14F-4D97-AF65-F5344CB8AC3E}">
        <p14:creationId xmlns:p14="http://schemas.microsoft.com/office/powerpoint/2010/main" val="519286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14DF08-B74A-7606-9A97-D03BF50E6E69}"/>
              </a:ext>
            </a:extLst>
          </p:cNvPr>
          <p:cNvSpPr txBox="1"/>
          <p:nvPr/>
        </p:nvSpPr>
        <p:spPr>
          <a:xfrm>
            <a:off x="0" y="90637"/>
            <a:ext cx="6096000" cy="369332"/>
          </a:xfrm>
          <a:prstGeom prst="rect">
            <a:avLst/>
          </a:prstGeom>
          <a:noFill/>
        </p:spPr>
        <p:txBody>
          <a:bodyPr wrap="square">
            <a:spAutoFit/>
          </a:bodyPr>
          <a:lstStyle/>
          <a:p>
            <a:pPr algn="l"/>
            <a:r>
              <a:rPr lang="en-US" b="1" i="0" dirty="0">
                <a:solidFill>
                  <a:srgbClr val="1F1F1F"/>
                </a:solidFill>
                <a:effectLst/>
              </a:rPr>
              <a:t>Optional Logistic Regression: Cost Function (</a:t>
            </a:r>
            <a:r>
              <a:rPr lang="en-US" b="1" i="0" dirty="0" err="1">
                <a:solidFill>
                  <a:srgbClr val="1F1F1F"/>
                </a:solidFill>
                <a:effectLst/>
              </a:rPr>
              <a:t>contd</a:t>
            </a:r>
            <a:r>
              <a:rPr lang="en-US" b="1" i="0" dirty="0">
                <a:solidFill>
                  <a:srgbClr val="1F1F1F"/>
                </a:solidFill>
                <a:effectLst/>
              </a:rPr>
              <a:t>…)</a:t>
            </a:r>
          </a:p>
        </p:txBody>
      </p:sp>
      <p:pic>
        <p:nvPicPr>
          <p:cNvPr id="6" name="Picture 5">
            <a:extLst>
              <a:ext uri="{FF2B5EF4-FFF2-40B4-BE49-F238E27FC236}">
                <a16:creationId xmlns:a16="http://schemas.microsoft.com/office/drawing/2014/main" id="{135CD544-B7CC-BD52-3F77-1186A5A7A162}"/>
              </a:ext>
            </a:extLst>
          </p:cNvPr>
          <p:cNvPicPr>
            <a:picLocks noChangeAspect="1"/>
          </p:cNvPicPr>
          <p:nvPr/>
        </p:nvPicPr>
        <p:blipFill rotWithShape="1">
          <a:blip r:embed="rId2"/>
          <a:srcRect r="2258"/>
          <a:stretch/>
        </p:blipFill>
        <p:spPr>
          <a:xfrm>
            <a:off x="169017" y="459969"/>
            <a:ext cx="6487421" cy="4522553"/>
          </a:xfrm>
          <a:prstGeom prst="rect">
            <a:avLst/>
          </a:prstGeom>
        </p:spPr>
      </p:pic>
      <p:pic>
        <p:nvPicPr>
          <p:cNvPr id="8" name="Picture 7">
            <a:extLst>
              <a:ext uri="{FF2B5EF4-FFF2-40B4-BE49-F238E27FC236}">
                <a16:creationId xmlns:a16="http://schemas.microsoft.com/office/drawing/2014/main" id="{F1263119-2A1C-3C03-0DD4-42DFCF2583D6}"/>
              </a:ext>
            </a:extLst>
          </p:cNvPr>
          <p:cNvPicPr>
            <a:picLocks noChangeAspect="1"/>
          </p:cNvPicPr>
          <p:nvPr/>
        </p:nvPicPr>
        <p:blipFill>
          <a:blip r:embed="rId3"/>
          <a:stretch>
            <a:fillRect/>
          </a:stretch>
        </p:blipFill>
        <p:spPr>
          <a:xfrm>
            <a:off x="6902648" y="748206"/>
            <a:ext cx="4497083" cy="3214194"/>
          </a:xfrm>
          <a:prstGeom prst="rect">
            <a:avLst/>
          </a:prstGeom>
        </p:spPr>
      </p:pic>
      <p:pic>
        <p:nvPicPr>
          <p:cNvPr id="10" name="Picture 9">
            <a:extLst>
              <a:ext uri="{FF2B5EF4-FFF2-40B4-BE49-F238E27FC236}">
                <a16:creationId xmlns:a16="http://schemas.microsoft.com/office/drawing/2014/main" id="{D537CEB7-572C-3982-DDD1-61D9D0A1377E}"/>
              </a:ext>
            </a:extLst>
          </p:cNvPr>
          <p:cNvPicPr>
            <a:picLocks noChangeAspect="1"/>
          </p:cNvPicPr>
          <p:nvPr/>
        </p:nvPicPr>
        <p:blipFill>
          <a:blip r:embed="rId4"/>
          <a:stretch>
            <a:fillRect/>
          </a:stretch>
        </p:blipFill>
        <p:spPr>
          <a:xfrm>
            <a:off x="5908929" y="4839016"/>
            <a:ext cx="6015732" cy="1928347"/>
          </a:xfrm>
          <a:prstGeom prst="rect">
            <a:avLst/>
          </a:prstGeom>
        </p:spPr>
      </p:pic>
    </p:spTree>
    <p:extLst>
      <p:ext uri="{BB962C8B-B14F-4D97-AF65-F5344CB8AC3E}">
        <p14:creationId xmlns:p14="http://schemas.microsoft.com/office/powerpoint/2010/main" val="2062530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FE30723-BD4F-84DE-F14D-BE9629152C18}"/>
              </a:ext>
            </a:extLst>
          </p:cNvPr>
          <p:cNvPicPr>
            <a:picLocks noChangeAspect="1"/>
          </p:cNvPicPr>
          <p:nvPr/>
        </p:nvPicPr>
        <p:blipFill rotWithShape="1">
          <a:blip r:embed="rId2"/>
          <a:srcRect t="33660"/>
          <a:stretch/>
        </p:blipFill>
        <p:spPr>
          <a:xfrm>
            <a:off x="121826" y="619433"/>
            <a:ext cx="7818798" cy="3063686"/>
          </a:xfrm>
          <a:prstGeom prst="rect">
            <a:avLst/>
          </a:prstGeom>
        </p:spPr>
      </p:pic>
      <p:sp>
        <p:nvSpPr>
          <p:cNvPr id="9" name="TextBox 8">
            <a:extLst>
              <a:ext uri="{FF2B5EF4-FFF2-40B4-BE49-F238E27FC236}">
                <a16:creationId xmlns:a16="http://schemas.microsoft.com/office/drawing/2014/main" id="{B9655E5B-8F22-B4BF-2789-A763B074F307}"/>
              </a:ext>
            </a:extLst>
          </p:cNvPr>
          <p:cNvSpPr txBox="1"/>
          <p:nvPr/>
        </p:nvSpPr>
        <p:spPr>
          <a:xfrm>
            <a:off x="121826" y="70973"/>
            <a:ext cx="6096000" cy="369332"/>
          </a:xfrm>
          <a:prstGeom prst="rect">
            <a:avLst/>
          </a:prstGeom>
          <a:noFill/>
        </p:spPr>
        <p:txBody>
          <a:bodyPr wrap="square">
            <a:spAutoFit/>
          </a:bodyPr>
          <a:lstStyle/>
          <a:p>
            <a:pPr algn="l"/>
            <a:r>
              <a:rPr lang="en-US" b="1" i="0" dirty="0">
                <a:solidFill>
                  <a:srgbClr val="1F1F1F"/>
                </a:solidFill>
                <a:effectLst/>
              </a:rPr>
              <a:t>Optional Logistic Regression: Gradient</a:t>
            </a:r>
          </a:p>
        </p:txBody>
      </p:sp>
      <p:pic>
        <p:nvPicPr>
          <p:cNvPr id="11" name="Picture 10">
            <a:extLst>
              <a:ext uri="{FF2B5EF4-FFF2-40B4-BE49-F238E27FC236}">
                <a16:creationId xmlns:a16="http://schemas.microsoft.com/office/drawing/2014/main" id="{FF1E0FBC-65CD-8DB7-B82F-4A8CDF39E1AB}"/>
              </a:ext>
            </a:extLst>
          </p:cNvPr>
          <p:cNvPicPr>
            <a:picLocks noChangeAspect="1"/>
          </p:cNvPicPr>
          <p:nvPr/>
        </p:nvPicPr>
        <p:blipFill>
          <a:blip r:embed="rId3"/>
          <a:stretch>
            <a:fillRect/>
          </a:stretch>
        </p:blipFill>
        <p:spPr>
          <a:xfrm>
            <a:off x="351831" y="3862247"/>
            <a:ext cx="6591871" cy="1531753"/>
          </a:xfrm>
          <a:prstGeom prst="rect">
            <a:avLst/>
          </a:prstGeom>
        </p:spPr>
      </p:pic>
      <p:pic>
        <p:nvPicPr>
          <p:cNvPr id="13" name="Picture 12">
            <a:extLst>
              <a:ext uri="{FF2B5EF4-FFF2-40B4-BE49-F238E27FC236}">
                <a16:creationId xmlns:a16="http://schemas.microsoft.com/office/drawing/2014/main" id="{B05311CA-715E-3B0F-B2C4-4E1CDAC891A4}"/>
              </a:ext>
            </a:extLst>
          </p:cNvPr>
          <p:cNvPicPr>
            <a:picLocks noChangeAspect="1"/>
          </p:cNvPicPr>
          <p:nvPr/>
        </p:nvPicPr>
        <p:blipFill>
          <a:blip r:embed="rId4"/>
          <a:stretch>
            <a:fillRect/>
          </a:stretch>
        </p:blipFill>
        <p:spPr>
          <a:xfrm>
            <a:off x="499795" y="5573128"/>
            <a:ext cx="6866215" cy="1074513"/>
          </a:xfrm>
          <a:prstGeom prst="rect">
            <a:avLst/>
          </a:prstGeom>
        </p:spPr>
      </p:pic>
      <p:pic>
        <p:nvPicPr>
          <p:cNvPr id="15" name="Picture 14">
            <a:extLst>
              <a:ext uri="{FF2B5EF4-FFF2-40B4-BE49-F238E27FC236}">
                <a16:creationId xmlns:a16="http://schemas.microsoft.com/office/drawing/2014/main" id="{6892C4BE-6C11-AC30-14D6-8184754CCE15}"/>
              </a:ext>
            </a:extLst>
          </p:cNvPr>
          <p:cNvPicPr>
            <a:picLocks noChangeAspect="1"/>
          </p:cNvPicPr>
          <p:nvPr/>
        </p:nvPicPr>
        <p:blipFill>
          <a:blip r:embed="rId5"/>
          <a:stretch>
            <a:fillRect/>
          </a:stretch>
        </p:blipFill>
        <p:spPr>
          <a:xfrm>
            <a:off x="7541528" y="5634092"/>
            <a:ext cx="1356478" cy="952583"/>
          </a:xfrm>
          <a:prstGeom prst="rect">
            <a:avLst/>
          </a:prstGeom>
        </p:spPr>
      </p:pic>
    </p:spTree>
    <p:extLst>
      <p:ext uri="{BB962C8B-B14F-4D97-AF65-F5344CB8AC3E}">
        <p14:creationId xmlns:p14="http://schemas.microsoft.com/office/powerpoint/2010/main" val="818601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4342B1-B622-FB4C-8257-6DEEF02705CF}"/>
              </a:ext>
            </a:extLst>
          </p:cNvPr>
          <p:cNvSpPr txBox="1"/>
          <p:nvPr/>
        </p:nvSpPr>
        <p:spPr>
          <a:xfrm>
            <a:off x="121826" y="70973"/>
            <a:ext cx="6096000" cy="369332"/>
          </a:xfrm>
          <a:prstGeom prst="rect">
            <a:avLst/>
          </a:prstGeom>
          <a:noFill/>
        </p:spPr>
        <p:txBody>
          <a:bodyPr wrap="square">
            <a:spAutoFit/>
          </a:bodyPr>
          <a:lstStyle/>
          <a:p>
            <a:pPr algn="l"/>
            <a:r>
              <a:rPr lang="en-US" b="1" i="0" dirty="0">
                <a:solidFill>
                  <a:srgbClr val="1F1F1F"/>
                </a:solidFill>
                <a:effectLst/>
              </a:rPr>
              <a:t>Optional Logistic Regression: Gradient (contd..)</a:t>
            </a:r>
          </a:p>
        </p:txBody>
      </p:sp>
      <p:pic>
        <p:nvPicPr>
          <p:cNvPr id="6" name="Picture 5">
            <a:extLst>
              <a:ext uri="{FF2B5EF4-FFF2-40B4-BE49-F238E27FC236}">
                <a16:creationId xmlns:a16="http://schemas.microsoft.com/office/drawing/2014/main" id="{73C29183-E3A2-9494-EE2E-99E9D7B5B32B}"/>
              </a:ext>
            </a:extLst>
          </p:cNvPr>
          <p:cNvPicPr>
            <a:picLocks noChangeAspect="1"/>
          </p:cNvPicPr>
          <p:nvPr/>
        </p:nvPicPr>
        <p:blipFill>
          <a:blip r:embed="rId2"/>
          <a:stretch>
            <a:fillRect/>
          </a:stretch>
        </p:blipFill>
        <p:spPr>
          <a:xfrm>
            <a:off x="121826" y="440305"/>
            <a:ext cx="7658764" cy="731583"/>
          </a:xfrm>
          <a:prstGeom prst="rect">
            <a:avLst/>
          </a:prstGeom>
        </p:spPr>
      </p:pic>
      <p:pic>
        <p:nvPicPr>
          <p:cNvPr id="8" name="Picture 7">
            <a:extLst>
              <a:ext uri="{FF2B5EF4-FFF2-40B4-BE49-F238E27FC236}">
                <a16:creationId xmlns:a16="http://schemas.microsoft.com/office/drawing/2014/main" id="{F8FE8E63-F649-0D41-0E1F-05216C6ADAA1}"/>
              </a:ext>
            </a:extLst>
          </p:cNvPr>
          <p:cNvPicPr>
            <a:picLocks noChangeAspect="1"/>
          </p:cNvPicPr>
          <p:nvPr/>
        </p:nvPicPr>
        <p:blipFill>
          <a:blip r:embed="rId3"/>
          <a:stretch>
            <a:fillRect/>
          </a:stretch>
        </p:blipFill>
        <p:spPr>
          <a:xfrm>
            <a:off x="910408" y="1354407"/>
            <a:ext cx="6583323" cy="4082832"/>
          </a:xfrm>
          <a:prstGeom prst="rect">
            <a:avLst/>
          </a:prstGeom>
        </p:spPr>
      </p:pic>
      <p:pic>
        <p:nvPicPr>
          <p:cNvPr id="10" name="Picture 9">
            <a:extLst>
              <a:ext uri="{FF2B5EF4-FFF2-40B4-BE49-F238E27FC236}">
                <a16:creationId xmlns:a16="http://schemas.microsoft.com/office/drawing/2014/main" id="{55D62F46-DDC7-D66F-B816-AD0F046ED288}"/>
              </a:ext>
            </a:extLst>
          </p:cNvPr>
          <p:cNvPicPr>
            <a:picLocks noChangeAspect="1"/>
          </p:cNvPicPr>
          <p:nvPr/>
        </p:nvPicPr>
        <p:blipFill>
          <a:blip r:embed="rId4"/>
          <a:stretch>
            <a:fillRect/>
          </a:stretch>
        </p:blipFill>
        <p:spPr>
          <a:xfrm>
            <a:off x="910408" y="5437239"/>
            <a:ext cx="3963628" cy="1278193"/>
          </a:xfrm>
          <a:prstGeom prst="rect">
            <a:avLst/>
          </a:prstGeom>
        </p:spPr>
      </p:pic>
      <p:pic>
        <p:nvPicPr>
          <p:cNvPr id="12" name="Picture 11">
            <a:extLst>
              <a:ext uri="{FF2B5EF4-FFF2-40B4-BE49-F238E27FC236}">
                <a16:creationId xmlns:a16="http://schemas.microsoft.com/office/drawing/2014/main" id="{9D540DAD-51EB-73FA-BA22-BA7B97ECC329}"/>
              </a:ext>
            </a:extLst>
          </p:cNvPr>
          <p:cNvPicPr>
            <a:picLocks noChangeAspect="1"/>
          </p:cNvPicPr>
          <p:nvPr/>
        </p:nvPicPr>
        <p:blipFill>
          <a:blip r:embed="rId5"/>
          <a:stretch>
            <a:fillRect/>
          </a:stretch>
        </p:blipFill>
        <p:spPr>
          <a:xfrm>
            <a:off x="121826" y="1315641"/>
            <a:ext cx="975445" cy="495343"/>
          </a:xfrm>
          <a:prstGeom prst="rect">
            <a:avLst/>
          </a:prstGeom>
        </p:spPr>
      </p:pic>
      <p:pic>
        <p:nvPicPr>
          <p:cNvPr id="14" name="Picture 13">
            <a:extLst>
              <a:ext uri="{FF2B5EF4-FFF2-40B4-BE49-F238E27FC236}">
                <a16:creationId xmlns:a16="http://schemas.microsoft.com/office/drawing/2014/main" id="{84630BB3-F3B7-151A-7F15-0C379A95179B}"/>
              </a:ext>
            </a:extLst>
          </p:cNvPr>
          <p:cNvPicPr>
            <a:picLocks noChangeAspect="1"/>
          </p:cNvPicPr>
          <p:nvPr/>
        </p:nvPicPr>
        <p:blipFill>
          <a:blip r:embed="rId6"/>
          <a:stretch>
            <a:fillRect/>
          </a:stretch>
        </p:blipFill>
        <p:spPr>
          <a:xfrm>
            <a:off x="5740823" y="5402537"/>
            <a:ext cx="5082980" cy="1158340"/>
          </a:xfrm>
          <a:prstGeom prst="rect">
            <a:avLst/>
          </a:prstGeom>
        </p:spPr>
      </p:pic>
    </p:spTree>
    <p:extLst>
      <p:ext uri="{BB962C8B-B14F-4D97-AF65-F5344CB8AC3E}">
        <p14:creationId xmlns:p14="http://schemas.microsoft.com/office/powerpoint/2010/main" val="968342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458</Words>
  <Application>Microsoft Office PowerPoint</Application>
  <PresentationFormat>Widescreen</PresentationFormat>
  <Paragraphs>28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KaTeX_Main</vt:lpstr>
      <vt:lpstr>KaTeX_Math</vt:lpstr>
      <vt:lpstr>Source Sans Pro</vt:lpstr>
      <vt:lpstr>var(--cds-font-family-source-sans-pro)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54</cp:revision>
  <dcterms:created xsi:type="dcterms:W3CDTF">2024-01-13T12:33:08Z</dcterms:created>
  <dcterms:modified xsi:type="dcterms:W3CDTF">2024-01-13T13:29:29Z</dcterms:modified>
</cp:coreProperties>
</file>