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3C940-9729-57D2-BA8D-C7F1D60634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327CCE-7944-6A04-3477-AAC4B1AA83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1B58AE-35D1-D9B5-4A9A-6C100A57375A}"/>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DCDFDDB9-E876-AA6D-A860-B8081A2E1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342FA-71FB-7AD0-FFE0-C05AAEDCEC09}"/>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3827434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F47EE-2B5B-D42F-E906-02FAF24A00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76806-1493-4C21-9119-0AA09A1603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FB2FD-4FA1-7041-2746-26A6911D9AF3}"/>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5D56BD1B-5531-5D7D-C93C-A0A93B165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CD57DE-9233-3F27-63D1-23C36BAD2A31}"/>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321403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0F31-9313-891F-0584-A1DBA7E199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32D4B5-B188-84B0-E435-C87B1C6CDB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33433C-C12A-C011-5299-DA5036F01AF9}"/>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D85B4548-3E3F-BD36-C3D3-8EC001A35E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FA37B-15C7-762B-C044-7BDDE1766E2A}"/>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4098110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61260-7783-9EB9-9760-5F7E9E8196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A1EEDB-9D1E-966C-7DDC-1D83A3DD9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52B0D1-9CC2-3D45-C07C-22EEDEAA22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EB4A82-FF68-913C-0611-57373BF42ECD}"/>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6" name="Footer Placeholder 5">
            <a:extLst>
              <a:ext uri="{FF2B5EF4-FFF2-40B4-BE49-F238E27FC236}">
                <a16:creationId xmlns:a16="http://schemas.microsoft.com/office/drawing/2014/main" id="{9019F985-E393-1FB4-3385-49ED06BD80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E69021-AA83-B036-B331-BD2D65D126C4}"/>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2539028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14564-4670-296F-1B0A-5DAD1BB85C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7042DF-3D5E-1C13-1A2A-4A9534682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A6E7DC-1D84-82AD-34E2-EEB8E2AB24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13D088-9421-A180-E9D0-8912F1E2B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685C00-B686-7B65-91E2-FE135D1B1F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74DEFD-68CC-1829-FFA8-F8750049F847}"/>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8" name="Footer Placeholder 7">
            <a:extLst>
              <a:ext uri="{FF2B5EF4-FFF2-40B4-BE49-F238E27FC236}">
                <a16:creationId xmlns:a16="http://schemas.microsoft.com/office/drawing/2014/main" id="{4AAB683F-30CD-EACE-E404-357675CB85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FCD7EC-4EAA-CEA7-5AA6-A37F1E06B1C7}"/>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835259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878B-9177-6A2B-0735-E386A0ED75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2964BF-2B6E-CDBD-AD1C-1F6E278636E8}"/>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4" name="Footer Placeholder 3">
            <a:extLst>
              <a:ext uri="{FF2B5EF4-FFF2-40B4-BE49-F238E27FC236}">
                <a16:creationId xmlns:a16="http://schemas.microsoft.com/office/drawing/2014/main" id="{712C1F70-1384-8FF0-51C1-D1A43417FD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AE1DAB-5BB3-F7E6-2980-86E0574EB8C4}"/>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876399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979282-CC21-B47D-C81B-5A8ECAF46CD2}"/>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3" name="Footer Placeholder 2">
            <a:extLst>
              <a:ext uri="{FF2B5EF4-FFF2-40B4-BE49-F238E27FC236}">
                <a16:creationId xmlns:a16="http://schemas.microsoft.com/office/drawing/2014/main" id="{CFACF59E-16C6-4026-D557-EDC30F1615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666E6C-42B5-8D47-E340-B773FAD10A58}"/>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248978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B95F-AC3E-BC87-8763-62DA10791D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262A58-9BBE-7C3C-5F66-BC7B27939D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C024CA-E5E8-25A6-F046-01B8338FB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DD7B6A-4205-D77C-D4E9-26B0BF3E71F6}"/>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6" name="Footer Placeholder 5">
            <a:extLst>
              <a:ext uri="{FF2B5EF4-FFF2-40B4-BE49-F238E27FC236}">
                <a16:creationId xmlns:a16="http://schemas.microsoft.com/office/drawing/2014/main" id="{F0891E15-5C32-7200-81B8-887610C60C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9FBF25-F1E2-D674-EBFB-53C37FBDAE2C}"/>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204843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CBD7A-3E5A-A3F5-0BA4-B091091AD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E9BBAB-6A76-A67B-B31D-1E62D69163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BA4F78-9ED7-F389-4173-7FDF83A2B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D8C9DE-CCB6-849B-74DF-D2691B1A0066}"/>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6" name="Footer Placeholder 5">
            <a:extLst>
              <a:ext uri="{FF2B5EF4-FFF2-40B4-BE49-F238E27FC236}">
                <a16:creationId xmlns:a16="http://schemas.microsoft.com/office/drawing/2014/main" id="{50CC203A-EDDB-1B9C-05B5-46895C11E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61BCBA-AE55-A156-7854-EBE2E015B418}"/>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176163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2BB9-A51C-671A-2E95-19ABBEC222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472D43-DB26-5D83-0454-BA0EFEE75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8F62B-6B84-A491-1F88-CF6A13A12EC7}"/>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0DC3C1D7-C701-7B7F-98DD-00FBCDDC5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D8DCC2-F6C2-421A-9312-9C6C562C1CDC}"/>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2365318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8DAF2F-49A0-A58E-FC27-8D7AAE7824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4BCDF-1F92-5083-3C35-B38C8BD339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35058E-EA50-6256-1230-604614E88D2A}"/>
              </a:ext>
            </a:extLst>
          </p:cNvPr>
          <p:cNvSpPr>
            <a:spLocks noGrp="1"/>
          </p:cNvSpPr>
          <p:nvPr>
            <p:ph type="dt" sz="half" idx="10"/>
          </p:nvPr>
        </p:nvSpPr>
        <p:spPr/>
        <p:txBody>
          <a:body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AC5C8B4E-374B-6B83-8A46-1DDDA816D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89F96-730C-44E9-491F-10BAD2930AF1}"/>
              </a:ext>
            </a:extLst>
          </p:cNvPr>
          <p:cNvSpPr>
            <a:spLocks noGrp="1"/>
          </p:cNvSpPr>
          <p:nvPr>
            <p:ph type="sldNum" sz="quarter" idx="12"/>
          </p:nvPr>
        </p:nvSpPr>
        <p:spPr/>
        <p:txBody>
          <a:bodyPr/>
          <a:lstStyle/>
          <a:p>
            <a:fld id="{E83E234B-9526-4174-8DB0-C07BEC705159}" type="slidenum">
              <a:rPr lang="en-US" smtClean="0"/>
              <a:t>‹#›</a:t>
            </a:fld>
            <a:endParaRPr lang="en-US"/>
          </a:p>
        </p:txBody>
      </p:sp>
    </p:spTree>
    <p:extLst>
      <p:ext uri="{BB962C8B-B14F-4D97-AF65-F5344CB8AC3E}">
        <p14:creationId xmlns:p14="http://schemas.microsoft.com/office/powerpoint/2010/main" val="31135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3E12D-23E0-6F6A-76A3-3645D6B76B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FD5337-B560-07AF-CEDE-763464E13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000D54-E044-6D6A-43FB-6546197F1B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D625ED-9A3A-4605-B2CD-AA473C7F5540}" type="datetimeFigureOut">
              <a:rPr lang="en-US" smtClean="0"/>
              <a:t>1/15/2024</a:t>
            </a:fld>
            <a:endParaRPr lang="en-US"/>
          </a:p>
        </p:txBody>
      </p:sp>
      <p:sp>
        <p:nvSpPr>
          <p:cNvPr id="5" name="Footer Placeholder 4">
            <a:extLst>
              <a:ext uri="{FF2B5EF4-FFF2-40B4-BE49-F238E27FC236}">
                <a16:creationId xmlns:a16="http://schemas.microsoft.com/office/drawing/2014/main" id="{B95A571E-1861-E5DE-6156-5EA83B67F7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FA6B293-5219-2E3B-2BCB-094EDB65E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3E234B-9526-4174-8DB0-C07BEC705159}" type="slidenum">
              <a:rPr lang="en-US" smtClean="0"/>
              <a:t>‹#›</a:t>
            </a:fld>
            <a:endParaRPr lang="en-US"/>
          </a:p>
        </p:txBody>
      </p:sp>
    </p:spTree>
    <p:extLst>
      <p:ext uri="{BB962C8B-B14F-4D97-AF65-F5344CB8AC3E}">
        <p14:creationId xmlns:p14="http://schemas.microsoft.com/office/powerpoint/2010/main" val="3232262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C46A30-6D69-3142-8F32-B4F401218503}"/>
              </a:ext>
            </a:extLst>
          </p:cNvPr>
          <p:cNvSpPr txBox="1"/>
          <p:nvPr/>
        </p:nvSpPr>
        <p:spPr>
          <a:xfrm>
            <a:off x="157316" y="169295"/>
            <a:ext cx="6096000" cy="369332"/>
          </a:xfrm>
          <a:prstGeom prst="rect">
            <a:avLst/>
          </a:prstGeom>
          <a:noFill/>
        </p:spPr>
        <p:txBody>
          <a:bodyPr wrap="square">
            <a:spAutoFit/>
          </a:bodyPr>
          <a:lstStyle/>
          <a:p>
            <a:pPr algn="l"/>
            <a:r>
              <a:rPr lang="en-US" b="1" i="0" dirty="0">
                <a:solidFill>
                  <a:srgbClr val="1F1F1F"/>
                </a:solidFill>
                <a:effectLst/>
              </a:rPr>
              <a:t>Vector Space Models</a:t>
            </a:r>
          </a:p>
        </p:txBody>
      </p:sp>
      <p:sp>
        <p:nvSpPr>
          <p:cNvPr id="7" name="TextBox 6">
            <a:extLst>
              <a:ext uri="{FF2B5EF4-FFF2-40B4-BE49-F238E27FC236}">
                <a16:creationId xmlns:a16="http://schemas.microsoft.com/office/drawing/2014/main" id="{767647CA-C0D1-B0DF-7955-EF1D211960CE}"/>
              </a:ext>
            </a:extLst>
          </p:cNvPr>
          <p:cNvSpPr txBox="1"/>
          <p:nvPr/>
        </p:nvSpPr>
        <p:spPr>
          <a:xfrm>
            <a:off x="157316" y="538627"/>
            <a:ext cx="1179871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Vector spaces are fundamental in many applications in NLP. If you were to represent a word, document, tweet, or any form of text, you will probably be encoding it as a vector. These vectors are important in tasks like information extraction, machine translation, and chatbots. Vector spaces could also be used to help you identify relationships between words as follows: </a:t>
            </a:r>
            <a:endParaRPr lang="en-US" dirty="0"/>
          </a:p>
        </p:txBody>
      </p:sp>
      <p:pic>
        <p:nvPicPr>
          <p:cNvPr id="9" name="Picture 8">
            <a:extLst>
              <a:ext uri="{FF2B5EF4-FFF2-40B4-BE49-F238E27FC236}">
                <a16:creationId xmlns:a16="http://schemas.microsoft.com/office/drawing/2014/main" id="{DAB0B2A9-E3E5-99F8-0247-9DEC062DAB03}"/>
              </a:ext>
            </a:extLst>
          </p:cNvPr>
          <p:cNvPicPr>
            <a:picLocks noChangeAspect="1"/>
          </p:cNvPicPr>
          <p:nvPr/>
        </p:nvPicPr>
        <p:blipFill>
          <a:blip r:embed="rId2"/>
          <a:stretch>
            <a:fillRect/>
          </a:stretch>
        </p:blipFill>
        <p:spPr>
          <a:xfrm>
            <a:off x="2674375" y="1626834"/>
            <a:ext cx="6685935" cy="2624899"/>
          </a:xfrm>
          <a:prstGeom prst="rect">
            <a:avLst/>
          </a:prstGeom>
        </p:spPr>
      </p:pic>
      <p:sp>
        <p:nvSpPr>
          <p:cNvPr id="11" name="TextBox 10">
            <a:extLst>
              <a:ext uri="{FF2B5EF4-FFF2-40B4-BE49-F238E27FC236}">
                <a16:creationId xmlns:a16="http://schemas.microsoft.com/office/drawing/2014/main" id="{325318E7-0A89-A607-C5DA-8506D5D66A5D}"/>
              </a:ext>
            </a:extLst>
          </p:cNvPr>
          <p:cNvSpPr txBox="1"/>
          <p:nvPr/>
        </p:nvSpPr>
        <p:spPr>
          <a:xfrm>
            <a:off x="186813" y="4514576"/>
            <a:ext cx="11877368"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famous quote by Firth says, </a:t>
            </a:r>
            <a:r>
              <a:rPr lang="en-US" b="1" i="0" dirty="0">
                <a:solidFill>
                  <a:srgbClr val="1F1F1F"/>
                </a:solidFill>
                <a:effectLst/>
                <a:latin typeface="unset"/>
              </a:rPr>
              <a:t>"You shall know a word by the company it keeps". </a:t>
            </a:r>
            <a:r>
              <a:rPr lang="en-US" b="0" i="0" dirty="0">
                <a:solidFill>
                  <a:srgbClr val="1F1F1F"/>
                </a:solidFill>
                <a:effectLst/>
                <a:latin typeface="Source Sans Pro" panose="020B0503030403020204" pitchFamily="34" charset="0"/>
              </a:rPr>
              <a:t>When learning these vectors, you usually make use of the neighboring words to extract meaning and information about the center word. If you were to cluster these vectors together, as you will see later in this specialization, you will see that adjectives, nouns, verbs, etc. tend to be near one another. Another cool fact, is that synonyms and antonyms are also very close to one another. This is because you can easily interchange them in a sentence and they tend to have similar neighboring words!</a:t>
            </a:r>
            <a:endParaRPr lang="en-US" dirty="0"/>
          </a:p>
        </p:txBody>
      </p:sp>
    </p:spTree>
    <p:extLst>
      <p:ext uri="{BB962C8B-B14F-4D97-AF65-F5344CB8AC3E}">
        <p14:creationId xmlns:p14="http://schemas.microsoft.com/office/powerpoint/2010/main" val="413046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1FD5D-81C7-0213-7E28-2E45DAE2F55A}"/>
              </a:ext>
            </a:extLst>
          </p:cNvPr>
          <p:cNvSpPr txBox="1"/>
          <p:nvPr/>
        </p:nvSpPr>
        <p:spPr>
          <a:xfrm>
            <a:off x="147484" y="129967"/>
            <a:ext cx="6096000" cy="369332"/>
          </a:xfrm>
          <a:prstGeom prst="rect">
            <a:avLst/>
          </a:prstGeom>
          <a:noFill/>
        </p:spPr>
        <p:txBody>
          <a:bodyPr wrap="square">
            <a:spAutoFit/>
          </a:bodyPr>
          <a:lstStyle/>
          <a:p>
            <a:pPr algn="l"/>
            <a:r>
              <a:rPr lang="en-US" b="1" i="0" dirty="0">
                <a:solidFill>
                  <a:srgbClr val="1F1F1F"/>
                </a:solidFill>
                <a:effectLst/>
              </a:rPr>
              <a:t>Word by Word and Word by Doc.</a:t>
            </a:r>
          </a:p>
        </p:txBody>
      </p:sp>
      <p:sp>
        <p:nvSpPr>
          <p:cNvPr id="7" name="TextBox 6">
            <a:extLst>
              <a:ext uri="{FF2B5EF4-FFF2-40B4-BE49-F238E27FC236}">
                <a16:creationId xmlns:a16="http://schemas.microsoft.com/office/drawing/2014/main" id="{FCC9D8D5-60B5-4B59-9FC6-0A497440128E}"/>
              </a:ext>
            </a:extLst>
          </p:cNvPr>
          <p:cNvSpPr txBox="1"/>
          <p:nvPr/>
        </p:nvSpPr>
        <p:spPr>
          <a:xfrm>
            <a:off x="147484" y="592083"/>
            <a:ext cx="6096000" cy="369332"/>
          </a:xfrm>
          <a:prstGeom prst="rect">
            <a:avLst/>
          </a:prstGeom>
          <a:noFill/>
        </p:spPr>
        <p:txBody>
          <a:bodyPr wrap="square">
            <a:spAutoFit/>
          </a:bodyPr>
          <a:lstStyle/>
          <a:p>
            <a:r>
              <a:rPr lang="en-US" b="1" i="0" u="sng" dirty="0">
                <a:solidFill>
                  <a:srgbClr val="1F1F1F"/>
                </a:solidFill>
                <a:effectLst/>
                <a:latin typeface="unset"/>
              </a:rPr>
              <a:t>Word by Word Design</a:t>
            </a:r>
            <a:endParaRPr lang="en-US" dirty="0"/>
          </a:p>
        </p:txBody>
      </p:sp>
      <p:sp>
        <p:nvSpPr>
          <p:cNvPr id="9" name="TextBox 8">
            <a:extLst>
              <a:ext uri="{FF2B5EF4-FFF2-40B4-BE49-F238E27FC236}">
                <a16:creationId xmlns:a16="http://schemas.microsoft.com/office/drawing/2014/main" id="{F5568EE5-D0F4-05E6-6F7E-85EA503D90FC}"/>
              </a:ext>
            </a:extLst>
          </p:cNvPr>
          <p:cNvSpPr txBox="1"/>
          <p:nvPr/>
        </p:nvSpPr>
        <p:spPr>
          <a:xfrm>
            <a:off x="147483" y="1054199"/>
            <a:ext cx="11916697"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We will start by exploring the word by word design. Assume that you are trying to come up with a vector that will represent a certain word. One possible design would be to create a matrix where each row and column corresponds to a word in your vocabulary. Then you can iterate over a document and see the number of times each word shows up next each other word. You can keep track of the number in the matrix. In the video I spoke about a parameter </a:t>
            </a:r>
            <a:r>
              <a:rPr lang="en-US" b="1" i="1" dirty="0">
                <a:solidFill>
                  <a:srgbClr val="1F1F1F"/>
                </a:solidFill>
                <a:effectLst/>
                <a:latin typeface="KaTeX_Math"/>
              </a:rPr>
              <a:t>K</a:t>
            </a:r>
            <a:r>
              <a:rPr lang="en-US" b="0" i="0" dirty="0">
                <a:solidFill>
                  <a:srgbClr val="1F1F1F"/>
                </a:solidFill>
                <a:effectLst/>
                <a:latin typeface="Source Sans Pro" panose="020B0503030403020204" pitchFamily="34" charset="0"/>
              </a:rPr>
              <a:t>. You can think of </a:t>
            </a:r>
            <a:r>
              <a:rPr lang="en-US" b="1" i="1" dirty="0">
                <a:solidFill>
                  <a:srgbClr val="1F1F1F"/>
                </a:solidFill>
                <a:effectLst/>
                <a:latin typeface="KaTeX_Math"/>
              </a:rPr>
              <a:t>K</a:t>
            </a:r>
            <a:r>
              <a:rPr lang="en-US" b="0" i="0" dirty="0">
                <a:solidFill>
                  <a:srgbClr val="1F1F1F"/>
                </a:solidFill>
                <a:effectLst/>
                <a:latin typeface="Source Sans Pro" panose="020B0503030403020204" pitchFamily="34" charset="0"/>
              </a:rPr>
              <a:t> as the bandwidth that decides whether two words are next to each other or not. </a:t>
            </a:r>
            <a:endParaRPr lang="en-US" dirty="0"/>
          </a:p>
        </p:txBody>
      </p:sp>
      <p:pic>
        <p:nvPicPr>
          <p:cNvPr id="11" name="Picture 10">
            <a:extLst>
              <a:ext uri="{FF2B5EF4-FFF2-40B4-BE49-F238E27FC236}">
                <a16:creationId xmlns:a16="http://schemas.microsoft.com/office/drawing/2014/main" id="{A2549B0F-F198-3411-5622-FE6B1DED1CF0}"/>
              </a:ext>
            </a:extLst>
          </p:cNvPr>
          <p:cNvPicPr>
            <a:picLocks noChangeAspect="1"/>
          </p:cNvPicPr>
          <p:nvPr/>
        </p:nvPicPr>
        <p:blipFill>
          <a:blip r:embed="rId2"/>
          <a:stretch>
            <a:fillRect/>
          </a:stretch>
        </p:blipFill>
        <p:spPr>
          <a:xfrm>
            <a:off x="147483" y="2624311"/>
            <a:ext cx="7292972" cy="2522439"/>
          </a:xfrm>
          <a:prstGeom prst="rect">
            <a:avLst/>
          </a:prstGeom>
        </p:spPr>
      </p:pic>
      <p:pic>
        <p:nvPicPr>
          <p:cNvPr id="13" name="Picture 12">
            <a:extLst>
              <a:ext uri="{FF2B5EF4-FFF2-40B4-BE49-F238E27FC236}">
                <a16:creationId xmlns:a16="http://schemas.microsoft.com/office/drawing/2014/main" id="{AAAE8956-2CD8-733A-D75E-B13A3D322A3D}"/>
              </a:ext>
            </a:extLst>
          </p:cNvPr>
          <p:cNvPicPr>
            <a:picLocks noChangeAspect="1"/>
          </p:cNvPicPr>
          <p:nvPr/>
        </p:nvPicPr>
        <p:blipFill>
          <a:blip r:embed="rId3"/>
          <a:stretch>
            <a:fillRect/>
          </a:stretch>
        </p:blipFill>
        <p:spPr>
          <a:xfrm>
            <a:off x="334219" y="4904225"/>
            <a:ext cx="7453006" cy="670618"/>
          </a:xfrm>
          <a:prstGeom prst="rect">
            <a:avLst/>
          </a:prstGeom>
        </p:spPr>
      </p:pic>
    </p:spTree>
    <p:extLst>
      <p:ext uri="{BB962C8B-B14F-4D97-AF65-F5344CB8AC3E}">
        <p14:creationId xmlns:p14="http://schemas.microsoft.com/office/powerpoint/2010/main" val="263123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1FD5D-81C7-0213-7E28-2E45DAE2F55A}"/>
              </a:ext>
            </a:extLst>
          </p:cNvPr>
          <p:cNvSpPr txBox="1"/>
          <p:nvPr/>
        </p:nvSpPr>
        <p:spPr>
          <a:xfrm>
            <a:off x="147484" y="129967"/>
            <a:ext cx="6096000" cy="369332"/>
          </a:xfrm>
          <a:prstGeom prst="rect">
            <a:avLst/>
          </a:prstGeom>
          <a:noFill/>
        </p:spPr>
        <p:txBody>
          <a:bodyPr wrap="square">
            <a:spAutoFit/>
          </a:bodyPr>
          <a:lstStyle/>
          <a:p>
            <a:pPr algn="l"/>
            <a:r>
              <a:rPr lang="en-US" b="1" i="0" dirty="0">
                <a:solidFill>
                  <a:srgbClr val="1F1F1F"/>
                </a:solidFill>
                <a:effectLst/>
              </a:rPr>
              <a:t>Word by Word and Word by Doc (</a:t>
            </a:r>
            <a:r>
              <a:rPr lang="en-US" b="1" i="0" dirty="0" err="1">
                <a:solidFill>
                  <a:srgbClr val="1F1F1F"/>
                </a:solidFill>
                <a:effectLst/>
              </a:rPr>
              <a:t>contd</a:t>
            </a:r>
            <a:r>
              <a:rPr lang="en-US" b="1" i="0" dirty="0">
                <a:solidFill>
                  <a:srgbClr val="1F1F1F"/>
                </a:solidFill>
                <a:effectLst/>
              </a:rPr>
              <a:t>…)</a:t>
            </a:r>
          </a:p>
        </p:txBody>
      </p:sp>
      <p:sp>
        <p:nvSpPr>
          <p:cNvPr id="7" name="TextBox 6">
            <a:extLst>
              <a:ext uri="{FF2B5EF4-FFF2-40B4-BE49-F238E27FC236}">
                <a16:creationId xmlns:a16="http://schemas.microsoft.com/office/drawing/2014/main" id="{FCC9D8D5-60B5-4B59-9FC6-0A497440128E}"/>
              </a:ext>
            </a:extLst>
          </p:cNvPr>
          <p:cNvSpPr txBox="1"/>
          <p:nvPr/>
        </p:nvSpPr>
        <p:spPr>
          <a:xfrm>
            <a:off x="147484" y="592083"/>
            <a:ext cx="6096000" cy="369332"/>
          </a:xfrm>
          <a:prstGeom prst="rect">
            <a:avLst/>
          </a:prstGeom>
          <a:noFill/>
        </p:spPr>
        <p:txBody>
          <a:bodyPr wrap="square">
            <a:spAutoFit/>
          </a:bodyPr>
          <a:lstStyle/>
          <a:p>
            <a:r>
              <a:rPr lang="en-US" b="1" i="0" u="sng" dirty="0">
                <a:solidFill>
                  <a:srgbClr val="1F1F1F"/>
                </a:solidFill>
                <a:effectLst/>
                <a:latin typeface="unset"/>
              </a:rPr>
              <a:t>Word by Document Design</a:t>
            </a:r>
            <a:endParaRPr lang="en-US" dirty="0"/>
          </a:p>
        </p:txBody>
      </p:sp>
      <p:sp>
        <p:nvSpPr>
          <p:cNvPr id="9" name="TextBox 8">
            <a:extLst>
              <a:ext uri="{FF2B5EF4-FFF2-40B4-BE49-F238E27FC236}">
                <a16:creationId xmlns:a16="http://schemas.microsoft.com/office/drawing/2014/main" id="{F5568EE5-D0F4-05E6-6F7E-85EA503D90FC}"/>
              </a:ext>
            </a:extLst>
          </p:cNvPr>
          <p:cNvSpPr txBox="1"/>
          <p:nvPr/>
        </p:nvSpPr>
        <p:spPr>
          <a:xfrm>
            <a:off x="147483" y="1054199"/>
            <a:ext cx="11916697"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can now apply the same concept and map words to documents. The rows could correspond to words and the columns to documents. The numbers in the matrix correspond to the number of times each word showed up in the document. </a:t>
            </a:r>
            <a:endParaRPr lang="en-US" dirty="0"/>
          </a:p>
        </p:txBody>
      </p:sp>
      <p:pic>
        <p:nvPicPr>
          <p:cNvPr id="4" name="Picture 3">
            <a:extLst>
              <a:ext uri="{FF2B5EF4-FFF2-40B4-BE49-F238E27FC236}">
                <a16:creationId xmlns:a16="http://schemas.microsoft.com/office/drawing/2014/main" id="{C828D57B-B94C-C5D1-2140-6C150CCABF1D}"/>
              </a:ext>
            </a:extLst>
          </p:cNvPr>
          <p:cNvPicPr>
            <a:picLocks noChangeAspect="1"/>
          </p:cNvPicPr>
          <p:nvPr/>
        </p:nvPicPr>
        <p:blipFill>
          <a:blip r:embed="rId2"/>
          <a:stretch>
            <a:fillRect/>
          </a:stretch>
        </p:blipFill>
        <p:spPr>
          <a:xfrm>
            <a:off x="147483" y="1793314"/>
            <a:ext cx="4494311" cy="2205243"/>
          </a:xfrm>
          <a:prstGeom prst="rect">
            <a:avLst/>
          </a:prstGeom>
        </p:spPr>
      </p:pic>
      <p:pic>
        <p:nvPicPr>
          <p:cNvPr id="8" name="Picture 7">
            <a:extLst>
              <a:ext uri="{FF2B5EF4-FFF2-40B4-BE49-F238E27FC236}">
                <a16:creationId xmlns:a16="http://schemas.microsoft.com/office/drawing/2014/main" id="{619787F9-D1A6-6855-EDDE-A666C039DC2C}"/>
              </a:ext>
            </a:extLst>
          </p:cNvPr>
          <p:cNvPicPr>
            <a:picLocks noChangeAspect="1"/>
          </p:cNvPicPr>
          <p:nvPr/>
        </p:nvPicPr>
        <p:blipFill>
          <a:blip r:embed="rId3"/>
          <a:stretch>
            <a:fillRect/>
          </a:stretch>
        </p:blipFill>
        <p:spPr>
          <a:xfrm>
            <a:off x="243997" y="5803801"/>
            <a:ext cx="7712108" cy="510584"/>
          </a:xfrm>
          <a:prstGeom prst="rect">
            <a:avLst/>
          </a:prstGeom>
        </p:spPr>
      </p:pic>
      <p:pic>
        <p:nvPicPr>
          <p:cNvPr id="12" name="Picture 11">
            <a:extLst>
              <a:ext uri="{FF2B5EF4-FFF2-40B4-BE49-F238E27FC236}">
                <a16:creationId xmlns:a16="http://schemas.microsoft.com/office/drawing/2014/main" id="{FA03FC5C-CDAC-5303-21A0-9AB42837A617}"/>
              </a:ext>
            </a:extLst>
          </p:cNvPr>
          <p:cNvPicPr>
            <a:picLocks noChangeAspect="1"/>
          </p:cNvPicPr>
          <p:nvPr/>
        </p:nvPicPr>
        <p:blipFill>
          <a:blip r:embed="rId4"/>
          <a:stretch>
            <a:fillRect/>
          </a:stretch>
        </p:blipFill>
        <p:spPr>
          <a:xfrm>
            <a:off x="5712540" y="2422530"/>
            <a:ext cx="5874464" cy="2760143"/>
          </a:xfrm>
          <a:prstGeom prst="rect">
            <a:avLst/>
          </a:prstGeom>
        </p:spPr>
      </p:pic>
    </p:spTree>
    <p:extLst>
      <p:ext uri="{BB962C8B-B14F-4D97-AF65-F5344CB8AC3E}">
        <p14:creationId xmlns:p14="http://schemas.microsoft.com/office/powerpoint/2010/main" val="194734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74814A-BADC-F363-D57B-32296AA26956}"/>
              </a:ext>
            </a:extLst>
          </p:cNvPr>
          <p:cNvSpPr txBox="1"/>
          <p:nvPr/>
        </p:nvSpPr>
        <p:spPr>
          <a:xfrm>
            <a:off x="78658" y="129967"/>
            <a:ext cx="6096000" cy="369332"/>
          </a:xfrm>
          <a:prstGeom prst="rect">
            <a:avLst/>
          </a:prstGeom>
          <a:noFill/>
        </p:spPr>
        <p:txBody>
          <a:bodyPr wrap="square">
            <a:spAutoFit/>
          </a:bodyPr>
          <a:lstStyle/>
          <a:p>
            <a:pPr algn="l"/>
            <a:r>
              <a:rPr lang="en-US" b="1" i="0" dirty="0">
                <a:solidFill>
                  <a:srgbClr val="1F1F1F"/>
                </a:solidFill>
                <a:effectLst/>
              </a:rPr>
              <a:t>Euclidian Distance</a:t>
            </a:r>
          </a:p>
        </p:txBody>
      </p:sp>
      <p:pic>
        <p:nvPicPr>
          <p:cNvPr id="7" name="Picture 6">
            <a:extLst>
              <a:ext uri="{FF2B5EF4-FFF2-40B4-BE49-F238E27FC236}">
                <a16:creationId xmlns:a16="http://schemas.microsoft.com/office/drawing/2014/main" id="{D6BBA67D-2924-8F65-7D34-43C8EDAF0C5B}"/>
              </a:ext>
            </a:extLst>
          </p:cNvPr>
          <p:cNvPicPr>
            <a:picLocks noChangeAspect="1"/>
          </p:cNvPicPr>
          <p:nvPr/>
        </p:nvPicPr>
        <p:blipFill>
          <a:blip r:embed="rId2"/>
          <a:stretch>
            <a:fillRect/>
          </a:stretch>
        </p:blipFill>
        <p:spPr>
          <a:xfrm>
            <a:off x="78658" y="499299"/>
            <a:ext cx="7856901" cy="1196444"/>
          </a:xfrm>
          <a:prstGeom prst="rect">
            <a:avLst/>
          </a:prstGeom>
        </p:spPr>
      </p:pic>
      <p:pic>
        <p:nvPicPr>
          <p:cNvPr id="9" name="Picture 8">
            <a:extLst>
              <a:ext uri="{FF2B5EF4-FFF2-40B4-BE49-F238E27FC236}">
                <a16:creationId xmlns:a16="http://schemas.microsoft.com/office/drawing/2014/main" id="{532E556A-3DD0-8FE2-DAC1-12EF814EB336}"/>
              </a:ext>
            </a:extLst>
          </p:cNvPr>
          <p:cNvPicPr>
            <a:picLocks noChangeAspect="1"/>
          </p:cNvPicPr>
          <p:nvPr/>
        </p:nvPicPr>
        <p:blipFill>
          <a:blip r:embed="rId3"/>
          <a:stretch>
            <a:fillRect/>
          </a:stretch>
        </p:blipFill>
        <p:spPr>
          <a:xfrm>
            <a:off x="2101947" y="1611848"/>
            <a:ext cx="6343962" cy="3135058"/>
          </a:xfrm>
          <a:prstGeom prst="rect">
            <a:avLst/>
          </a:prstGeom>
        </p:spPr>
      </p:pic>
      <p:pic>
        <p:nvPicPr>
          <p:cNvPr id="11" name="Picture 10">
            <a:extLst>
              <a:ext uri="{FF2B5EF4-FFF2-40B4-BE49-F238E27FC236}">
                <a16:creationId xmlns:a16="http://schemas.microsoft.com/office/drawing/2014/main" id="{B3D76462-AC89-449D-4209-6712EA5AE5EF}"/>
              </a:ext>
            </a:extLst>
          </p:cNvPr>
          <p:cNvPicPr>
            <a:picLocks noChangeAspect="1"/>
          </p:cNvPicPr>
          <p:nvPr/>
        </p:nvPicPr>
        <p:blipFill>
          <a:blip r:embed="rId4"/>
          <a:stretch>
            <a:fillRect/>
          </a:stretch>
        </p:blipFill>
        <p:spPr>
          <a:xfrm>
            <a:off x="351536" y="5032112"/>
            <a:ext cx="7311143" cy="1326589"/>
          </a:xfrm>
          <a:prstGeom prst="rect">
            <a:avLst/>
          </a:prstGeom>
        </p:spPr>
      </p:pic>
      <p:pic>
        <p:nvPicPr>
          <p:cNvPr id="13" name="Picture 12">
            <a:extLst>
              <a:ext uri="{FF2B5EF4-FFF2-40B4-BE49-F238E27FC236}">
                <a16:creationId xmlns:a16="http://schemas.microsoft.com/office/drawing/2014/main" id="{3AF1D0FF-A0FC-547B-B3A1-9E85C419096B}"/>
              </a:ext>
            </a:extLst>
          </p:cNvPr>
          <p:cNvPicPr>
            <a:picLocks noChangeAspect="1"/>
          </p:cNvPicPr>
          <p:nvPr/>
        </p:nvPicPr>
        <p:blipFill>
          <a:blip r:embed="rId5"/>
          <a:stretch>
            <a:fillRect/>
          </a:stretch>
        </p:blipFill>
        <p:spPr>
          <a:xfrm>
            <a:off x="7513606" y="4879942"/>
            <a:ext cx="4589903" cy="1326589"/>
          </a:xfrm>
          <a:prstGeom prst="rect">
            <a:avLst/>
          </a:prstGeom>
        </p:spPr>
      </p:pic>
    </p:spTree>
    <p:extLst>
      <p:ext uri="{BB962C8B-B14F-4D97-AF65-F5344CB8AC3E}">
        <p14:creationId xmlns:p14="http://schemas.microsoft.com/office/powerpoint/2010/main" val="824628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D1ACE2-4A0D-EB29-0AC6-991A633BFAA8}"/>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Cosine Similarity: Intuition</a:t>
            </a:r>
          </a:p>
        </p:txBody>
      </p:sp>
      <p:sp>
        <p:nvSpPr>
          <p:cNvPr id="7" name="TextBox 6">
            <a:extLst>
              <a:ext uri="{FF2B5EF4-FFF2-40B4-BE49-F238E27FC236}">
                <a16:creationId xmlns:a16="http://schemas.microsoft.com/office/drawing/2014/main" id="{BD3ACBF5-41B4-F1AF-AC4A-81F5E527330E}"/>
              </a:ext>
            </a:extLst>
          </p:cNvPr>
          <p:cNvSpPr txBox="1"/>
          <p:nvPr/>
        </p:nvSpPr>
        <p:spPr>
          <a:xfrm>
            <a:off x="81116" y="369332"/>
            <a:ext cx="11884742"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One of the issues with </a:t>
            </a:r>
            <a:r>
              <a:rPr lang="en-US" b="0" i="0" dirty="0" err="1">
                <a:solidFill>
                  <a:srgbClr val="1F1F1F"/>
                </a:solidFill>
                <a:effectLst/>
                <a:latin typeface="Source Sans Pro" panose="020B0503030403020204" pitchFamily="34" charset="0"/>
              </a:rPr>
              <a:t>euclidean</a:t>
            </a:r>
            <a:r>
              <a:rPr lang="en-US" b="0" i="0" dirty="0">
                <a:solidFill>
                  <a:srgbClr val="1F1F1F"/>
                </a:solidFill>
                <a:effectLst/>
                <a:latin typeface="Source Sans Pro" panose="020B0503030403020204" pitchFamily="34" charset="0"/>
              </a:rPr>
              <a:t> distance is that it is not always accurate and sometimes we are not looking for that type of similarity metric. For example, when comparing large documents to smaller ones with </a:t>
            </a:r>
            <a:r>
              <a:rPr lang="en-US" b="0" i="0" dirty="0" err="1">
                <a:solidFill>
                  <a:srgbClr val="1F1F1F"/>
                </a:solidFill>
                <a:effectLst/>
                <a:latin typeface="Source Sans Pro" panose="020B0503030403020204" pitchFamily="34" charset="0"/>
              </a:rPr>
              <a:t>euclidean</a:t>
            </a:r>
            <a:r>
              <a:rPr lang="en-US" b="0" i="0" dirty="0">
                <a:solidFill>
                  <a:srgbClr val="1F1F1F"/>
                </a:solidFill>
                <a:effectLst/>
                <a:latin typeface="Source Sans Pro" panose="020B0503030403020204" pitchFamily="34" charset="0"/>
              </a:rPr>
              <a:t> distance one could get an inaccurate result. Look at the diagram below:</a:t>
            </a:r>
            <a:endParaRPr lang="en-US" dirty="0"/>
          </a:p>
        </p:txBody>
      </p:sp>
      <p:pic>
        <p:nvPicPr>
          <p:cNvPr id="9" name="Picture 8">
            <a:extLst>
              <a:ext uri="{FF2B5EF4-FFF2-40B4-BE49-F238E27FC236}">
                <a16:creationId xmlns:a16="http://schemas.microsoft.com/office/drawing/2014/main" id="{37C85435-DA58-FE02-42E5-0F4495BF0BA3}"/>
              </a:ext>
            </a:extLst>
          </p:cNvPr>
          <p:cNvPicPr>
            <a:picLocks noChangeAspect="1"/>
          </p:cNvPicPr>
          <p:nvPr/>
        </p:nvPicPr>
        <p:blipFill>
          <a:blip r:embed="rId2"/>
          <a:stretch>
            <a:fillRect/>
          </a:stretch>
        </p:blipFill>
        <p:spPr>
          <a:xfrm>
            <a:off x="157504" y="1554850"/>
            <a:ext cx="6980525" cy="2804403"/>
          </a:xfrm>
          <a:prstGeom prst="rect">
            <a:avLst/>
          </a:prstGeom>
        </p:spPr>
      </p:pic>
      <p:pic>
        <p:nvPicPr>
          <p:cNvPr id="11" name="Picture 10">
            <a:extLst>
              <a:ext uri="{FF2B5EF4-FFF2-40B4-BE49-F238E27FC236}">
                <a16:creationId xmlns:a16="http://schemas.microsoft.com/office/drawing/2014/main" id="{859541BA-7431-1781-6A1C-91F9C129DC0B}"/>
              </a:ext>
            </a:extLst>
          </p:cNvPr>
          <p:cNvPicPr>
            <a:picLocks noChangeAspect="1"/>
          </p:cNvPicPr>
          <p:nvPr/>
        </p:nvPicPr>
        <p:blipFill>
          <a:blip r:embed="rId3"/>
          <a:stretch>
            <a:fillRect/>
          </a:stretch>
        </p:blipFill>
        <p:spPr>
          <a:xfrm>
            <a:off x="243517" y="4621441"/>
            <a:ext cx="7437765" cy="1257409"/>
          </a:xfrm>
          <a:prstGeom prst="rect">
            <a:avLst/>
          </a:prstGeom>
        </p:spPr>
      </p:pic>
    </p:spTree>
    <p:extLst>
      <p:ext uri="{BB962C8B-B14F-4D97-AF65-F5344CB8AC3E}">
        <p14:creationId xmlns:p14="http://schemas.microsoft.com/office/powerpoint/2010/main" val="1858420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C31C06-17F9-3920-64F7-78835BE24BA7}"/>
              </a:ext>
            </a:extLst>
          </p:cNvPr>
          <p:cNvSpPr txBox="1"/>
          <p:nvPr/>
        </p:nvSpPr>
        <p:spPr>
          <a:xfrm>
            <a:off x="98323" y="80805"/>
            <a:ext cx="6096000" cy="369332"/>
          </a:xfrm>
          <a:prstGeom prst="rect">
            <a:avLst/>
          </a:prstGeom>
          <a:noFill/>
        </p:spPr>
        <p:txBody>
          <a:bodyPr wrap="square">
            <a:spAutoFit/>
          </a:bodyPr>
          <a:lstStyle/>
          <a:p>
            <a:pPr algn="l"/>
            <a:r>
              <a:rPr lang="en-US" b="1" i="0" dirty="0">
                <a:solidFill>
                  <a:srgbClr val="1F1F1F"/>
                </a:solidFill>
                <a:effectLst/>
              </a:rPr>
              <a:t>Cosine Similarity</a:t>
            </a:r>
          </a:p>
        </p:txBody>
      </p:sp>
      <p:pic>
        <p:nvPicPr>
          <p:cNvPr id="7" name="Picture 6">
            <a:extLst>
              <a:ext uri="{FF2B5EF4-FFF2-40B4-BE49-F238E27FC236}">
                <a16:creationId xmlns:a16="http://schemas.microsoft.com/office/drawing/2014/main" id="{E9BBFD3A-D1F1-008E-33CA-F383318D803A}"/>
              </a:ext>
            </a:extLst>
          </p:cNvPr>
          <p:cNvPicPr>
            <a:picLocks noChangeAspect="1"/>
          </p:cNvPicPr>
          <p:nvPr/>
        </p:nvPicPr>
        <p:blipFill>
          <a:blip r:embed="rId2"/>
          <a:stretch>
            <a:fillRect/>
          </a:stretch>
        </p:blipFill>
        <p:spPr>
          <a:xfrm>
            <a:off x="98323" y="450137"/>
            <a:ext cx="6174658" cy="3704795"/>
          </a:xfrm>
          <a:prstGeom prst="rect">
            <a:avLst/>
          </a:prstGeom>
        </p:spPr>
      </p:pic>
      <p:pic>
        <p:nvPicPr>
          <p:cNvPr id="9" name="Picture 8">
            <a:extLst>
              <a:ext uri="{FF2B5EF4-FFF2-40B4-BE49-F238E27FC236}">
                <a16:creationId xmlns:a16="http://schemas.microsoft.com/office/drawing/2014/main" id="{6E94B7E5-A833-0D3B-1A97-07C0684AF052}"/>
              </a:ext>
            </a:extLst>
          </p:cNvPr>
          <p:cNvPicPr>
            <a:picLocks noChangeAspect="1"/>
          </p:cNvPicPr>
          <p:nvPr/>
        </p:nvPicPr>
        <p:blipFill>
          <a:blip r:embed="rId3"/>
          <a:stretch>
            <a:fillRect/>
          </a:stretch>
        </p:blipFill>
        <p:spPr>
          <a:xfrm>
            <a:off x="5692696" y="2844366"/>
            <a:ext cx="6499304" cy="3704794"/>
          </a:xfrm>
          <a:prstGeom prst="rect">
            <a:avLst/>
          </a:prstGeom>
        </p:spPr>
      </p:pic>
    </p:spTree>
    <p:extLst>
      <p:ext uri="{BB962C8B-B14F-4D97-AF65-F5344CB8AC3E}">
        <p14:creationId xmlns:p14="http://schemas.microsoft.com/office/powerpoint/2010/main" val="338278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451A3B-1712-2DE4-9C64-29A64791A7E1}"/>
              </a:ext>
            </a:extLst>
          </p:cNvPr>
          <p:cNvSpPr txBox="1"/>
          <p:nvPr/>
        </p:nvSpPr>
        <p:spPr>
          <a:xfrm>
            <a:off x="88490" y="139798"/>
            <a:ext cx="6096000" cy="369332"/>
          </a:xfrm>
          <a:prstGeom prst="rect">
            <a:avLst/>
          </a:prstGeom>
          <a:noFill/>
        </p:spPr>
        <p:txBody>
          <a:bodyPr wrap="square">
            <a:spAutoFit/>
          </a:bodyPr>
          <a:lstStyle/>
          <a:p>
            <a:pPr algn="l"/>
            <a:r>
              <a:rPr lang="en-US" b="1" i="0" dirty="0">
                <a:solidFill>
                  <a:srgbClr val="1F1F1F"/>
                </a:solidFill>
                <a:effectLst/>
              </a:rPr>
              <a:t>Manipulating Words in Vector Spaces</a:t>
            </a:r>
          </a:p>
        </p:txBody>
      </p:sp>
      <p:sp>
        <p:nvSpPr>
          <p:cNvPr id="7" name="TextBox 6">
            <a:extLst>
              <a:ext uri="{FF2B5EF4-FFF2-40B4-BE49-F238E27FC236}">
                <a16:creationId xmlns:a16="http://schemas.microsoft.com/office/drawing/2014/main" id="{2B5D72CB-668F-5CD5-AA33-5ECE233FB163}"/>
              </a:ext>
            </a:extLst>
          </p:cNvPr>
          <p:cNvSpPr txBox="1"/>
          <p:nvPr/>
        </p:nvSpPr>
        <p:spPr>
          <a:xfrm>
            <a:off x="88490" y="509130"/>
            <a:ext cx="11651226"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can use word vectors to actually extract patterns and identify certain structures in your text. For example: </a:t>
            </a:r>
            <a:endParaRPr lang="en-US" dirty="0"/>
          </a:p>
        </p:txBody>
      </p:sp>
      <p:pic>
        <p:nvPicPr>
          <p:cNvPr id="9" name="Picture 8">
            <a:extLst>
              <a:ext uri="{FF2B5EF4-FFF2-40B4-BE49-F238E27FC236}">
                <a16:creationId xmlns:a16="http://schemas.microsoft.com/office/drawing/2014/main" id="{1A711D2B-5829-5422-E122-BEFAF0DF49D0}"/>
              </a:ext>
            </a:extLst>
          </p:cNvPr>
          <p:cNvPicPr>
            <a:picLocks noChangeAspect="1"/>
          </p:cNvPicPr>
          <p:nvPr/>
        </p:nvPicPr>
        <p:blipFill>
          <a:blip r:embed="rId2"/>
          <a:stretch>
            <a:fillRect/>
          </a:stretch>
        </p:blipFill>
        <p:spPr>
          <a:xfrm>
            <a:off x="446290" y="1038164"/>
            <a:ext cx="5006774" cy="2834886"/>
          </a:xfrm>
          <a:prstGeom prst="rect">
            <a:avLst/>
          </a:prstGeom>
        </p:spPr>
      </p:pic>
      <p:sp>
        <p:nvSpPr>
          <p:cNvPr id="11" name="TextBox 10">
            <a:extLst>
              <a:ext uri="{FF2B5EF4-FFF2-40B4-BE49-F238E27FC236}">
                <a16:creationId xmlns:a16="http://schemas.microsoft.com/office/drawing/2014/main" id="{93C726EA-7D87-5C44-ACD5-31673110F07F}"/>
              </a:ext>
            </a:extLst>
          </p:cNvPr>
          <p:cNvSpPr txBox="1"/>
          <p:nvPr/>
        </p:nvSpPr>
        <p:spPr>
          <a:xfrm>
            <a:off x="5914103" y="978279"/>
            <a:ext cx="6096000"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can use the word vector for Russia, USA, and DC to actually compute a </a:t>
            </a:r>
            <a:r>
              <a:rPr lang="en-US" b="1" i="0" dirty="0">
                <a:solidFill>
                  <a:srgbClr val="1F1F1F"/>
                </a:solidFill>
                <a:effectLst/>
                <a:latin typeface="unset"/>
              </a:rPr>
              <a:t>vector</a:t>
            </a:r>
            <a:r>
              <a:rPr lang="en-US" b="0" i="0" dirty="0">
                <a:solidFill>
                  <a:srgbClr val="1F1F1F"/>
                </a:solidFill>
                <a:effectLst/>
                <a:latin typeface="Source Sans Pro" panose="020B0503030403020204" pitchFamily="34" charset="0"/>
              </a:rPr>
              <a:t> that would be very similar to that of Moscow. You can then use cosine similarity of the </a:t>
            </a:r>
            <a:r>
              <a:rPr lang="en-US" b="1" i="0" dirty="0">
                <a:solidFill>
                  <a:srgbClr val="1F1F1F"/>
                </a:solidFill>
                <a:effectLst/>
                <a:latin typeface="unset"/>
              </a:rPr>
              <a:t>vector </a:t>
            </a:r>
            <a:r>
              <a:rPr lang="en-US" b="0" i="0" dirty="0">
                <a:solidFill>
                  <a:srgbClr val="1F1F1F"/>
                </a:solidFill>
                <a:effectLst/>
                <a:latin typeface="Source Sans Pro" panose="020B0503030403020204" pitchFamily="34" charset="0"/>
              </a:rPr>
              <a:t>with all the other word vectors you have and you can see that the vector of Moscow is the closest. Isn't that cool? </a:t>
            </a:r>
            <a:endParaRPr lang="en-US" dirty="0"/>
          </a:p>
        </p:txBody>
      </p:sp>
      <p:pic>
        <p:nvPicPr>
          <p:cNvPr id="13" name="Picture 12">
            <a:extLst>
              <a:ext uri="{FF2B5EF4-FFF2-40B4-BE49-F238E27FC236}">
                <a16:creationId xmlns:a16="http://schemas.microsoft.com/office/drawing/2014/main" id="{C150DF36-0A47-88C1-AE4C-0C70E43D5170}"/>
              </a:ext>
            </a:extLst>
          </p:cNvPr>
          <p:cNvPicPr>
            <a:picLocks noChangeAspect="1"/>
          </p:cNvPicPr>
          <p:nvPr/>
        </p:nvPicPr>
        <p:blipFill>
          <a:blip r:embed="rId3"/>
          <a:stretch>
            <a:fillRect/>
          </a:stretch>
        </p:blipFill>
        <p:spPr>
          <a:xfrm>
            <a:off x="310505" y="4032752"/>
            <a:ext cx="6096001" cy="2473924"/>
          </a:xfrm>
          <a:prstGeom prst="rect">
            <a:avLst/>
          </a:prstGeom>
        </p:spPr>
      </p:pic>
      <p:sp>
        <p:nvSpPr>
          <p:cNvPr id="15" name="TextBox 14">
            <a:extLst>
              <a:ext uri="{FF2B5EF4-FFF2-40B4-BE49-F238E27FC236}">
                <a16:creationId xmlns:a16="http://schemas.microsoft.com/office/drawing/2014/main" id="{38C82358-9809-B2E1-F685-9B2FCE060E89}"/>
              </a:ext>
            </a:extLst>
          </p:cNvPr>
          <p:cNvSpPr txBox="1"/>
          <p:nvPr/>
        </p:nvSpPr>
        <p:spPr>
          <a:xfrm>
            <a:off x="6096000" y="4956391"/>
            <a:ext cx="6096000"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the distance (and direction) between a country and its capital is relatively the same. Hence manipulating word vectors allows you identify patterns in the text.</a:t>
            </a:r>
            <a:endParaRPr lang="en-US" dirty="0"/>
          </a:p>
        </p:txBody>
      </p:sp>
    </p:spTree>
    <p:extLst>
      <p:ext uri="{BB962C8B-B14F-4D97-AF65-F5344CB8AC3E}">
        <p14:creationId xmlns:p14="http://schemas.microsoft.com/office/powerpoint/2010/main" val="4112963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20A689-CCE5-06F3-EB1D-54ACC951F82B}"/>
              </a:ext>
            </a:extLst>
          </p:cNvPr>
          <p:cNvSpPr txBox="1"/>
          <p:nvPr/>
        </p:nvSpPr>
        <p:spPr>
          <a:xfrm>
            <a:off x="127819" y="110302"/>
            <a:ext cx="6096000" cy="369332"/>
          </a:xfrm>
          <a:prstGeom prst="rect">
            <a:avLst/>
          </a:prstGeom>
          <a:noFill/>
        </p:spPr>
        <p:txBody>
          <a:bodyPr wrap="square">
            <a:spAutoFit/>
          </a:bodyPr>
          <a:lstStyle/>
          <a:p>
            <a:pPr algn="l"/>
            <a:r>
              <a:rPr lang="en-US" b="1" i="0" dirty="0">
                <a:solidFill>
                  <a:srgbClr val="1F1F1F"/>
                </a:solidFill>
                <a:effectLst/>
              </a:rPr>
              <a:t>Visualization and PCA</a:t>
            </a:r>
          </a:p>
        </p:txBody>
      </p:sp>
      <p:sp>
        <p:nvSpPr>
          <p:cNvPr id="7" name="TextBox 6">
            <a:extLst>
              <a:ext uri="{FF2B5EF4-FFF2-40B4-BE49-F238E27FC236}">
                <a16:creationId xmlns:a16="http://schemas.microsoft.com/office/drawing/2014/main" id="{6CDEE909-F9FC-C204-DD92-725356708B74}"/>
              </a:ext>
            </a:extLst>
          </p:cNvPr>
          <p:cNvSpPr txBox="1"/>
          <p:nvPr/>
        </p:nvSpPr>
        <p:spPr>
          <a:xfrm>
            <a:off x="127819" y="479634"/>
            <a:ext cx="11720052"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Principal component analysis is an unsupervised learning algorithm which can be used to reduce the dimension of your data. As a result, it allows you to visualize your data. It tries to combine variances across features. Here is a concrete example of PCA: </a:t>
            </a:r>
            <a:endParaRPr lang="en-US" dirty="0"/>
          </a:p>
        </p:txBody>
      </p:sp>
      <p:pic>
        <p:nvPicPr>
          <p:cNvPr id="9" name="Picture 8">
            <a:extLst>
              <a:ext uri="{FF2B5EF4-FFF2-40B4-BE49-F238E27FC236}">
                <a16:creationId xmlns:a16="http://schemas.microsoft.com/office/drawing/2014/main" id="{39B3E276-04C2-7459-4A31-E6180CD3A449}"/>
              </a:ext>
            </a:extLst>
          </p:cNvPr>
          <p:cNvPicPr>
            <a:picLocks noChangeAspect="1"/>
          </p:cNvPicPr>
          <p:nvPr/>
        </p:nvPicPr>
        <p:blipFill>
          <a:blip r:embed="rId2"/>
          <a:stretch>
            <a:fillRect/>
          </a:stretch>
        </p:blipFill>
        <p:spPr>
          <a:xfrm>
            <a:off x="127820" y="1402965"/>
            <a:ext cx="6164826" cy="2872100"/>
          </a:xfrm>
          <a:prstGeom prst="rect">
            <a:avLst/>
          </a:prstGeom>
        </p:spPr>
      </p:pic>
      <p:sp>
        <p:nvSpPr>
          <p:cNvPr id="11" name="TextBox 10">
            <a:extLst>
              <a:ext uri="{FF2B5EF4-FFF2-40B4-BE49-F238E27FC236}">
                <a16:creationId xmlns:a16="http://schemas.microsoft.com/office/drawing/2014/main" id="{36EFCBC2-A1AA-F8D3-0318-426CA11F4FB3}"/>
              </a:ext>
            </a:extLst>
          </p:cNvPr>
          <p:cNvSpPr txBox="1"/>
          <p:nvPr/>
        </p:nvSpPr>
        <p:spPr>
          <a:xfrm>
            <a:off x="6735096" y="1402964"/>
            <a:ext cx="5112775"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when doing PCA on this data, you will see that oil &amp; gas are close to one another and town &amp; city are also close to one another. To plot the data you can use PCA to go from </a:t>
            </a:r>
            <a:r>
              <a:rPr lang="en-US" b="0" i="1" dirty="0">
                <a:solidFill>
                  <a:srgbClr val="1F1F1F"/>
                </a:solidFill>
                <a:effectLst/>
                <a:latin typeface="KaTeX_Math"/>
              </a:rPr>
              <a:t>d</a:t>
            </a:r>
            <a:r>
              <a:rPr lang="en-US" b="0" i="0" dirty="0">
                <a:solidFill>
                  <a:srgbClr val="1F1F1F"/>
                </a:solidFill>
                <a:effectLst/>
                <a:latin typeface="KaTeX_Main"/>
              </a:rPr>
              <a:t>&gt;2</a:t>
            </a:r>
            <a:r>
              <a:rPr lang="en-US" b="0" i="0" dirty="0">
                <a:solidFill>
                  <a:srgbClr val="1F1F1F"/>
                </a:solidFill>
                <a:effectLst/>
                <a:latin typeface="Source Sans Pro" panose="020B0503030403020204" pitchFamily="34" charset="0"/>
              </a:rPr>
              <a:t> dimensions to </a:t>
            </a:r>
            <a:r>
              <a:rPr lang="en-US" b="0" i="1" dirty="0">
                <a:solidFill>
                  <a:srgbClr val="1F1F1F"/>
                </a:solidFill>
                <a:effectLst/>
                <a:latin typeface="KaTeX_Math"/>
              </a:rPr>
              <a:t>d</a:t>
            </a:r>
            <a:r>
              <a:rPr lang="en-US" b="0" i="0" dirty="0">
                <a:solidFill>
                  <a:srgbClr val="1F1F1F"/>
                </a:solidFill>
                <a:effectLst/>
                <a:latin typeface="KaTeX_Main"/>
              </a:rPr>
              <a:t>=2</a:t>
            </a:r>
            <a:r>
              <a:rPr lang="en-US" b="0" i="0" dirty="0">
                <a:solidFill>
                  <a:srgbClr val="1F1F1F"/>
                </a:solidFill>
                <a:effectLst/>
                <a:latin typeface="Source Sans Pro" panose="020B0503030403020204" pitchFamily="34" charset="0"/>
              </a:rPr>
              <a:t>.</a:t>
            </a:r>
            <a:endParaRPr lang="en-US" dirty="0"/>
          </a:p>
        </p:txBody>
      </p:sp>
      <p:pic>
        <p:nvPicPr>
          <p:cNvPr id="13" name="Picture 12">
            <a:extLst>
              <a:ext uri="{FF2B5EF4-FFF2-40B4-BE49-F238E27FC236}">
                <a16:creationId xmlns:a16="http://schemas.microsoft.com/office/drawing/2014/main" id="{80287568-9760-DB9B-504C-A44AA69893B5}"/>
              </a:ext>
            </a:extLst>
          </p:cNvPr>
          <p:cNvPicPr>
            <a:picLocks noChangeAspect="1"/>
          </p:cNvPicPr>
          <p:nvPr/>
        </p:nvPicPr>
        <p:blipFill>
          <a:blip r:embed="rId3"/>
          <a:stretch>
            <a:fillRect/>
          </a:stretch>
        </p:blipFill>
        <p:spPr>
          <a:xfrm>
            <a:off x="6735096" y="2797033"/>
            <a:ext cx="4892464" cy="2804403"/>
          </a:xfrm>
          <a:prstGeom prst="rect">
            <a:avLst/>
          </a:prstGeom>
        </p:spPr>
      </p:pic>
      <p:sp>
        <p:nvSpPr>
          <p:cNvPr id="15" name="TextBox 14">
            <a:extLst>
              <a:ext uri="{FF2B5EF4-FFF2-40B4-BE49-F238E27FC236}">
                <a16:creationId xmlns:a16="http://schemas.microsoft.com/office/drawing/2014/main" id="{DF8218F6-99C3-67B1-7467-72CD61118428}"/>
              </a:ext>
            </a:extLst>
          </p:cNvPr>
          <p:cNvSpPr txBox="1"/>
          <p:nvPr/>
        </p:nvSpPr>
        <p:spPr>
          <a:xfrm>
            <a:off x="186812" y="4439374"/>
            <a:ext cx="6548284" cy="2308324"/>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Those are the results of plotting a couple of vectors in two dimensions. Note that words with similar part of speech (POS) tags are next to one another. This is because many of the training algorithms learn words by identifying the neighboring words. Thus, words with similar POS tags tend to be found in similar locations. An interesting insight is that synonyms and antonyms tend to be found next to each other in the plot. Why is that the case?</a:t>
            </a:r>
            <a:endParaRPr lang="en-US" dirty="0"/>
          </a:p>
        </p:txBody>
      </p:sp>
    </p:spTree>
    <p:extLst>
      <p:ext uri="{BB962C8B-B14F-4D97-AF65-F5344CB8AC3E}">
        <p14:creationId xmlns:p14="http://schemas.microsoft.com/office/powerpoint/2010/main" val="1012024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297F4B-E42C-7092-F10E-3E8FBDAA43D3}"/>
              </a:ext>
            </a:extLst>
          </p:cNvPr>
          <p:cNvSpPr txBox="1"/>
          <p:nvPr/>
        </p:nvSpPr>
        <p:spPr>
          <a:xfrm>
            <a:off x="167149" y="90637"/>
            <a:ext cx="6096000" cy="369332"/>
          </a:xfrm>
          <a:prstGeom prst="rect">
            <a:avLst/>
          </a:prstGeom>
          <a:noFill/>
        </p:spPr>
        <p:txBody>
          <a:bodyPr wrap="square">
            <a:spAutoFit/>
          </a:bodyPr>
          <a:lstStyle/>
          <a:p>
            <a:pPr algn="l"/>
            <a:r>
              <a:rPr lang="en-US" b="1" i="0" dirty="0">
                <a:solidFill>
                  <a:srgbClr val="1F1F1F"/>
                </a:solidFill>
                <a:effectLst/>
              </a:rPr>
              <a:t>PCA algorithm</a:t>
            </a:r>
          </a:p>
        </p:txBody>
      </p:sp>
      <p:sp>
        <p:nvSpPr>
          <p:cNvPr id="7" name="TextBox 6">
            <a:extLst>
              <a:ext uri="{FF2B5EF4-FFF2-40B4-BE49-F238E27FC236}">
                <a16:creationId xmlns:a16="http://schemas.microsoft.com/office/drawing/2014/main" id="{05AD37B2-A15E-E330-E086-37B7C18EB1EB}"/>
              </a:ext>
            </a:extLst>
          </p:cNvPr>
          <p:cNvSpPr txBox="1"/>
          <p:nvPr/>
        </p:nvSpPr>
        <p:spPr>
          <a:xfrm>
            <a:off x="167148" y="459969"/>
            <a:ext cx="12024851"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PCA is commonly used to reduce the dimension of your data. Intuitively the model collapses the data across principal components. You can think of the first principal component (in a 2D dataset) as the line where there is the most amount of variance. You can then collapse the data points on that line. Hence you went from 2D to 1D. You can generalize this intuition to several dimensions.</a:t>
            </a:r>
            <a:endParaRPr lang="en-US" dirty="0"/>
          </a:p>
        </p:txBody>
      </p:sp>
      <p:pic>
        <p:nvPicPr>
          <p:cNvPr id="9" name="Picture 8">
            <a:extLst>
              <a:ext uri="{FF2B5EF4-FFF2-40B4-BE49-F238E27FC236}">
                <a16:creationId xmlns:a16="http://schemas.microsoft.com/office/drawing/2014/main" id="{493B0254-2617-70FC-A2F7-E60E13994075}"/>
              </a:ext>
            </a:extLst>
          </p:cNvPr>
          <p:cNvPicPr>
            <a:picLocks noChangeAspect="1"/>
          </p:cNvPicPr>
          <p:nvPr/>
        </p:nvPicPr>
        <p:blipFill>
          <a:blip r:embed="rId2"/>
          <a:stretch>
            <a:fillRect/>
          </a:stretch>
        </p:blipFill>
        <p:spPr>
          <a:xfrm>
            <a:off x="167148" y="1827169"/>
            <a:ext cx="5079438" cy="2336740"/>
          </a:xfrm>
          <a:prstGeom prst="rect">
            <a:avLst/>
          </a:prstGeom>
        </p:spPr>
      </p:pic>
      <p:sp>
        <p:nvSpPr>
          <p:cNvPr id="11" name="TextBox 10">
            <a:extLst>
              <a:ext uri="{FF2B5EF4-FFF2-40B4-BE49-F238E27FC236}">
                <a16:creationId xmlns:a16="http://schemas.microsoft.com/office/drawing/2014/main" id="{1F4ACC03-BEC7-0EF2-AEDD-A28222B90312}"/>
              </a:ext>
            </a:extLst>
          </p:cNvPr>
          <p:cNvSpPr txBox="1"/>
          <p:nvPr/>
        </p:nvSpPr>
        <p:spPr>
          <a:xfrm>
            <a:off x="5889522" y="1532480"/>
            <a:ext cx="6302477" cy="2031325"/>
          </a:xfrm>
          <a:prstGeom prst="rect">
            <a:avLst/>
          </a:prstGeom>
          <a:noFill/>
        </p:spPr>
        <p:txBody>
          <a:bodyPr wrap="square">
            <a:spAutoFit/>
          </a:bodyPr>
          <a:lstStyle/>
          <a:p>
            <a:pPr algn="l"/>
            <a:r>
              <a:rPr lang="en-US" b="1" i="0" dirty="0">
                <a:solidFill>
                  <a:srgbClr val="1F1F1F"/>
                </a:solidFill>
                <a:effectLst/>
                <a:latin typeface="unset"/>
              </a:rPr>
              <a:t>Eigenvector</a:t>
            </a:r>
            <a:r>
              <a:rPr lang="en-US" b="0" i="0" dirty="0">
                <a:solidFill>
                  <a:srgbClr val="1F1F1F"/>
                </a:solidFill>
                <a:effectLst/>
                <a:latin typeface="var(--cds-font-family-source-sans-pro)"/>
              </a:rPr>
              <a:t>: the resulting vectors, also known as the uncorrelated features of your data</a:t>
            </a:r>
          </a:p>
          <a:p>
            <a:pPr algn="l"/>
            <a:r>
              <a:rPr lang="en-US" b="1" i="0" dirty="0">
                <a:solidFill>
                  <a:srgbClr val="1F1F1F"/>
                </a:solidFill>
                <a:effectLst/>
                <a:latin typeface="unset"/>
              </a:rPr>
              <a:t>Eigenvalue: </a:t>
            </a:r>
            <a:r>
              <a:rPr lang="en-US" b="0" i="0" dirty="0">
                <a:solidFill>
                  <a:srgbClr val="1F1F1F"/>
                </a:solidFill>
                <a:effectLst/>
                <a:latin typeface="var(--cds-font-family-source-sans-pro)"/>
              </a:rPr>
              <a:t>the amount of information retained by each new feature. You can think of it as the variance in the eigenvector. </a:t>
            </a:r>
          </a:p>
          <a:p>
            <a:pPr algn="l"/>
            <a:r>
              <a:rPr lang="en-US" b="0" i="0" dirty="0">
                <a:solidFill>
                  <a:srgbClr val="1F1F1F"/>
                </a:solidFill>
                <a:effectLst/>
                <a:latin typeface="var(--cds-font-family-source-sans-pro)"/>
              </a:rPr>
              <a:t>Also each </a:t>
            </a:r>
            <a:r>
              <a:rPr lang="en-US" b="1" i="0" dirty="0">
                <a:solidFill>
                  <a:srgbClr val="1F1F1F"/>
                </a:solidFill>
                <a:effectLst/>
                <a:latin typeface="unset"/>
              </a:rPr>
              <a:t>eigenvalue</a:t>
            </a:r>
            <a:r>
              <a:rPr lang="en-US" b="0" i="0" dirty="0">
                <a:solidFill>
                  <a:srgbClr val="1F1F1F"/>
                </a:solidFill>
                <a:effectLst/>
                <a:latin typeface="var(--cds-font-family-source-sans-pro)"/>
              </a:rPr>
              <a:t> has a corresponding eigenvector. The eigenvalue tells you how much variance there is in the eigenvector. Here are the steps required to compute PCA:</a:t>
            </a:r>
          </a:p>
        </p:txBody>
      </p:sp>
      <p:pic>
        <p:nvPicPr>
          <p:cNvPr id="13" name="Picture 12">
            <a:extLst>
              <a:ext uri="{FF2B5EF4-FFF2-40B4-BE49-F238E27FC236}">
                <a16:creationId xmlns:a16="http://schemas.microsoft.com/office/drawing/2014/main" id="{2DBC731C-CF47-B6B5-2382-637D6BDFA663}"/>
              </a:ext>
            </a:extLst>
          </p:cNvPr>
          <p:cNvPicPr>
            <a:picLocks noChangeAspect="1"/>
          </p:cNvPicPr>
          <p:nvPr/>
        </p:nvPicPr>
        <p:blipFill>
          <a:blip r:embed="rId3"/>
          <a:stretch>
            <a:fillRect/>
          </a:stretch>
        </p:blipFill>
        <p:spPr>
          <a:xfrm>
            <a:off x="6331386" y="3667431"/>
            <a:ext cx="5418747" cy="2546812"/>
          </a:xfrm>
          <a:prstGeom prst="rect">
            <a:avLst/>
          </a:prstGeom>
        </p:spPr>
      </p:pic>
      <p:pic>
        <p:nvPicPr>
          <p:cNvPr id="15" name="Picture 14">
            <a:extLst>
              <a:ext uri="{FF2B5EF4-FFF2-40B4-BE49-F238E27FC236}">
                <a16:creationId xmlns:a16="http://schemas.microsoft.com/office/drawing/2014/main" id="{755ADB3A-5906-B9DF-FC45-EBD9D7DE5667}"/>
              </a:ext>
            </a:extLst>
          </p:cNvPr>
          <p:cNvPicPr>
            <a:picLocks noChangeAspect="1"/>
          </p:cNvPicPr>
          <p:nvPr/>
        </p:nvPicPr>
        <p:blipFill>
          <a:blip r:embed="rId4"/>
          <a:stretch>
            <a:fillRect/>
          </a:stretch>
        </p:blipFill>
        <p:spPr>
          <a:xfrm>
            <a:off x="117041" y="4330780"/>
            <a:ext cx="6223094" cy="1529246"/>
          </a:xfrm>
          <a:prstGeom prst="rect">
            <a:avLst/>
          </a:prstGeom>
        </p:spPr>
      </p:pic>
    </p:spTree>
    <p:extLst>
      <p:ext uri="{BB962C8B-B14F-4D97-AF65-F5344CB8AC3E}">
        <p14:creationId xmlns:p14="http://schemas.microsoft.com/office/powerpoint/2010/main" val="4162940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D9662E-EA42-91D8-ED72-2942CBE31DE3}"/>
              </a:ext>
            </a:extLst>
          </p:cNvPr>
          <p:cNvSpPr txBox="1"/>
          <p:nvPr/>
        </p:nvSpPr>
        <p:spPr>
          <a:xfrm>
            <a:off x="0" y="90638"/>
            <a:ext cx="6096000" cy="369332"/>
          </a:xfrm>
          <a:prstGeom prst="rect">
            <a:avLst/>
          </a:prstGeom>
          <a:noFill/>
        </p:spPr>
        <p:txBody>
          <a:bodyPr wrap="square">
            <a:spAutoFit/>
          </a:bodyPr>
          <a:lstStyle/>
          <a:p>
            <a:pPr algn="l"/>
            <a:r>
              <a:rPr lang="en-US" b="1" i="0" dirty="0">
                <a:solidFill>
                  <a:srgbClr val="1F1F1F"/>
                </a:solidFill>
                <a:effectLst/>
              </a:rPr>
              <a:t>The Rotation Matrix (Optional Reading)</a:t>
            </a:r>
          </a:p>
        </p:txBody>
      </p:sp>
      <p:pic>
        <p:nvPicPr>
          <p:cNvPr id="7" name="Picture 6">
            <a:extLst>
              <a:ext uri="{FF2B5EF4-FFF2-40B4-BE49-F238E27FC236}">
                <a16:creationId xmlns:a16="http://schemas.microsoft.com/office/drawing/2014/main" id="{9880A62E-FCD1-A3CD-5BB0-10CB6EDC32A9}"/>
              </a:ext>
            </a:extLst>
          </p:cNvPr>
          <p:cNvPicPr>
            <a:picLocks noChangeAspect="1"/>
          </p:cNvPicPr>
          <p:nvPr/>
        </p:nvPicPr>
        <p:blipFill rotWithShape="1">
          <a:blip r:embed="rId2"/>
          <a:srcRect r="1822"/>
          <a:stretch/>
        </p:blipFill>
        <p:spPr>
          <a:xfrm>
            <a:off x="13654" y="534838"/>
            <a:ext cx="6500921" cy="3889678"/>
          </a:xfrm>
          <a:prstGeom prst="rect">
            <a:avLst/>
          </a:prstGeom>
        </p:spPr>
      </p:pic>
      <p:pic>
        <p:nvPicPr>
          <p:cNvPr id="9" name="Picture 8">
            <a:extLst>
              <a:ext uri="{FF2B5EF4-FFF2-40B4-BE49-F238E27FC236}">
                <a16:creationId xmlns:a16="http://schemas.microsoft.com/office/drawing/2014/main" id="{FD1F8E40-7990-E251-1BE1-DC94A2D89FD5}"/>
              </a:ext>
            </a:extLst>
          </p:cNvPr>
          <p:cNvPicPr>
            <a:picLocks noChangeAspect="1"/>
          </p:cNvPicPr>
          <p:nvPr/>
        </p:nvPicPr>
        <p:blipFill>
          <a:blip r:embed="rId3"/>
          <a:stretch>
            <a:fillRect/>
          </a:stretch>
        </p:blipFill>
        <p:spPr>
          <a:xfrm>
            <a:off x="13654" y="4424516"/>
            <a:ext cx="3642676" cy="2362405"/>
          </a:xfrm>
          <a:prstGeom prst="rect">
            <a:avLst/>
          </a:prstGeom>
        </p:spPr>
      </p:pic>
      <p:pic>
        <p:nvPicPr>
          <p:cNvPr id="11" name="Picture 10">
            <a:extLst>
              <a:ext uri="{FF2B5EF4-FFF2-40B4-BE49-F238E27FC236}">
                <a16:creationId xmlns:a16="http://schemas.microsoft.com/office/drawing/2014/main" id="{A2D00D23-A608-5B73-5AD3-80DFC152C9A5}"/>
              </a:ext>
            </a:extLst>
          </p:cNvPr>
          <p:cNvPicPr>
            <a:picLocks noChangeAspect="1"/>
          </p:cNvPicPr>
          <p:nvPr/>
        </p:nvPicPr>
        <p:blipFill>
          <a:blip r:embed="rId4"/>
          <a:stretch>
            <a:fillRect/>
          </a:stretch>
        </p:blipFill>
        <p:spPr>
          <a:xfrm>
            <a:off x="6575752" y="206477"/>
            <a:ext cx="4868995" cy="4620893"/>
          </a:xfrm>
          <a:prstGeom prst="rect">
            <a:avLst/>
          </a:prstGeom>
        </p:spPr>
      </p:pic>
      <p:pic>
        <p:nvPicPr>
          <p:cNvPr id="13" name="Picture 12">
            <a:extLst>
              <a:ext uri="{FF2B5EF4-FFF2-40B4-BE49-F238E27FC236}">
                <a16:creationId xmlns:a16="http://schemas.microsoft.com/office/drawing/2014/main" id="{2F085ED0-F33C-5A51-33B1-AECF2E2F5D30}"/>
              </a:ext>
            </a:extLst>
          </p:cNvPr>
          <p:cNvPicPr>
            <a:picLocks noChangeAspect="1"/>
          </p:cNvPicPr>
          <p:nvPr/>
        </p:nvPicPr>
        <p:blipFill>
          <a:blip r:embed="rId5"/>
          <a:stretch>
            <a:fillRect/>
          </a:stretch>
        </p:blipFill>
        <p:spPr>
          <a:xfrm>
            <a:off x="6575752" y="4945627"/>
            <a:ext cx="3912612" cy="294428"/>
          </a:xfrm>
          <a:prstGeom prst="rect">
            <a:avLst/>
          </a:prstGeom>
        </p:spPr>
      </p:pic>
    </p:spTree>
    <p:extLst>
      <p:ext uri="{BB962C8B-B14F-4D97-AF65-F5344CB8AC3E}">
        <p14:creationId xmlns:p14="http://schemas.microsoft.com/office/powerpoint/2010/main" val="1492913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6293D9-5D75-2984-E7CB-67A1D721C9E0}"/>
              </a:ext>
            </a:extLst>
          </p:cNvPr>
          <p:cNvPicPr>
            <a:picLocks noChangeAspect="1"/>
          </p:cNvPicPr>
          <p:nvPr/>
        </p:nvPicPr>
        <p:blipFill>
          <a:blip r:embed="rId2"/>
          <a:stretch>
            <a:fillRect/>
          </a:stretch>
        </p:blipFill>
        <p:spPr>
          <a:xfrm>
            <a:off x="139465" y="791317"/>
            <a:ext cx="6348010" cy="4115157"/>
          </a:xfrm>
          <a:prstGeom prst="rect">
            <a:avLst/>
          </a:prstGeom>
        </p:spPr>
      </p:pic>
      <p:pic>
        <p:nvPicPr>
          <p:cNvPr id="7" name="Picture 6">
            <a:extLst>
              <a:ext uri="{FF2B5EF4-FFF2-40B4-BE49-F238E27FC236}">
                <a16:creationId xmlns:a16="http://schemas.microsoft.com/office/drawing/2014/main" id="{57E89825-0665-94D0-40EB-029F490C5F70}"/>
              </a:ext>
            </a:extLst>
          </p:cNvPr>
          <p:cNvPicPr>
            <a:picLocks noChangeAspect="1"/>
          </p:cNvPicPr>
          <p:nvPr/>
        </p:nvPicPr>
        <p:blipFill>
          <a:blip r:embed="rId3"/>
          <a:stretch>
            <a:fillRect/>
          </a:stretch>
        </p:blipFill>
        <p:spPr>
          <a:xfrm>
            <a:off x="6487475" y="1111385"/>
            <a:ext cx="4572396" cy="3795089"/>
          </a:xfrm>
          <a:prstGeom prst="rect">
            <a:avLst/>
          </a:prstGeom>
        </p:spPr>
      </p:pic>
      <p:sp>
        <p:nvSpPr>
          <p:cNvPr id="8" name="TextBox 7">
            <a:extLst>
              <a:ext uri="{FF2B5EF4-FFF2-40B4-BE49-F238E27FC236}">
                <a16:creationId xmlns:a16="http://schemas.microsoft.com/office/drawing/2014/main" id="{AEC4CEA8-5CAB-5EF9-79AA-6FE8A47DF601}"/>
              </a:ext>
            </a:extLst>
          </p:cNvPr>
          <p:cNvSpPr txBox="1"/>
          <p:nvPr/>
        </p:nvSpPr>
        <p:spPr>
          <a:xfrm>
            <a:off x="0" y="90638"/>
            <a:ext cx="6096000" cy="369332"/>
          </a:xfrm>
          <a:prstGeom prst="rect">
            <a:avLst/>
          </a:prstGeom>
          <a:noFill/>
        </p:spPr>
        <p:txBody>
          <a:bodyPr wrap="square">
            <a:spAutoFit/>
          </a:bodyPr>
          <a:lstStyle/>
          <a:p>
            <a:pPr algn="l"/>
            <a:r>
              <a:rPr lang="en-US" b="1" i="0" dirty="0">
                <a:solidFill>
                  <a:srgbClr val="1F1F1F"/>
                </a:solidFill>
                <a:effectLst/>
              </a:rPr>
              <a:t>The Rotation Matrix (Optional Reading) (</a:t>
            </a:r>
            <a:r>
              <a:rPr lang="en-US" b="1" i="0" dirty="0" err="1">
                <a:solidFill>
                  <a:srgbClr val="1F1F1F"/>
                </a:solidFill>
                <a:effectLst/>
              </a:rPr>
              <a:t>contd</a:t>
            </a:r>
            <a:r>
              <a:rPr lang="en-US" b="1" i="0" dirty="0">
                <a:solidFill>
                  <a:srgbClr val="1F1F1F"/>
                </a:solidFill>
                <a:effectLst/>
              </a:rPr>
              <a:t>…)</a:t>
            </a:r>
          </a:p>
        </p:txBody>
      </p:sp>
    </p:spTree>
    <p:extLst>
      <p:ext uri="{BB962C8B-B14F-4D97-AF65-F5344CB8AC3E}">
        <p14:creationId xmlns:p14="http://schemas.microsoft.com/office/powerpoint/2010/main" val="2040515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909</Words>
  <Application>Microsoft Office PowerPoint</Application>
  <PresentationFormat>Widescreen</PresentationFormat>
  <Paragraphs>28</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KaTeX_Main</vt:lpstr>
      <vt:lpstr>KaTeX_Math</vt:lpstr>
      <vt:lpstr>Source Sans Pro</vt:lpstr>
      <vt:lpstr>unset</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59</cp:revision>
  <dcterms:created xsi:type="dcterms:W3CDTF">2024-01-15T18:57:07Z</dcterms:created>
  <dcterms:modified xsi:type="dcterms:W3CDTF">2024-01-15T19:53:31Z</dcterms:modified>
</cp:coreProperties>
</file>