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6C42-5B3E-A497-A6A2-FCFAD603F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018EC-06FE-72F4-EE82-A00A909D7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82122-7C78-356A-7605-1349EBCC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0420E-6705-251D-65C0-23703806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23072-178A-FC53-B4DC-F2955083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30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4113-9C66-1A5C-8A89-2F7828F1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3408E-2A1E-1813-68E2-BF8BF2742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8901F-BDB8-EF9B-2193-6D309CF6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D228C-D324-92D8-5E60-A602DFDC3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6342C-7989-1ABB-DE3C-057597D2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7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D382-E1A1-7CF7-7FA8-C6243294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8C53E-B992-EA57-6769-B17E94095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76B4D-7AED-B52E-1658-C07D337F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95475-3AE2-6290-B0AF-42480144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C627D-9F22-D6FF-DD36-658C56144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2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85EA-616C-9C6C-B622-D092CC301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C5A7C-76B5-BF52-31C7-348B8842A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AC4F4-9335-2007-1EC9-5C9CBB806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4CB46-EA71-C3F4-825B-6CFC38B2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5BAA7-F7B1-3B09-8233-27A3E84A8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CACB3-D678-EA61-5CF0-FC1E1476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56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A72B2-2B44-7A0E-00AC-8DAD0E7EB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FFB4B-3F3F-AD5F-B51F-A16DEA5FF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9D869-7652-525A-7C82-2C86FEAF7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F4C37-3C0F-35A6-771B-C252F10A9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1F7CD-A96B-F8E5-CBF1-A88C03DC8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71502A-AD33-339F-DD66-577220AF8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8116B5-52A9-9B84-81BD-377ED4DF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F17C93-2046-761D-B3DF-1A83ACBA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72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1ED55-C18A-F962-B3C9-587011B2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C829C3-9D7A-503D-44EE-D3BEEFE0E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608C1-083F-B8D4-97D8-17092D51C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E0D23-5DFC-6CF0-4287-8C1321645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67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33A488-E6AB-50BC-C764-11C25095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63390-09EC-3D05-A098-1203A2649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6377B-09DD-2A68-F254-53787782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4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7387-2FC8-B011-ED17-D5F621D4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0F0DC-EC46-4B8E-B6ED-5B09286C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48791-A8F1-754C-EE88-41DD406E7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2B774-0557-D463-3B6F-97D47EBA3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AF406-DE39-D359-AE50-9269BB3CD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3D556-2981-D5FD-0774-B8E7728B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1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72F10-55EC-C9C4-2B32-ED49EA4E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C84F16-3DAE-711A-ADE5-D30D39386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D15CF-67F2-9D12-BBF4-622D56957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46525-463A-F6CC-466C-F15EE3E8B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55FD3-C87F-07F4-263E-D30A2E5C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C8BE6-1F5C-4322-DCFB-48731A0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1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0AD6-D766-FDEE-D371-FCA00670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72F97-9CEA-B704-3206-E59D8A20E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A10D3-D731-18EF-13BA-E7A5D7345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4E9DF-A116-6304-1C78-12F5CD30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DF100-2A8F-7741-1B1A-A4EA5E7BD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81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11AC9-C382-8446-2DE8-327E2A01D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5D66D-851D-009D-45C5-C0886FF11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99960-487D-EA47-ACDA-C3220E373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B196C-A7BB-4B7A-B5BE-090A3FF7F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FCD99-6206-A40F-B254-DFE649DCE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8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1A908-74F2-474D-B945-2E44B526C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CBABE-F536-7853-4F35-8DE82A166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02A6D-84A5-31F8-7ABE-E3E8942B3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F0281-4B6F-4AF3-96A5-926C38AB679D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4655D-8A51-B713-9E98-1AFAB40CF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4D1F9-8CB5-C599-0AD6-C69FBD741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02A9C-AAD2-46F2-AA93-E3A81549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15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EF0E0F-81C2-04CF-98D4-4BF5F27F9ADD}"/>
              </a:ext>
            </a:extLst>
          </p:cNvPr>
          <p:cNvSpPr txBox="1"/>
          <p:nvPr/>
        </p:nvSpPr>
        <p:spPr>
          <a:xfrm>
            <a:off x="117987" y="120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Part of Speech Tagging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B740A-2BB7-2A55-0591-A2491C308AE2}"/>
              </a:ext>
            </a:extLst>
          </p:cNvPr>
          <p:cNvSpPr txBox="1"/>
          <p:nvPr/>
        </p:nvSpPr>
        <p:spPr>
          <a:xfrm>
            <a:off x="117986" y="578011"/>
            <a:ext cx="117003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Part of Speech Tagging (POS) is the process of assigning a part of speech to a word. By doing so, you will learn the following: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Markov Chains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Hidden Markov Models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Viterbi algorithm</a:t>
            </a:r>
            <a:endParaRPr lang="en-US" dirty="0">
              <a:solidFill>
                <a:srgbClr val="1F1F1F"/>
              </a:solidFill>
              <a:latin typeface="var(--cds-font-family-source-sans-pro)"/>
            </a:endParaRPr>
          </a:p>
          <a:p>
            <a:pPr algn="l"/>
            <a:endParaRPr lang="en-US" b="0" i="0" dirty="0">
              <a:solidFill>
                <a:srgbClr val="1F1F1F"/>
              </a:solidFill>
              <a:effectLst/>
              <a:latin typeface="var(--cds-font-family-source-sans-pro)"/>
            </a:endParaRP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Here is a concrete example: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D66ACB-6AFA-43FD-AA29-4D682A9C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5" y="2420883"/>
            <a:ext cx="6243485" cy="23326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0B8B2F-C237-199B-B83E-291FEF41142F}"/>
              </a:ext>
            </a:extLst>
          </p:cNvPr>
          <p:cNvSpPr txBox="1"/>
          <p:nvPr/>
        </p:nvSpPr>
        <p:spPr>
          <a:xfrm>
            <a:off x="172064" y="4991280"/>
            <a:ext cx="118478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You can use part of speech tagging for: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Identifying named entities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Speech recognition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Coreference Resolution</a:t>
            </a:r>
          </a:p>
          <a:p>
            <a:pPr algn="l"/>
            <a:endParaRPr lang="en-US" dirty="0">
              <a:solidFill>
                <a:srgbClr val="1F1F1F"/>
              </a:solidFill>
              <a:latin typeface="var(--cds-font-family-source-sans-pro)"/>
            </a:endParaRP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You can use the probabilities of POS tags happening near one another to come up with the most reasonable output.</a:t>
            </a:r>
          </a:p>
        </p:txBody>
      </p:sp>
    </p:spTree>
    <p:extLst>
      <p:ext uri="{BB962C8B-B14F-4D97-AF65-F5344CB8AC3E}">
        <p14:creationId xmlns:p14="http://schemas.microsoft.com/office/powerpoint/2010/main" val="1528329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97BC56-75CE-74E3-460E-3DD0F5A4730C}"/>
              </a:ext>
            </a:extLst>
          </p:cNvPr>
          <p:cNvSpPr txBox="1"/>
          <p:nvPr/>
        </p:nvSpPr>
        <p:spPr>
          <a:xfrm>
            <a:off x="186813" y="1692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Markov Chains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42665E-64FC-5AF9-71E5-3703366AC3A7}"/>
              </a:ext>
            </a:extLst>
          </p:cNvPr>
          <p:cNvSpPr txBox="1"/>
          <p:nvPr/>
        </p:nvSpPr>
        <p:spPr>
          <a:xfrm>
            <a:off x="186812" y="647685"/>
            <a:ext cx="117790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var(--cds-font-family-source-sans-pro)"/>
              </a:rPr>
              <a:t>You can use Markov chains to identify the probability of the next word. For example below, you can see that the most likely word after a verb is a noun. 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D8BF72-D52F-2A90-32CF-5C3285787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64" y="1549366"/>
            <a:ext cx="6591871" cy="8154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206667-A268-7FA5-68EC-9FF23BFE2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94" y="2474142"/>
            <a:ext cx="6482135" cy="420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02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BA6D43-60D6-D48A-F590-7C1365C4ECC2}"/>
              </a:ext>
            </a:extLst>
          </p:cNvPr>
          <p:cNvSpPr txBox="1"/>
          <p:nvPr/>
        </p:nvSpPr>
        <p:spPr>
          <a:xfrm>
            <a:off x="0" y="1004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Markov Chains and POS Tags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EABF27-A405-557E-6B4B-B18137F55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0" y="469802"/>
            <a:ext cx="6724489" cy="3002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6036BA-64C2-A7A2-31FF-A7D48C6CA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959" y="3328234"/>
            <a:ext cx="7559695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96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D08E98-BF70-BD50-0EFA-EC49B4CBBF54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Hidden Markov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7A8B2-90D1-48D5-EC80-86FF9EC1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2" y="369332"/>
            <a:ext cx="9612241" cy="569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62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076C5E-F9D3-DE9C-5BE5-0C87B2F49470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Hidden Markov Models (contd..)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810B3F-C16F-AC78-A8B9-4BAF47DA72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3" t="5457" r="2053"/>
          <a:stretch/>
        </p:blipFill>
        <p:spPr>
          <a:xfrm>
            <a:off x="393289" y="698090"/>
            <a:ext cx="9925360" cy="456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81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935372-3E31-401A-8D4F-430294B5F8A1}"/>
              </a:ext>
            </a:extLst>
          </p:cNvPr>
          <p:cNvSpPr txBox="1"/>
          <p:nvPr/>
        </p:nvSpPr>
        <p:spPr>
          <a:xfrm>
            <a:off x="98323" y="709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Calculating Probabilities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964A11-0ADB-B495-9196-2DCE2FD48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2" y="511119"/>
            <a:ext cx="6317186" cy="30383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C7DCA6-2A3B-17CA-4D7F-5A0E8AA4E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34" y="3358028"/>
            <a:ext cx="685094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14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464381-7352-38EE-4700-EF98E58AE66F}"/>
              </a:ext>
            </a:extLst>
          </p:cNvPr>
          <p:cNvSpPr txBox="1"/>
          <p:nvPr/>
        </p:nvSpPr>
        <p:spPr>
          <a:xfrm>
            <a:off x="137652" y="110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Populating the Transition Matrix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04E4EF-1852-887B-08DE-E4EFAC232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2" y="401599"/>
            <a:ext cx="6096000" cy="31046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A7B8BF-E7EE-E12A-094F-24929630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97" y="3657754"/>
            <a:ext cx="4785216" cy="12645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E27215-E2BE-2F26-9B11-C71579AEA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764" y="479634"/>
            <a:ext cx="5858236" cy="308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00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8643CA-F203-A13B-FB6F-D727BEE88F9E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Populating the Emission Matrix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0D1117-AD92-EF1F-EB53-6F9A40966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55" y="443219"/>
            <a:ext cx="8797497" cy="574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1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F4D8DB-5C16-DB01-1733-D201E153F70B}"/>
              </a:ext>
            </a:extLst>
          </p:cNvPr>
          <p:cNvSpPr txBox="1"/>
          <p:nvPr/>
        </p:nvSpPr>
        <p:spPr>
          <a:xfrm>
            <a:off x="157316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The Viterbi Algorithm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A0D99C-962B-D3EA-A22D-B03C6B548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332"/>
            <a:ext cx="6271002" cy="33275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9157D1-E3D1-EB7A-F2FF-73AF39AEF4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01" b="6164"/>
          <a:stretch/>
        </p:blipFill>
        <p:spPr>
          <a:xfrm>
            <a:off x="1691148" y="3696929"/>
            <a:ext cx="6934948" cy="299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30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13695-340B-639F-B096-334CFB8F03A2}"/>
              </a:ext>
            </a:extLst>
          </p:cNvPr>
          <p:cNvSpPr txBox="1"/>
          <p:nvPr/>
        </p:nvSpPr>
        <p:spPr>
          <a:xfrm>
            <a:off x="147484" y="120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Viterbi Initialization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B69C6A-B0B2-0EDA-C57C-DFC3105B7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56" y="578526"/>
            <a:ext cx="6276628" cy="42872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2FC5F8-7F79-B776-1839-E61788814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182" y="578525"/>
            <a:ext cx="5100201" cy="218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97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89539E-44D9-BEF8-956D-DAB19B09EB85}"/>
              </a:ext>
            </a:extLst>
          </p:cNvPr>
          <p:cNvSpPr txBox="1"/>
          <p:nvPr/>
        </p:nvSpPr>
        <p:spPr>
          <a:xfrm>
            <a:off x="88490" y="808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Viterbi: Forward Pass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03B3F0-629C-9E9B-0A3A-6442A4C0D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30" y="450137"/>
            <a:ext cx="5602693" cy="23433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7B937E-114E-0D6F-3C96-98A4023B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30" y="2984561"/>
            <a:ext cx="6096000" cy="37229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157C8E-0258-5CA7-E602-00CB194E8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546" y="5305084"/>
            <a:ext cx="5525584" cy="62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589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4F3F60-4B10-D891-016D-36ECD96F24EF}"/>
              </a:ext>
            </a:extLst>
          </p:cNvPr>
          <p:cNvSpPr txBox="1"/>
          <p:nvPr/>
        </p:nvSpPr>
        <p:spPr>
          <a:xfrm>
            <a:off x="127819" y="1397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Viterbi: Backward Pass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04428-ED80-BB65-3717-9620A5759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590170"/>
            <a:ext cx="7643522" cy="31016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B6806C-BAB4-682B-B69D-8A7BE8941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123" y="2471407"/>
            <a:ext cx="7106054" cy="35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157</Words>
  <Application>Microsoft Office PowerPoint</Application>
  <PresentationFormat>Widescreen</PresentationFormat>
  <Paragraphs>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var(--cds-font-family-source-sans-pro)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mrinmoy bhuyan</dc:creator>
  <cp:lastModifiedBy>mrinmoy bhuyan</cp:lastModifiedBy>
  <cp:revision>37</cp:revision>
  <dcterms:created xsi:type="dcterms:W3CDTF">2024-01-15T21:22:49Z</dcterms:created>
  <dcterms:modified xsi:type="dcterms:W3CDTF">2024-01-15T21:49:58Z</dcterms:modified>
</cp:coreProperties>
</file>