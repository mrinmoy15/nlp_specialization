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86516-F420-213F-2D10-9065C7D038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CF6719-144D-BE27-3B52-BF1C6CC52B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E3861D-58B7-6818-9FFA-BFE2E4A698AB}"/>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5" name="Footer Placeholder 4">
            <a:extLst>
              <a:ext uri="{FF2B5EF4-FFF2-40B4-BE49-F238E27FC236}">
                <a16:creationId xmlns:a16="http://schemas.microsoft.com/office/drawing/2014/main" id="{0AF77BE4-465C-EDA6-E8E2-43B240E5CF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75166-2D66-C2BB-113A-1B83B584F724}"/>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1214828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EF46D-1DBD-09BA-0760-A6AF2BA068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223E79-C56F-6A5C-D174-389A1E5A4C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B8BE1-9D7B-19B1-CD49-EFCDA7E214DD}"/>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5" name="Footer Placeholder 4">
            <a:extLst>
              <a:ext uri="{FF2B5EF4-FFF2-40B4-BE49-F238E27FC236}">
                <a16:creationId xmlns:a16="http://schemas.microsoft.com/office/drawing/2014/main" id="{4D2BE97D-EC77-8DA2-51E7-FA6936A855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E2BB59-326E-7FA9-0F5F-CF1ED9948366}"/>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2394780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AD8B0-C8A1-9178-AD93-54B28C4FC3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B94C07-0DB4-4D71-5596-2CCA09A737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E6B457-2B4D-E224-81BE-8E73584D9EE9}"/>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5" name="Footer Placeholder 4">
            <a:extLst>
              <a:ext uri="{FF2B5EF4-FFF2-40B4-BE49-F238E27FC236}">
                <a16:creationId xmlns:a16="http://schemas.microsoft.com/office/drawing/2014/main" id="{11A60651-465B-F521-1747-96C54B5D8C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8AD85-5DDE-CF61-99E5-055E880A749B}"/>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1546552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7FE89-0BF0-CB15-6000-267F77DA45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C08F07-05F2-8926-4420-78B15651B0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083B37-9913-BB0D-705F-A8C7A60279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F9134B-B306-7C21-94F0-AFF717E1F9B9}"/>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6" name="Footer Placeholder 5">
            <a:extLst>
              <a:ext uri="{FF2B5EF4-FFF2-40B4-BE49-F238E27FC236}">
                <a16:creationId xmlns:a16="http://schemas.microsoft.com/office/drawing/2014/main" id="{12550E3B-D948-498F-63BC-E7B3EA7B23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D69CFC-0F7E-1A94-3BCD-1E41D9FFA2D4}"/>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502203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B4A63-E3F6-E005-E542-47DE1CE1BA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6D7B57-E10A-808E-8875-6E84A60218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7DF3FC-3A1E-29C8-9B53-A1DBB18B90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EE31C9-472D-7650-45DF-333617385D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5DE620-39CF-3172-77E9-FA0164668C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4502B9-B6FB-C561-44BF-7F74409193B2}"/>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8" name="Footer Placeholder 7">
            <a:extLst>
              <a:ext uri="{FF2B5EF4-FFF2-40B4-BE49-F238E27FC236}">
                <a16:creationId xmlns:a16="http://schemas.microsoft.com/office/drawing/2014/main" id="{85EB288F-4898-8B66-9AAA-C089660476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4CAE69-1F53-DC73-F837-B490099309DC}"/>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1941538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A6B3E-4395-3FF0-F489-ABC7C61854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E01F5D-2B1B-4740-0894-D39FAD8B84C6}"/>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4" name="Footer Placeholder 3">
            <a:extLst>
              <a:ext uri="{FF2B5EF4-FFF2-40B4-BE49-F238E27FC236}">
                <a16:creationId xmlns:a16="http://schemas.microsoft.com/office/drawing/2014/main" id="{9008A1FA-7F4E-1C9B-11EA-FE008870A5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92AAE1-42E9-5C43-73D9-7E449A16617A}"/>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2376306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A1CA7A-C0D7-F867-E3AA-F574A86640EB}"/>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3" name="Footer Placeholder 2">
            <a:extLst>
              <a:ext uri="{FF2B5EF4-FFF2-40B4-BE49-F238E27FC236}">
                <a16:creationId xmlns:a16="http://schemas.microsoft.com/office/drawing/2014/main" id="{D5434CF8-B911-E39C-A17C-FEFC323BA8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C3EEE9-967F-A5EA-81A6-672DD67C037E}"/>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1463312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8956-EF2A-7317-CA55-0437DEF9E2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5F7636-300D-661E-1AB7-51EC4F0593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5183E-6FD1-E9A1-64E0-2165C62C3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D4228A-C41A-42E5-8C10-8B2015DE05F6}"/>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6" name="Footer Placeholder 5">
            <a:extLst>
              <a:ext uri="{FF2B5EF4-FFF2-40B4-BE49-F238E27FC236}">
                <a16:creationId xmlns:a16="http://schemas.microsoft.com/office/drawing/2014/main" id="{CFD9A6BB-4EA4-268B-B2B1-36ACFC993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0D82E0-0B67-8536-579C-24171FB19857}"/>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2075318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E3E10-5BF5-2989-7E27-3AD4E0F6EE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104941-5E3C-5E9E-4624-0CF8470AD0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0E883C-6C13-8C69-0E19-7D684627AF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A3DA87-989A-FA9D-B3C1-42BDA7873FDB}"/>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6" name="Footer Placeholder 5">
            <a:extLst>
              <a:ext uri="{FF2B5EF4-FFF2-40B4-BE49-F238E27FC236}">
                <a16:creationId xmlns:a16="http://schemas.microsoft.com/office/drawing/2014/main" id="{2707F6AF-A7D5-66D9-8B02-722957BDCF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3BFAE-0E54-BDE0-23A4-9FD8ABC90A85}"/>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1254685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A2884-80FC-2308-A7C9-1C0F120266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EAEC6C-143A-BF04-9356-5108776323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358C0D-01D6-C6DD-7BA6-797CA21CC547}"/>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5" name="Footer Placeholder 4">
            <a:extLst>
              <a:ext uri="{FF2B5EF4-FFF2-40B4-BE49-F238E27FC236}">
                <a16:creationId xmlns:a16="http://schemas.microsoft.com/office/drawing/2014/main" id="{215C25AB-3043-B5D8-1AE2-77575E7273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74B44-3492-5DB1-62E9-008DC02627D9}"/>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3499287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8D8EB4-6ACD-5CA3-911E-A9EC1AFAF8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A085A3-A33F-F1E8-6A15-530A682CAA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625EC1-90FB-C161-5E84-1782B115B019}"/>
              </a:ext>
            </a:extLst>
          </p:cNvPr>
          <p:cNvSpPr>
            <a:spLocks noGrp="1"/>
          </p:cNvSpPr>
          <p:nvPr>
            <p:ph type="dt" sz="half" idx="10"/>
          </p:nvPr>
        </p:nvSpPr>
        <p:spPr/>
        <p:txBody>
          <a:bodyPr/>
          <a:lstStyle/>
          <a:p>
            <a:fld id="{46932FA9-AC04-4BBE-BC8D-E70A2654DDA9}" type="datetimeFigureOut">
              <a:rPr lang="en-US" smtClean="0"/>
              <a:t>1/15/2024</a:t>
            </a:fld>
            <a:endParaRPr lang="en-US"/>
          </a:p>
        </p:txBody>
      </p:sp>
      <p:sp>
        <p:nvSpPr>
          <p:cNvPr id="5" name="Footer Placeholder 4">
            <a:extLst>
              <a:ext uri="{FF2B5EF4-FFF2-40B4-BE49-F238E27FC236}">
                <a16:creationId xmlns:a16="http://schemas.microsoft.com/office/drawing/2014/main" id="{B7C5885F-6F9B-1DFB-A4BE-1FD4EA092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63391-E16B-5FF5-AF93-81246D719D35}"/>
              </a:ext>
            </a:extLst>
          </p:cNvPr>
          <p:cNvSpPr>
            <a:spLocks noGrp="1"/>
          </p:cNvSpPr>
          <p:nvPr>
            <p:ph type="sldNum" sz="quarter" idx="12"/>
          </p:nvPr>
        </p:nvSpPr>
        <p:spPr/>
        <p:txBody>
          <a:bodyPr/>
          <a:lstStyle/>
          <a:p>
            <a:fld id="{5A27B7E5-F315-433F-A7C0-0F01844B0879}" type="slidenum">
              <a:rPr lang="en-US" smtClean="0"/>
              <a:t>‹#›</a:t>
            </a:fld>
            <a:endParaRPr lang="en-US"/>
          </a:p>
        </p:txBody>
      </p:sp>
    </p:spTree>
    <p:extLst>
      <p:ext uri="{BB962C8B-B14F-4D97-AF65-F5344CB8AC3E}">
        <p14:creationId xmlns:p14="http://schemas.microsoft.com/office/powerpoint/2010/main" val="67998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72FC7-91E5-C90F-60A0-A8D4413A65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3475B9-0693-1AB6-A3EB-16D05FFD4D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D81D29-C0B3-D196-D51C-0E3C908953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932FA9-AC04-4BBE-BC8D-E70A2654DDA9}" type="datetimeFigureOut">
              <a:rPr lang="en-US" smtClean="0"/>
              <a:t>1/15/2024</a:t>
            </a:fld>
            <a:endParaRPr lang="en-US"/>
          </a:p>
        </p:txBody>
      </p:sp>
      <p:sp>
        <p:nvSpPr>
          <p:cNvPr id="5" name="Footer Placeholder 4">
            <a:extLst>
              <a:ext uri="{FF2B5EF4-FFF2-40B4-BE49-F238E27FC236}">
                <a16:creationId xmlns:a16="http://schemas.microsoft.com/office/drawing/2014/main" id="{F5B7BF4A-87E9-393C-335F-42F6151DD9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15A8AD-41D7-06B7-30A7-E1F2F6A16A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27B7E5-F315-433F-A7C0-0F01844B0879}" type="slidenum">
              <a:rPr lang="en-US" smtClean="0"/>
              <a:t>‹#›</a:t>
            </a:fld>
            <a:endParaRPr lang="en-US"/>
          </a:p>
        </p:txBody>
      </p:sp>
    </p:spTree>
    <p:extLst>
      <p:ext uri="{BB962C8B-B14F-4D97-AF65-F5344CB8AC3E}">
        <p14:creationId xmlns:p14="http://schemas.microsoft.com/office/powerpoint/2010/main" val="3919495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EA1570-E822-9475-91E1-AC5EC6537419}"/>
              </a:ext>
            </a:extLst>
          </p:cNvPr>
          <p:cNvSpPr txBox="1"/>
          <p:nvPr/>
        </p:nvSpPr>
        <p:spPr>
          <a:xfrm>
            <a:off x="98322" y="80805"/>
            <a:ext cx="6096000" cy="369332"/>
          </a:xfrm>
          <a:prstGeom prst="rect">
            <a:avLst/>
          </a:prstGeom>
          <a:noFill/>
        </p:spPr>
        <p:txBody>
          <a:bodyPr wrap="square">
            <a:spAutoFit/>
          </a:bodyPr>
          <a:lstStyle/>
          <a:p>
            <a:pPr algn="l"/>
            <a:r>
              <a:rPr lang="en-US" b="1" i="0" dirty="0">
                <a:solidFill>
                  <a:srgbClr val="1F1F1F"/>
                </a:solidFill>
                <a:effectLst/>
              </a:rPr>
              <a:t>Overview</a:t>
            </a:r>
          </a:p>
        </p:txBody>
      </p:sp>
      <p:sp>
        <p:nvSpPr>
          <p:cNvPr id="7" name="TextBox 6">
            <a:extLst>
              <a:ext uri="{FF2B5EF4-FFF2-40B4-BE49-F238E27FC236}">
                <a16:creationId xmlns:a16="http://schemas.microsoft.com/office/drawing/2014/main" id="{7151093F-8154-2848-E251-5C6A61A631F5}"/>
              </a:ext>
            </a:extLst>
          </p:cNvPr>
          <p:cNvSpPr txBox="1"/>
          <p:nvPr/>
        </p:nvSpPr>
        <p:spPr>
          <a:xfrm>
            <a:off x="98321" y="450137"/>
            <a:ext cx="11838039"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You use auto-correct everyday. When you send your friend a text message, or when you make a mistake in a query, there is an autocorrect behind the scenes that corrects the sentence for you. This week you are also going to learn about minimum edit distance, which tells you the minimum amount of edits to change one word into another. In doing that, you will learn about dynamic programming which is an important programming concept which frequently comes up in interviews and could be used to solve a lot of optimization problems.</a:t>
            </a:r>
            <a:endParaRPr lang="en-US" dirty="0"/>
          </a:p>
        </p:txBody>
      </p:sp>
      <p:pic>
        <p:nvPicPr>
          <p:cNvPr id="9" name="Picture 8">
            <a:extLst>
              <a:ext uri="{FF2B5EF4-FFF2-40B4-BE49-F238E27FC236}">
                <a16:creationId xmlns:a16="http://schemas.microsoft.com/office/drawing/2014/main" id="{40B24285-4230-6FE7-AD73-516739C94EB7}"/>
              </a:ext>
            </a:extLst>
          </p:cNvPr>
          <p:cNvPicPr>
            <a:picLocks noChangeAspect="1"/>
          </p:cNvPicPr>
          <p:nvPr/>
        </p:nvPicPr>
        <p:blipFill>
          <a:blip r:embed="rId2"/>
          <a:stretch>
            <a:fillRect/>
          </a:stretch>
        </p:blipFill>
        <p:spPr>
          <a:xfrm>
            <a:off x="246102" y="2296797"/>
            <a:ext cx="7353937" cy="2911092"/>
          </a:xfrm>
          <a:prstGeom prst="rect">
            <a:avLst/>
          </a:prstGeom>
        </p:spPr>
      </p:pic>
    </p:spTree>
    <p:extLst>
      <p:ext uri="{BB962C8B-B14F-4D97-AF65-F5344CB8AC3E}">
        <p14:creationId xmlns:p14="http://schemas.microsoft.com/office/powerpoint/2010/main" val="2657479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8CEF6A-71FB-4C3E-D331-6D72A698CF99}"/>
              </a:ext>
            </a:extLst>
          </p:cNvPr>
          <p:cNvSpPr txBox="1"/>
          <p:nvPr/>
        </p:nvSpPr>
        <p:spPr>
          <a:xfrm>
            <a:off x="147483" y="0"/>
            <a:ext cx="6096000" cy="369332"/>
          </a:xfrm>
          <a:prstGeom prst="rect">
            <a:avLst/>
          </a:prstGeom>
          <a:noFill/>
        </p:spPr>
        <p:txBody>
          <a:bodyPr wrap="square">
            <a:spAutoFit/>
          </a:bodyPr>
          <a:lstStyle/>
          <a:p>
            <a:pPr algn="l"/>
            <a:r>
              <a:rPr lang="en-US" b="1" i="0" dirty="0">
                <a:solidFill>
                  <a:srgbClr val="1F1F1F"/>
                </a:solidFill>
                <a:effectLst/>
              </a:rPr>
              <a:t>Autocorrect</a:t>
            </a:r>
          </a:p>
        </p:txBody>
      </p:sp>
      <p:sp>
        <p:nvSpPr>
          <p:cNvPr id="7" name="TextBox 6">
            <a:extLst>
              <a:ext uri="{FF2B5EF4-FFF2-40B4-BE49-F238E27FC236}">
                <a16:creationId xmlns:a16="http://schemas.microsoft.com/office/drawing/2014/main" id="{786E3A70-29D8-84F6-887C-3BA7FB35AF07}"/>
              </a:ext>
            </a:extLst>
          </p:cNvPr>
          <p:cNvSpPr txBox="1"/>
          <p:nvPr/>
        </p:nvSpPr>
        <p:spPr>
          <a:xfrm>
            <a:off x="147483" y="369332"/>
            <a:ext cx="11326762"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Autocorrects are used everywhere. You use them in your phones, tablets, and computers. </a:t>
            </a:r>
            <a:endParaRPr lang="en-US" dirty="0"/>
          </a:p>
        </p:txBody>
      </p:sp>
      <p:pic>
        <p:nvPicPr>
          <p:cNvPr id="9" name="Picture 8">
            <a:extLst>
              <a:ext uri="{FF2B5EF4-FFF2-40B4-BE49-F238E27FC236}">
                <a16:creationId xmlns:a16="http://schemas.microsoft.com/office/drawing/2014/main" id="{E915A1FD-5D96-05AC-8949-3A74EC94A04A}"/>
              </a:ext>
            </a:extLst>
          </p:cNvPr>
          <p:cNvPicPr>
            <a:picLocks noChangeAspect="1"/>
          </p:cNvPicPr>
          <p:nvPr/>
        </p:nvPicPr>
        <p:blipFill>
          <a:blip r:embed="rId2"/>
          <a:stretch>
            <a:fillRect/>
          </a:stretch>
        </p:blipFill>
        <p:spPr>
          <a:xfrm>
            <a:off x="2224704" y="864648"/>
            <a:ext cx="7742591" cy="5128704"/>
          </a:xfrm>
          <a:prstGeom prst="rect">
            <a:avLst/>
          </a:prstGeom>
        </p:spPr>
      </p:pic>
    </p:spTree>
    <p:extLst>
      <p:ext uri="{BB962C8B-B14F-4D97-AF65-F5344CB8AC3E}">
        <p14:creationId xmlns:p14="http://schemas.microsoft.com/office/powerpoint/2010/main" val="1193631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2683D4-4F7C-06AC-A5C3-C3003ED0606E}"/>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Building the model</a:t>
            </a:r>
          </a:p>
        </p:txBody>
      </p:sp>
      <p:sp>
        <p:nvSpPr>
          <p:cNvPr id="7" name="TextBox 6">
            <a:extLst>
              <a:ext uri="{FF2B5EF4-FFF2-40B4-BE49-F238E27FC236}">
                <a16:creationId xmlns:a16="http://schemas.microsoft.com/office/drawing/2014/main" id="{53685557-072E-7B3E-D1CD-A36FBC7EDF2E}"/>
              </a:ext>
            </a:extLst>
          </p:cNvPr>
          <p:cNvSpPr txBox="1"/>
          <p:nvPr/>
        </p:nvSpPr>
        <p:spPr>
          <a:xfrm>
            <a:off x="71284" y="449514"/>
            <a:ext cx="6120580" cy="369332"/>
          </a:xfrm>
          <a:prstGeom prst="rect">
            <a:avLst/>
          </a:prstGeom>
          <a:noFill/>
        </p:spPr>
        <p:txBody>
          <a:bodyPr wrap="square">
            <a:spAutoFit/>
          </a:bodyPr>
          <a:lstStyle/>
          <a:p>
            <a:pPr algn="l"/>
            <a:r>
              <a:rPr lang="en-US" b="1" i="0" dirty="0">
                <a:solidFill>
                  <a:srgbClr val="1F1F1F"/>
                </a:solidFill>
                <a:effectLst/>
                <a:latin typeface="var(--cds-font-family-source-sans-pro)"/>
              </a:rPr>
              <a:t>1. Identify the misspelled word</a:t>
            </a:r>
          </a:p>
        </p:txBody>
      </p:sp>
      <p:sp>
        <p:nvSpPr>
          <p:cNvPr id="9" name="TextBox 8">
            <a:extLst>
              <a:ext uri="{FF2B5EF4-FFF2-40B4-BE49-F238E27FC236}">
                <a16:creationId xmlns:a16="http://schemas.microsoft.com/office/drawing/2014/main" id="{68FA0DE8-B58D-3078-453D-AA92A72A006C}"/>
              </a:ext>
            </a:extLst>
          </p:cNvPr>
          <p:cNvSpPr txBox="1"/>
          <p:nvPr/>
        </p:nvSpPr>
        <p:spPr>
          <a:xfrm>
            <a:off x="71284" y="899028"/>
            <a:ext cx="11953568" cy="338554"/>
          </a:xfrm>
          <a:prstGeom prst="rect">
            <a:avLst/>
          </a:prstGeom>
          <a:noFill/>
        </p:spPr>
        <p:txBody>
          <a:bodyPr wrap="square">
            <a:spAutoFit/>
          </a:bodyPr>
          <a:lstStyle/>
          <a:p>
            <a:r>
              <a:rPr lang="en-US" sz="1600" b="0" i="0" dirty="0">
                <a:solidFill>
                  <a:srgbClr val="1F1F1F"/>
                </a:solidFill>
                <a:effectLst/>
                <a:latin typeface="Source Sans Pro" panose="020B0503030403020204" pitchFamily="34" charset="0"/>
              </a:rPr>
              <a:t>When identifying the misspelled word, you can check whether it is in the vocabulary. If you don't find it, then it is probably a typo.</a:t>
            </a:r>
            <a:endParaRPr lang="en-US" sz="1600" dirty="0"/>
          </a:p>
        </p:txBody>
      </p:sp>
      <p:sp>
        <p:nvSpPr>
          <p:cNvPr id="11" name="TextBox 10">
            <a:extLst>
              <a:ext uri="{FF2B5EF4-FFF2-40B4-BE49-F238E27FC236}">
                <a16:creationId xmlns:a16="http://schemas.microsoft.com/office/drawing/2014/main" id="{30BF3987-C7B0-0AB7-1D7F-2D62AE53043D}"/>
              </a:ext>
            </a:extLst>
          </p:cNvPr>
          <p:cNvSpPr txBox="1"/>
          <p:nvPr/>
        </p:nvSpPr>
        <p:spPr>
          <a:xfrm>
            <a:off x="71284" y="1472069"/>
            <a:ext cx="6120580" cy="369332"/>
          </a:xfrm>
          <a:prstGeom prst="rect">
            <a:avLst/>
          </a:prstGeom>
          <a:noFill/>
        </p:spPr>
        <p:txBody>
          <a:bodyPr wrap="square">
            <a:spAutoFit/>
          </a:bodyPr>
          <a:lstStyle/>
          <a:p>
            <a:pPr algn="l"/>
            <a:r>
              <a:rPr lang="en-US" b="1" i="0" dirty="0">
                <a:solidFill>
                  <a:srgbClr val="1F1F1F"/>
                </a:solidFill>
                <a:effectLst/>
                <a:latin typeface="var(--cds-font-family-source-sans-pro)"/>
              </a:rPr>
              <a:t>2. Find strings </a:t>
            </a:r>
            <a:r>
              <a:rPr lang="en-US" b="1" i="0" dirty="0">
                <a:solidFill>
                  <a:srgbClr val="1F1F1F"/>
                </a:solidFill>
                <a:effectLst/>
                <a:latin typeface="unset"/>
              </a:rPr>
              <a:t>n</a:t>
            </a:r>
            <a:r>
              <a:rPr lang="en-US" b="1" i="0" dirty="0">
                <a:solidFill>
                  <a:srgbClr val="1F1F1F"/>
                </a:solidFill>
                <a:effectLst/>
                <a:latin typeface="var(--cds-font-family-source-sans-pro)"/>
              </a:rPr>
              <a:t> edit distance away</a:t>
            </a:r>
          </a:p>
        </p:txBody>
      </p:sp>
      <p:pic>
        <p:nvPicPr>
          <p:cNvPr id="13" name="Picture 12">
            <a:extLst>
              <a:ext uri="{FF2B5EF4-FFF2-40B4-BE49-F238E27FC236}">
                <a16:creationId xmlns:a16="http://schemas.microsoft.com/office/drawing/2014/main" id="{F4DAAFBB-B5B1-ED27-5834-24A0F593AB70}"/>
              </a:ext>
            </a:extLst>
          </p:cNvPr>
          <p:cNvPicPr>
            <a:picLocks noChangeAspect="1"/>
          </p:cNvPicPr>
          <p:nvPr/>
        </p:nvPicPr>
        <p:blipFill>
          <a:blip r:embed="rId2"/>
          <a:stretch>
            <a:fillRect/>
          </a:stretch>
        </p:blipFill>
        <p:spPr>
          <a:xfrm>
            <a:off x="0" y="1981606"/>
            <a:ext cx="5883150" cy="1950889"/>
          </a:xfrm>
          <a:prstGeom prst="rect">
            <a:avLst/>
          </a:prstGeom>
        </p:spPr>
      </p:pic>
      <p:sp>
        <p:nvSpPr>
          <p:cNvPr id="15" name="TextBox 14">
            <a:extLst>
              <a:ext uri="{FF2B5EF4-FFF2-40B4-BE49-F238E27FC236}">
                <a16:creationId xmlns:a16="http://schemas.microsoft.com/office/drawing/2014/main" id="{7FDDA1EC-0920-0C8F-092F-0E8EDCB49E42}"/>
              </a:ext>
            </a:extLst>
          </p:cNvPr>
          <p:cNvSpPr txBox="1"/>
          <p:nvPr/>
        </p:nvSpPr>
        <p:spPr>
          <a:xfrm>
            <a:off x="71284" y="4421746"/>
            <a:ext cx="6120580" cy="369332"/>
          </a:xfrm>
          <a:prstGeom prst="rect">
            <a:avLst/>
          </a:prstGeom>
          <a:noFill/>
        </p:spPr>
        <p:txBody>
          <a:bodyPr wrap="square">
            <a:spAutoFit/>
          </a:bodyPr>
          <a:lstStyle/>
          <a:p>
            <a:pPr algn="l"/>
            <a:r>
              <a:rPr lang="en-US" b="1" i="0" dirty="0">
                <a:solidFill>
                  <a:srgbClr val="1F1F1F"/>
                </a:solidFill>
                <a:effectLst/>
                <a:latin typeface="var(--cds-font-family-source-sans-pro)"/>
              </a:rPr>
              <a:t>3. Filter candidates</a:t>
            </a:r>
          </a:p>
        </p:txBody>
      </p:sp>
      <p:sp>
        <p:nvSpPr>
          <p:cNvPr id="17" name="TextBox 16">
            <a:extLst>
              <a:ext uri="{FF2B5EF4-FFF2-40B4-BE49-F238E27FC236}">
                <a16:creationId xmlns:a16="http://schemas.microsoft.com/office/drawing/2014/main" id="{7F4E4F6E-A6C6-6156-F4BE-E5D911239811}"/>
              </a:ext>
            </a:extLst>
          </p:cNvPr>
          <p:cNvSpPr txBox="1"/>
          <p:nvPr/>
        </p:nvSpPr>
        <p:spPr>
          <a:xfrm>
            <a:off x="71284" y="4791078"/>
            <a:ext cx="6120580"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this step, you want to take all the words generated above and then only keep the actual words that make sense and that you can find in your vocabulary.</a:t>
            </a:r>
            <a:endParaRPr lang="en-US" dirty="0"/>
          </a:p>
        </p:txBody>
      </p:sp>
      <p:pic>
        <p:nvPicPr>
          <p:cNvPr id="19" name="Picture 18">
            <a:extLst>
              <a:ext uri="{FF2B5EF4-FFF2-40B4-BE49-F238E27FC236}">
                <a16:creationId xmlns:a16="http://schemas.microsoft.com/office/drawing/2014/main" id="{C4A8AD95-3D3C-E917-BC67-997C05B2F0DC}"/>
              </a:ext>
            </a:extLst>
          </p:cNvPr>
          <p:cNvPicPr>
            <a:picLocks noChangeAspect="1"/>
          </p:cNvPicPr>
          <p:nvPr/>
        </p:nvPicPr>
        <p:blipFill>
          <a:blip r:embed="rId3"/>
          <a:stretch>
            <a:fillRect/>
          </a:stretch>
        </p:blipFill>
        <p:spPr>
          <a:xfrm>
            <a:off x="6564778" y="4349694"/>
            <a:ext cx="2248095" cy="1806097"/>
          </a:xfrm>
          <a:prstGeom prst="rect">
            <a:avLst/>
          </a:prstGeom>
        </p:spPr>
      </p:pic>
    </p:spTree>
    <p:extLst>
      <p:ext uri="{BB962C8B-B14F-4D97-AF65-F5344CB8AC3E}">
        <p14:creationId xmlns:p14="http://schemas.microsoft.com/office/powerpoint/2010/main" val="1337974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16E71B-DDDC-CA06-E2A4-29C81BD6BEE0}"/>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Building the model II</a:t>
            </a:r>
          </a:p>
        </p:txBody>
      </p:sp>
      <p:pic>
        <p:nvPicPr>
          <p:cNvPr id="7" name="Picture 6">
            <a:extLst>
              <a:ext uri="{FF2B5EF4-FFF2-40B4-BE49-F238E27FC236}">
                <a16:creationId xmlns:a16="http://schemas.microsoft.com/office/drawing/2014/main" id="{5EBB6386-462A-A4B6-D676-0A5EFCD0A871}"/>
              </a:ext>
            </a:extLst>
          </p:cNvPr>
          <p:cNvPicPr>
            <a:picLocks noChangeAspect="1"/>
          </p:cNvPicPr>
          <p:nvPr/>
        </p:nvPicPr>
        <p:blipFill>
          <a:blip r:embed="rId2"/>
          <a:stretch>
            <a:fillRect/>
          </a:stretch>
        </p:blipFill>
        <p:spPr>
          <a:xfrm>
            <a:off x="108210" y="369332"/>
            <a:ext cx="5774405" cy="2914642"/>
          </a:xfrm>
          <a:prstGeom prst="rect">
            <a:avLst/>
          </a:prstGeom>
        </p:spPr>
      </p:pic>
      <p:pic>
        <p:nvPicPr>
          <p:cNvPr id="9" name="Picture 8">
            <a:extLst>
              <a:ext uri="{FF2B5EF4-FFF2-40B4-BE49-F238E27FC236}">
                <a16:creationId xmlns:a16="http://schemas.microsoft.com/office/drawing/2014/main" id="{006E487C-F811-E8F5-8892-92482E3BAD4F}"/>
              </a:ext>
            </a:extLst>
          </p:cNvPr>
          <p:cNvPicPr>
            <a:picLocks noChangeAspect="1"/>
          </p:cNvPicPr>
          <p:nvPr/>
        </p:nvPicPr>
        <p:blipFill>
          <a:blip r:embed="rId3"/>
          <a:stretch>
            <a:fillRect/>
          </a:stretch>
        </p:blipFill>
        <p:spPr>
          <a:xfrm>
            <a:off x="189800" y="3429000"/>
            <a:ext cx="7643522" cy="1463167"/>
          </a:xfrm>
          <a:prstGeom prst="rect">
            <a:avLst/>
          </a:prstGeom>
        </p:spPr>
      </p:pic>
      <p:pic>
        <p:nvPicPr>
          <p:cNvPr id="11" name="Picture 10">
            <a:extLst>
              <a:ext uri="{FF2B5EF4-FFF2-40B4-BE49-F238E27FC236}">
                <a16:creationId xmlns:a16="http://schemas.microsoft.com/office/drawing/2014/main" id="{45172BF6-46D1-62F6-F1D4-8C7CC836DFB4}"/>
              </a:ext>
            </a:extLst>
          </p:cNvPr>
          <p:cNvPicPr>
            <a:picLocks noChangeAspect="1"/>
          </p:cNvPicPr>
          <p:nvPr/>
        </p:nvPicPr>
        <p:blipFill>
          <a:blip r:embed="rId4"/>
          <a:stretch>
            <a:fillRect/>
          </a:stretch>
        </p:blipFill>
        <p:spPr>
          <a:xfrm>
            <a:off x="3160528" y="4892167"/>
            <a:ext cx="4498368" cy="1826446"/>
          </a:xfrm>
          <a:prstGeom prst="rect">
            <a:avLst/>
          </a:prstGeom>
        </p:spPr>
      </p:pic>
    </p:spTree>
    <p:extLst>
      <p:ext uri="{BB962C8B-B14F-4D97-AF65-F5344CB8AC3E}">
        <p14:creationId xmlns:p14="http://schemas.microsoft.com/office/powerpoint/2010/main" val="1289177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874722-8E2B-3FD6-BABE-9403AD6D1A42}"/>
              </a:ext>
            </a:extLst>
          </p:cNvPr>
          <p:cNvSpPr txBox="1"/>
          <p:nvPr/>
        </p:nvSpPr>
        <p:spPr>
          <a:xfrm>
            <a:off x="117987" y="110302"/>
            <a:ext cx="6096000" cy="369332"/>
          </a:xfrm>
          <a:prstGeom prst="rect">
            <a:avLst/>
          </a:prstGeom>
          <a:noFill/>
        </p:spPr>
        <p:txBody>
          <a:bodyPr wrap="square">
            <a:spAutoFit/>
          </a:bodyPr>
          <a:lstStyle/>
          <a:p>
            <a:pPr algn="l"/>
            <a:r>
              <a:rPr lang="en-US" b="1" i="0" dirty="0">
                <a:solidFill>
                  <a:srgbClr val="1F1F1F"/>
                </a:solidFill>
                <a:effectLst/>
              </a:rPr>
              <a:t>Minimum edit distance</a:t>
            </a:r>
          </a:p>
        </p:txBody>
      </p:sp>
      <p:pic>
        <p:nvPicPr>
          <p:cNvPr id="7" name="Picture 6">
            <a:extLst>
              <a:ext uri="{FF2B5EF4-FFF2-40B4-BE49-F238E27FC236}">
                <a16:creationId xmlns:a16="http://schemas.microsoft.com/office/drawing/2014/main" id="{22A88016-E097-F57F-54E3-ED3F2126A6D3}"/>
              </a:ext>
            </a:extLst>
          </p:cNvPr>
          <p:cNvPicPr>
            <a:picLocks noChangeAspect="1"/>
          </p:cNvPicPr>
          <p:nvPr/>
        </p:nvPicPr>
        <p:blipFill>
          <a:blip r:embed="rId2"/>
          <a:stretch>
            <a:fillRect/>
          </a:stretch>
        </p:blipFill>
        <p:spPr>
          <a:xfrm>
            <a:off x="117987" y="479634"/>
            <a:ext cx="7209145" cy="3033023"/>
          </a:xfrm>
          <a:prstGeom prst="rect">
            <a:avLst/>
          </a:prstGeom>
        </p:spPr>
      </p:pic>
      <p:pic>
        <p:nvPicPr>
          <p:cNvPr id="9" name="Picture 8">
            <a:extLst>
              <a:ext uri="{FF2B5EF4-FFF2-40B4-BE49-F238E27FC236}">
                <a16:creationId xmlns:a16="http://schemas.microsoft.com/office/drawing/2014/main" id="{A5407620-E3B8-B1DF-196B-C7DA9EE62FA2}"/>
              </a:ext>
            </a:extLst>
          </p:cNvPr>
          <p:cNvPicPr>
            <a:picLocks noChangeAspect="1"/>
          </p:cNvPicPr>
          <p:nvPr/>
        </p:nvPicPr>
        <p:blipFill>
          <a:blip r:embed="rId3"/>
          <a:stretch>
            <a:fillRect/>
          </a:stretch>
        </p:blipFill>
        <p:spPr>
          <a:xfrm>
            <a:off x="467134" y="3512657"/>
            <a:ext cx="6434739" cy="3033023"/>
          </a:xfrm>
          <a:prstGeom prst="rect">
            <a:avLst/>
          </a:prstGeom>
        </p:spPr>
      </p:pic>
      <p:sp>
        <p:nvSpPr>
          <p:cNvPr id="11" name="TextBox 10">
            <a:extLst>
              <a:ext uri="{FF2B5EF4-FFF2-40B4-BE49-F238E27FC236}">
                <a16:creationId xmlns:a16="http://schemas.microsoft.com/office/drawing/2014/main" id="{7F8C8F88-7400-EA35-BB3B-51D46E7A3DC2}"/>
              </a:ext>
            </a:extLst>
          </p:cNvPr>
          <p:cNvSpPr txBox="1"/>
          <p:nvPr/>
        </p:nvSpPr>
        <p:spPr>
          <a:xfrm>
            <a:off x="6096000" y="5722825"/>
            <a:ext cx="6096000" cy="830997"/>
          </a:xfrm>
          <a:prstGeom prst="rect">
            <a:avLst/>
          </a:prstGeom>
          <a:noFill/>
        </p:spPr>
        <p:txBody>
          <a:bodyPr wrap="square">
            <a:spAutoFit/>
          </a:bodyPr>
          <a:lstStyle/>
          <a:p>
            <a:r>
              <a:rPr lang="en-US" sz="1600" b="0" i="0" dirty="0">
                <a:solidFill>
                  <a:srgbClr val="1F1F1F"/>
                </a:solidFill>
                <a:effectLst/>
                <a:latin typeface="Source Sans Pro" panose="020B0503030403020204" pitchFamily="34" charset="0"/>
              </a:rPr>
              <a:t>Note that as your strings get larger it gets much harder to calculate the minimum edit distance. Hence you will now learn about the minimum edit distance algorithm!</a:t>
            </a:r>
            <a:endParaRPr lang="en-US" sz="1600" dirty="0"/>
          </a:p>
        </p:txBody>
      </p:sp>
    </p:spTree>
    <p:extLst>
      <p:ext uri="{BB962C8B-B14F-4D97-AF65-F5344CB8AC3E}">
        <p14:creationId xmlns:p14="http://schemas.microsoft.com/office/powerpoint/2010/main" val="1226026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ECB47C-CAE5-4183-B04C-B4577DEEC149}"/>
              </a:ext>
            </a:extLst>
          </p:cNvPr>
          <p:cNvSpPr txBox="1"/>
          <p:nvPr/>
        </p:nvSpPr>
        <p:spPr>
          <a:xfrm>
            <a:off x="68826" y="70973"/>
            <a:ext cx="6096000" cy="369332"/>
          </a:xfrm>
          <a:prstGeom prst="rect">
            <a:avLst/>
          </a:prstGeom>
          <a:noFill/>
        </p:spPr>
        <p:txBody>
          <a:bodyPr wrap="square">
            <a:spAutoFit/>
          </a:bodyPr>
          <a:lstStyle/>
          <a:p>
            <a:pPr algn="l"/>
            <a:r>
              <a:rPr lang="en-US" b="1" i="0" dirty="0">
                <a:solidFill>
                  <a:srgbClr val="1F1F1F"/>
                </a:solidFill>
                <a:effectLst/>
              </a:rPr>
              <a:t>Minimum edit distance algorithm</a:t>
            </a:r>
          </a:p>
        </p:txBody>
      </p:sp>
      <p:sp>
        <p:nvSpPr>
          <p:cNvPr id="7" name="TextBox 6">
            <a:extLst>
              <a:ext uri="{FF2B5EF4-FFF2-40B4-BE49-F238E27FC236}">
                <a16:creationId xmlns:a16="http://schemas.microsoft.com/office/drawing/2014/main" id="{314AC8C7-95D6-667A-C4E7-6AF6C0CD5D81}"/>
              </a:ext>
            </a:extLst>
          </p:cNvPr>
          <p:cNvSpPr txBox="1"/>
          <p:nvPr/>
        </p:nvSpPr>
        <p:spPr>
          <a:xfrm>
            <a:off x="68826" y="440305"/>
            <a:ext cx="11887200"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When computing the minimum edit distance, you would start with a </a:t>
            </a:r>
            <a:r>
              <a:rPr lang="en-US" b="0" i="1" dirty="0">
                <a:solidFill>
                  <a:srgbClr val="1F1F1F"/>
                </a:solidFill>
                <a:effectLst/>
                <a:latin typeface="Source Sans Pro" panose="020B0503030403020204" pitchFamily="34" charset="0"/>
              </a:rPr>
              <a:t>source word</a:t>
            </a:r>
            <a:r>
              <a:rPr lang="en-US" b="0" i="0" dirty="0">
                <a:solidFill>
                  <a:srgbClr val="1F1F1F"/>
                </a:solidFill>
                <a:effectLst/>
                <a:latin typeface="Source Sans Pro" panose="020B0503030403020204" pitchFamily="34" charset="0"/>
              </a:rPr>
              <a:t> and transform it into the </a:t>
            </a:r>
            <a:r>
              <a:rPr lang="en-US" b="0" i="1" dirty="0">
                <a:solidFill>
                  <a:srgbClr val="1F1F1F"/>
                </a:solidFill>
                <a:effectLst/>
                <a:latin typeface="Source Sans Pro" panose="020B0503030403020204" pitchFamily="34" charset="0"/>
              </a:rPr>
              <a:t>target word</a:t>
            </a:r>
            <a:r>
              <a:rPr lang="en-US" b="0" i="0" dirty="0">
                <a:solidFill>
                  <a:srgbClr val="1F1F1F"/>
                </a:solidFill>
                <a:effectLst/>
                <a:latin typeface="Source Sans Pro" panose="020B0503030403020204" pitchFamily="34" charset="0"/>
              </a:rPr>
              <a:t>. Let's look at the following example: </a:t>
            </a:r>
            <a:endParaRPr lang="en-US" dirty="0"/>
          </a:p>
        </p:txBody>
      </p:sp>
      <p:pic>
        <p:nvPicPr>
          <p:cNvPr id="9" name="Picture 8">
            <a:extLst>
              <a:ext uri="{FF2B5EF4-FFF2-40B4-BE49-F238E27FC236}">
                <a16:creationId xmlns:a16="http://schemas.microsoft.com/office/drawing/2014/main" id="{074E687B-5E8A-16B0-AD81-52F3FB7F901C}"/>
              </a:ext>
            </a:extLst>
          </p:cNvPr>
          <p:cNvPicPr>
            <a:picLocks noChangeAspect="1"/>
          </p:cNvPicPr>
          <p:nvPr/>
        </p:nvPicPr>
        <p:blipFill>
          <a:blip r:embed="rId2"/>
          <a:stretch>
            <a:fillRect/>
          </a:stretch>
        </p:blipFill>
        <p:spPr>
          <a:xfrm>
            <a:off x="558150" y="1345868"/>
            <a:ext cx="9401927" cy="4893625"/>
          </a:xfrm>
          <a:prstGeom prst="rect">
            <a:avLst/>
          </a:prstGeom>
        </p:spPr>
      </p:pic>
    </p:spTree>
    <p:extLst>
      <p:ext uri="{BB962C8B-B14F-4D97-AF65-F5344CB8AC3E}">
        <p14:creationId xmlns:p14="http://schemas.microsoft.com/office/powerpoint/2010/main" val="342776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77AB21-A488-8093-E727-9B79B5D40F59}"/>
              </a:ext>
            </a:extLst>
          </p:cNvPr>
          <p:cNvSpPr txBox="1"/>
          <p:nvPr/>
        </p:nvSpPr>
        <p:spPr>
          <a:xfrm>
            <a:off x="127819" y="80805"/>
            <a:ext cx="6096000" cy="369332"/>
          </a:xfrm>
          <a:prstGeom prst="rect">
            <a:avLst/>
          </a:prstGeom>
          <a:noFill/>
        </p:spPr>
        <p:txBody>
          <a:bodyPr wrap="square">
            <a:spAutoFit/>
          </a:bodyPr>
          <a:lstStyle/>
          <a:p>
            <a:pPr algn="l"/>
            <a:r>
              <a:rPr lang="en-US" b="1" i="0" dirty="0">
                <a:solidFill>
                  <a:srgbClr val="1F1F1F"/>
                </a:solidFill>
                <a:effectLst/>
              </a:rPr>
              <a:t>Minimum edit distance algorithm II</a:t>
            </a:r>
          </a:p>
        </p:txBody>
      </p:sp>
      <p:sp>
        <p:nvSpPr>
          <p:cNvPr id="7" name="TextBox 6">
            <a:extLst>
              <a:ext uri="{FF2B5EF4-FFF2-40B4-BE49-F238E27FC236}">
                <a16:creationId xmlns:a16="http://schemas.microsoft.com/office/drawing/2014/main" id="{3BA99F96-4570-E277-B09D-9D232E3C4EF3}"/>
              </a:ext>
            </a:extLst>
          </p:cNvPr>
          <p:cNvSpPr txBox="1"/>
          <p:nvPr/>
        </p:nvSpPr>
        <p:spPr>
          <a:xfrm>
            <a:off x="127819" y="523256"/>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populate the following table: </a:t>
            </a:r>
            <a:endParaRPr lang="en-US" dirty="0"/>
          </a:p>
        </p:txBody>
      </p:sp>
      <p:pic>
        <p:nvPicPr>
          <p:cNvPr id="9" name="Picture 8">
            <a:extLst>
              <a:ext uri="{FF2B5EF4-FFF2-40B4-BE49-F238E27FC236}">
                <a16:creationId xmlns:a16="http://schemas.microsoft.com/office/drawing/2014/main" id="{BA1F1949-538C-9EF2-F978-07F2E56709DB}"/>
              </a:ext>
            </a:extLst>
          </p:cNvPr>
          <p:cNvPicPr>
            <a:picLocks noChangeAspect="1"/>
          </p:cNvPicPr>
          <p:nvPr/>
        </p:nvPicPr>
        <p:blipFill rotWithShape="1">
          <a:blip r:embed="rId2"/>
          <a:srcRect l="3719" r="1160"/>
          <a:stretch/>
        </p:blipFill>
        <p:spPr>
          <a:xfrm>
            <a:off x="6800226" y="80805"/>
            <a:ext cx="5391774" cy="2180614"/>
          </a:xfrm>
          <a:prstGeom prst="rect">
            <a:avLst/>
          </a:prstGeom>
        </p:spPr>
      </p:pic>
      <p:pic>
        <p:nvPicPr>
          <p:cNvPr id="11" name="Picture 10">
            <a:extLst>
              <a:ext uri="{FF2B5EF4-FFF2-40B4-BE49-F238E27FC236}">
                <a16:creationId xmlns:a16="http://schemas.microsoft.com/office/drawing/2014/main" id="{958AA446-098C-489B-0501-AA8C5708BD16}"/>
              </a:ext>
            </a:extLst>
          </p:cNvPr>
          <p:cNvPicPr>
            <a:picLocks noChangeAspect="1"/>
          </p:cNvPicPr>
          <p:nvPr/>
        </p:nvPicPr>
        <p:blipFill>
          <a:blip r:embed="rId3"/>
          <a:stretch>
            <a:fillRect/>
          </a:stretch>
        </p:blipFill>
        <p:spPr>
          <a:xfrm>
            <a:off x="-1" y="1899263"/>
            <a:ext cx="6912077" cy="4473727"/>
          </a:xfrm>
          <a:prstGeom prst="rect">
            <a:avLst/>
          </a:prstGeom>
        </p:spPr>
      </p:pic>
    </p:spTree>
    <p:extLst>
      <p:ext uri="{BB962C8B-B14F-4D97-AF65-F5344CB8AC3E}">
        <p14:creationId xmlns:p14="http://schemas.microsoft.com/office/powerpoint/2010/main" val="745507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66702A-9833-1ED3-E177-AE265F74FDD2}"/>
              </a:ext>
            </a:extLst>
          </p:cNvPr>
          <p:cNvSpPr txBox="1"/>
          <p:nvPr/>
        </p:nvSpPr>
        <p:spPr>
          <a:xfrm>
            <a:off x="68826" y="80805"/>
            <a:ext cx="6096000" cy="369332"/>
          </a:xfrm>
          <a:prstGeom prst="rect">
            <a:avLst/>
          </a:prstGeom>
          <a:noFill/>
        </p:spPr>
        <p:txBody>
          <a:bodyPr wrap="square">
            <a:spAutoFit/>
          </a:bodyPr>
          <a:lstStyle/>
          <a:p>
            <a:pPr algn="l"/>
            <a:r>
              <a:rPr lang="en-US" b="1" i="0" dirty="0">
                <a:solidFill>
                  <a:srgbClr val="1F1F1F"/>
                </a:solidFill>
                <a:effectLst/>
              </a:rPr>
              <a:t>Minimum edit distance III</a:t>
            </a:r>
          </a:p>
        </p:txBody>
      </p:sp>
      <p:pic>
        <p:nvPicPr>
          <p:cNvPr id="7" name="Picture 6">
            <a:extLst>
              <a:ext uri="{FF2B5EF4-FFF2-40B4-BE49-F238E27FC236}">
                <a16:creationId xmlns:a16="http://schemas.microsoft.com/office/drawing/2014/main" id="{D8D81471-D8A5-9263-091C-FCE15ABAAB5E}"/>
              </a:ext>
            </a:extLst>
          </p:cNvPr>
          <p:cNvPicPr>
            <a:picLocks noChangeAspect="1"/>
          </p:cNvPicPr>
          <p:nvPr/>
        </p:nvPicPr>
        <p:blipFill>
          <a:blip r:embed="rId2"/>
          <a:stretch>
            <a:fillRect/>
          </a:stretch>
        </p:blipFill>
        <p:spPr>
          <a:xfrm>
            <a:off x="0" y="450137"/>
            <a:ext cx="6282813" cy="2407368"/>
          </a:xfrm>
          <a:prstGeom prst="rect">
            <a:avLst/>
          </a:prstGeom>
        </p:spPr>
      </p:pic>
      <p:sp>
        <p:nvSpPr>
          <p:cNvPr id="9" name="TextBox 8">
            <a:extLst>
              <a:ext uri="{FF2B5EF4-FFF2-40B4-BE49-F238E27FC236}">
                <a16:creationId xmlns:a16="http://schemas.microsoft.com/office/drawing/2014/main" id="{1BD22788-8EC0-3D4E-68DB-CB0255E3CEC4}"/>
              </a:ext>
            </a:extLst>
          </p:cNvPr>
          <p:cNvSpPr txBox="1"/>
          <p:nvPr/>
        </p:nvSpPr>
        <p:spPr>
          <a:xfrm>
            <a:off x="211393" y="3570066"/>
            <a:ext cx="11980607" cy="2585323"/>
          </a:xfrm>
          <a:prstGeom prst="rect">
            <a:avLst/>
          </a:prstGeom>
          <a:noFill/>
        </p:spPr>
        <p:txBody>
          <a:bodyPr wrap="square">
            <a:spAutoFit/>
          </a:bodyPr>
          <a:lstStyle/>
          <a:p>
            <a:pPr algn="l"/>
            <a:r>
              <a:rPr lang="en-US" b="0" i="0" dirty="0">
                <a:solidFill>
                  <a:srgbClr val="1F1F1F"/>
                </a:solidFill>
                <a:effectLst/>
                <a:latin typeface="var(--cds-font-family-source-sans-pro)"/>
              </a:rPr>
              <a:t>To summarize, you have seen the </a:t>
            </a:r>
            <a:r>
              <a:rPr lang="en-US" b="0" i="0" dirty="0" err="1">
                <a:solidFill>
                  <a:srgbClr val="1F1F1F"/>
                </a:solidFill>
                <a:effectLst/>
                <a:latin typeface="var(--cds-font-family-source-sans-pro)"/>
              </a:rPr>
              <a:t>levenshtein</a:t>
            </a:r>
            <a:r>
              <a:rPr lang="en-US" b="0" i="0" dirty="0">
                <a:solidFill>
                  <a:srgbClr val="1F1F1F"/>
                </a:solidFill>
                <a:effectLst/>
                <a:latin typeface="var(--cds-font-family-source-sans-pro)"/>
              </a:rPr>
              <a:t> distance which specifies the cost per operation. If you need to reconstruct the path of how you got from one string to the other, you can use a backtrace. You should keep a simple pointer in each cell letting you know where you came from to get there. So you know the path taken across the table from the top left corner, to the bottom right corner. You can then reconstruct it. </a:t>
            </a:r>
          </a:p>
          <a:p>
            <a:pPr algn="l"/>
            <a:endParaRPr lang="en-US" b="0" i="0" dirty="0">
              <a:solidFill>
                <a:srgbClr val="1F1F1F"/>
              </a:solidFill>
              <a:effectLst/>
              <a:latin typeface="var(--cds-font-family-source-sans-pro)"/>
            </a:endParaRPr>
          </a:p>
          <a:p>
            <a:pPr algn="l"/>
            <a:r>
              <a:rPr lang="en-US" b="0" i="0" dirty="0">
                <a:solidFill>
                  <a:srgbClr val="1F1F1F"/>
                </a:solidFill>
                <a:effectLst/>
                <a:latin typeface="var(--cds-font-family-source-sans-pro)"/>
              </a:rPr>
              <a:t>This method for computation instead of brute force is a technique known as </a:t>
            </a:r>
            <a:r>
              <a:rPr lang="en-US" b="0" i="0" u="sng" dirty="0">
                <a:solidFill>
                  <a:srgbClr val="1F1F1F"/>
                </a:solidFill>
                <a:effectLst/>
                <a:latin typeface="var(--cds-font-family-source-sans-pro)"/>
              </a:rPr>
              <a:t>dynamic programming</a:t>
            </a:r>
            <a:r>
              <a:rPr lang="en-US" b="0" i="0" dirty="0">
                <a:solidFill>
                  <a:srgbClr val="1F1F1F"/>
                </a:solidFill>
                <a:effectLst/>
                <a:latin typeface="var(--cds-font-family-source-sans-pro)"/>
              </a:rPr>
              <a:t>. You first solve the smallest subproblem first and then reusing that result you solve the next biggest subproblem, saving that result, reusing it again, and so on. This is exactly what you did by populating each cell from the top right to the bottom left. It’s a well-known technique in computer science! </a:t>
            </a:r>
          </a:p>
        </p:txBody>
      </p:sp>
    </p:spTree>
    <p:extLst>
      <p:ext uri="{BB962C8B-B14F-4D97-AF65-F5344CB8AC3E}">
        <p14:creationId xmlns:p14="http://schemas.microsoft.com/office/powerpoint/2010/main" val="3087248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447</Words>
  <Application>Microsoft Office PowerPoint</Application>
  <PresentationFormat>Widescreen</PresentationFormat>
  <Paragraphs>21</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Source Sans Pro</vt:lpstr>
      <vt:lpstr>unset</vt:lpstr>
      <vt:lpstr>var(--cds-font-family-source-sans-pro)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37</cp:revision>
  <dcterms:created xsi:type="dcterms:W3CDTF">2024-01-15T21:01:55Z</dcterms:created>
  <dcterms:modified xsi:type="dcterms:W3CDTF">2024-01-15T21:20:16Z</dcterms:modified>
</cp:coreProperties>
</file>