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8" d="100"/>
          <a:sy n="78" d="100"/>
        </p:scale>
        <p:origin x="850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1BD4646-6C1E-4F53-8EF4-6B94C6AA5710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05299B-30B7-4784-9D58-A10CE827943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993051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B05299B-30B7-4784-9D58-A10CE827943D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41928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1FF337-F73E-3492-9516-D4648AA06B7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02DFF00-9D45-FC06-D6A7-7CD587D5787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47EFC3C-8CDB-366C-8531-7FD939AA43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173601C-161E-BBFE-E7C1-32B93A31B2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4B6C6C-06A2-B2B4-4150-D60E675E4A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3298205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589687-F957-F555-7795-79816CF916A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F689648-8C63-5198-A6DE-BC49B45B62F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B2E9EF-84BF-A8A5-96C3-F568E265B5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4CC15FF-1AA7-0EE3-4427-9B61F37EB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F4317-AC15-6F65-721F-280D3F7565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6367418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E52FC5-0922-9C77-8CEB-A94E738582A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2130128-9AE1-EA46-D42F-B1C4001FB0B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37C0665-2AF1-8330-B7D8-96D7CF3D89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1C61E3D-AA0D-CB28-033A-57229B2165A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78155D0-04C9-609F-4628-B08BB15998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212391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FD4C00-E5E5-F366-5C46-788E6AA8C6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D9E020-3896-285E-81AB-2FD28D1B53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C1E4CF7-F427-0676-FF32-4E358C2CAF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358C3C5-2508-3801-83D0-CFC710FFDAD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A5A0A4C-2AC6-89C1-C748-20BA6BAF68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FAF66CB-D4A8-3DAE-3276-7FBF71CF3D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126626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C11D0-157E-3260-6925-C0A050E4052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7DE0433-46E4-3893-219C-4CD2C136958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7D6A915-C8DE-98D1-2960-F93A5CF0F34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DEC73D0-1B5C-005C-3CD2-083DB0E5E04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AD7C895-D10D-5617-2695-1A8DDDC34A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8B22460-D543-CB33-016A-D993F7744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5241AD4-D186-1502-66F4-784CE44135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270B93-AD1B-9AC4-0FDF-15597EF7B2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228526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98DA40-20A8-A9F5-07DB-123C96BE6B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5E293E6-F5AB-2F03-AFD3-7C8375F43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F0E04E-13C8-C339-AC1D-718E94504B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7C2F0ED-44C1-95E9-AEED-C80F0C4BBC6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101003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E684AC-08E5-2094-223A-B721EF29C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D3D1049-308E-99D4-1313-D2883B1BD8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9BE724-40BB-02E4-8A7E-5BB88A7050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01513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FB6152-CE58-E92F-2F67-5BC3EA0701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19F3DFB-7BBD-9FB2-8C8B-16DE8E9677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61A4D08-9DCE-CCBA-6134-9CA0F45B368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DD9F137-07C7-3D3D-348E-722340AC0A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A654436-BEE9-9E9F-B5D2-A3752164E7D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8217721-E4FD-7F6F-2298-5F9A34A452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381234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4C087-A279-FF98-F9E9-EFE7159BF4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8B068FC-32DC-2111-F9E3-3E05B09E85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DAC32EF-1658-7E7C-C0EC-69E21CD592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31A5D-13AD-5DB3-D10D-CE700053B9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5A82B08-A216-5D9A-E3A8-DDCB692A04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79CE092-29FC-3F2E-BFBF-D1427F4381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14556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2438C5-2610-8B14-2245-594771F165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DCAA656-7084-36BA-FE39-B12C8347D7A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7D9AA98-79E4-C41A-0151-8462172F90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96AD854-72BB-360E-E96C-50BC62D966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A811EA5-E206-1B9C-170C-203DC98114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629450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9BF103D-9B78-9D05-7B9A-AE8FAB765A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5868806-7554-B31F-7F4E-B388DE1A731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AC5A66-F5C4-B776-919F-2EA02B3411B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E207623-E80B-EB12-4778-EEE37F958E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AF6C3E-7ACD-0F26-AB67-AEC00A8257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12115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68F925FF-2C55-BEB3-FC56-A05CBE7F49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EE5BCD0-EF63-E02D-9EB1-3566F1C68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BF8B3D6-E377-38E0-C882-CF14EFA53288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B4C33B3D-34C1-47AD-9F56-C7B1536739ED}" type="datetimeFigureOut">
              <a:rPr lang="en-US" smtClean="0"/>
              <a:t>12/30/2023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B1FA9-8295-5C31-23E2-A76D8838A4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D69C62-14A9-EB75-1CFC-1391FD2CB1C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697B4F0-7FEE-4F13-B2CA-80F3F6200FD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19453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B5AC733-E485-6380-6B1B-5FF38C88147E}"/>
              </a:ext>
            </a:extLst>
          </p:cNvPr>
          <p:cNvSpPr txBox="1"/>
          <p:nvPr/>
        </p:nvSpPr>
        <p:spPr>
          <a:xfrm>
            <a:off x="157316" y="709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RNNs and Vanishing Gradients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7E871ED-3FC8-2CCF-28E8-A16CB6245449}"/>
              </a:ext>
            </a:extLst>
          </p:cNvPr>
          <p:cNvSpPr txBox="1"/>
          <p:nvPr/>
        </p:nvSpPr>
        <p:spPr>
          <a:xfrm>
            <a:off x="157316" y="440305"/>
            <a:ext cx="11877368" cy="14773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Advantages of RNNs</a:t>
            </a:r>
            <a:endParaRPr lang="en-US" b="1" i="0" dirty="0">
              <a:solidFill>
                <a:srgbClr val="1F1F1F"/>
              </a:solidFill>
              <a:effectLst/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RNNs allow us to capture dependencies within a short range and they take up less RAM than other n-gram models. </a:t>
            </a:r>
          </a:p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Disadvantages of RNNs</a:t>
            </a:r>
            <a:endParaRPr lang="en-US" b="1" i="0" dirty="0">
              <a:solidFill>
                <a:srgbClr val="1F1F1F"/>
              </a:solidFill>
              <a:effectLst/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RNNs struggle with longer term dependencies and are very prone to vanishing or exploding gradients.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Note that as you are back-propagating through time, you end up getting the following: 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B336E043-799C-65D0-61A0-95F0B2ACF37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88417" y="1917633"/>
            <a:ext cx="5707583" cy="218588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6D50E2E4-7746-F307-5410-C561979DA860}"/>
              </a:ext>
            </a:extLst>
          </p:cNvPr>
          <p:cNvSpPr txBox="1"/>
          <p:nvPr/>
        </p:nvSpPr>
        <p:spPr>
          <a:xfrm>
            <a:off x="157316" y="3784382"/>
            <a:ext cx="3962400" cy="286232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Note that the </a:t>
            </a:r>
            <a:r>
              <a:rPr lang="en-US" b="0" i="1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sigmoid</a:t>
            </a:r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 and </a:t>
            </a:r>
            <a:r>
              <a:rPr lang="en-US" b="0" i="1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tanh</a:t>
            </a:r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 functions are bounded by 0 and 1 and -1 and 1 respectively. This eventually leads us to a problem. If you have many numbers that are less than |1|, then as you go through many layers, and you take the product of those numbers, you eventually end up getting a gradient that is very close to 0. This introduces the problem of vanishing gradients. </a:t>
            </a:r>
            <a:endParaRPr lang="en-US" dirty="0"/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AACF017D-1EC2-91EF-99AA-1832C2C698F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27101" y="3905548"/>
            <a:ext cx="5249673" cy="25121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6755307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D769C31-6A18-8B5B-4D06-657EB89E56B5}"/>
              </a:ext>
            </a:extLst>
          </p:cNvPr>
          <p:cNvSpPr txBox="1"/>
          <p:nvPr/>
        </p:nvSpPr>
        <p:spPr>
          <a:xfrm>
            <a:off x="226142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Introduction to LSTMs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5E6B299E-6167-F28F-92B7-62F5C0A2F8C8}"/>
              </a:ext>
            </a:extLst>
          </p:cNvPr>
          <p:cNvSpPr txBox="1"/>
          <p:nvPr/>
        </p:nvSpPr>
        <p:spPr>
          <a:xfrm>
            <a:off x="226141" y="489466"/>
            <a:ext cx="11838039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The LSTM allows your model to remember and forget certain inputs. It consists of a cell state and a hidden state with three gates. The gates allow the gradients to flow unchanged. You can think of the three gates as follows: </a:t>
            </a:r>
          </a:p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Input gate: </a:t>
            </a: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tells you how much information to input at any time point. </a:t>
            </a:r>
          </a:p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Forget gate: </a:t>
            </a: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tells you how much information to forget at any time point. </a:t>
            </a:r>
          </a:p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Output gate: </a:t>
            </a: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tells you how much information to pass over at any time point. 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There are many applications you can use LSTMs for, such as: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A30B5F0-A908-9D52-987E-6DC8AF0D922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6141" y="2304823"/>
            <a:ext cx="6652837" cy="256816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3645468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0ABE6E1A-18BD-1DF0-0A6A-BFF804E44C15}"/>
              </a:ext>
            </a:extLst>
          </p:cNvPr>
          <p:cNvSpPr txBox="1"/>
          <p:nvPr/>
        </p:nvSpPr>
        <p:spPr>
          <a:xfrm>
            <a:off x="176981" y="120134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LSTM Architecture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83AEAEF-7756-E1FF-799E-FAC8306FA4E4}"/>
              </a:ext>
            </a:extLst>
          </p:cNvPr>
          <p:cNvSpPr txBox="1"/>
          <p:nvPr/>
        </p:nvSpPr>
        <p:spPr>
          <a:xfrm>
            <a:off x="176981" y="489466"/>
            <a:ext cx="11838038" cy="9233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b="0" i="0" dirty="0">
                <a:solidFill>
                  <a:srgbClr val="1F1F1F"/>
                </a:solidFill>
                <a:effectLst/>
                <a:latin typeface="Source Sans Pro" panose="020B0503030403020204" pitchFamily="34" charset="0"/>
              </a:rPr>
              <a:t>The LSTM architecture could get complicated and don't worry about it if you do not understand it. I personally prefer looking at the equation, but I will try to give you a visualization for now and later this week we will take a look at the equations. </a:t>
            </a:r>
            <a:endParaRPr lang="en-US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8245C7BD-BB34-0BC2-5D0C-E531CA02BF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91" y="1412796"/>
            <a:ext cx="6255780" cy="2863110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C4FA7987-3DB5-6622-AC19-414F9D16E2B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86698" y="2575149"/>
            <a:ext cx="6205302" cy="346286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71912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B8CBD374-328F-212C-B7C8-CF6D2F1DC9B7}"/>
              </a:ext>
            </a:extLst>
          </p:cNvPr>
          <p:cNvSpPr txBox="1"/>
          <p:nvPr/>
        </p:nvSpPr>
        <p:spPr>
          <a:xfrm>
            <a:off x="206478" y="70973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Introduction to Named Entity Recognition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C4081BCC-EBE0-419E-4D53-0EAEF2977A9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478" y="440305"/>
            <a:ext cx="9924966" cy="4937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644537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9FE63701-B381-EDAE-42DB-1625C856E909}"/>
              </a:ext>
            </a:extLst>
          </p:cNvPr>
          <p:cNvSpPr txBox="1"/>
          <p:nvPr/>
        </p:nvSpPr>
        <p:spPr>
          <a:xfrm>
            <a:off x="108155" y="10047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Training NERs: Data Processing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2BFDAC94-754E-A04B-4F09-08A2D2E33747}"/>
              </a:ext>
            </a:extLst>
          </p:cNvPr>
          <p:cNvSpPr txBox="1"/>
          <p:nvPr/>
        </p:nvSpPr>
        <p:spPr>
          <a:xfrm>
            <a:off x="108154" y="469802"/>
            <a:ext cx="12083845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Processing data is one of the most important tasks when training AI algorithms. For NER, you have to: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Convert words and entity classes into arrays: 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Pad with tokens: Set sequence length to a certain number and use the &lt;PAD&gt; token to fill empty spaces</a:t>
            </a:r>
          </a:p>
          <a:p>
            <a:pPr lvl="1"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Create a data generator:</a:t>
            </a:r>
          </a:p>
          <a:p>
            <a:pPr algn="l"/>
            <a:endParaRPr lang="en-US" b="0" i="0" dirty="0">
              <a:solidFill>
                <a:srgbClr val="1F1F1F"/>
              </a:solidFill>
              <a:effectLst/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Once you have that, you can assign each class a number, and each word a number.</a:t>
            </a: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015AA79C-299A-E7AB-D65A-89BC8570D20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2151009"/>
            <a:ext cx="4770533" cy="23395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0C7F8AB-05D1-952C-C3BE-CBF76B650997}"/>
              </a:ext>
            </a:extLst>
          </p:cNvPr>
          <p:cNvSpPr txBox="1"/>
          <p:nvPr/>
        </p:nvSpPr>
        <p:spPr>
          <a:xfrm>
            <a:off x="5004620" y="2251369"/>
            <a:ext cx="6096000" cy="20313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  <a:latin typeface="unset"/>
              </a:rPr>
              <a:t>Training an NER system: </a:t>
            </a:r>
            <a:endParaRPr lang="en-US" b="1" i="0" dirty="0">
              <a:solidFill>
                <a:srgbClr val="1F1F1F"/>
              </a:solidFill>
              <a:effectLst/>
              <a:latin typeface="var(--cds-font-family-source-sans-pro)"/>
            </a:endParaRP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1. Create a tensor for each input and its corresponding number 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2. Put them in a batch ==&gt; 64, 128, 256, 512 ...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3. Feed it into an LSTM unit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4. Run the output through a dense layer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5. Predict using a log </a:t>
            </a:r>
            <a:r>
              <a:rPr lang="en-US" b="0" i="0" dirty="0" err="1">
                <a:solidFill>
                  <a:srgbClr val="1F1F1F"/>
                </a:solidFill>
                <a:effectLst/>
                <a:latin typeface="var(--cds-font-family-source-sans-pro)"/>
              </a:rPr>
              <a:t>softmax</a:t>
            </a:r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 over K classes</a:t>
            </a:r>
          </a:p>
          <a:p>
            <a:pPr algn="l"/>
            <a:r>
              <a:rPr lang="en-US" b="0" i="0" dirty="0">
                <a:solidFill>
                  <a:srgbClr val="1F1F1F"/>
                </a:solidFill>
                <a:effectLst/>
                <a:latin typeface="var(--cds-font-family-source-sans-pro)"/>
              </a:rPr>
              <a:t>Here is an example of the architecture: 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B35BA96-B5EA-606D-D84E-55BF925F4E0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54572" y="4383213"/>
            <a:ext cx="6406393" cy="2252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6775233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0733836-C79F-2F41-EEBA-23EF7088C20F}"/>
              </a:ext>
            </a:extLst>
          </p:cNvPr>
          <p:cNvSpPr txBox="1"/>
          <p:nvPr/>
        </p:nvSpPr>
        <p:spPr>
          <a:xfrm>
            <a:off x="206477" y="14963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b="1" i="0" dirty="0">
                <a:solidFill>
                  <a:srgbClr val="1F1F1F"/>
                </a:solidFill>
                <a:effectLst/>
              </a:rPr>
              <a:t>Computing Accuracy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61400C9-49BA-348C-F380-23C9B5BD848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2787" y="695942"/>
            <a:ext cx="7271619" cy="31779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3052433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752</TotalTime>
  <Words>457</Words>
  <Application>Microsoft Office PowerPoint</Application>
  <PresentationFormat>Widescreen</PresentationFormat>
  <Paragraphs>32</Paragraphs>
  <Slides>6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Aptos</vt:lpstr>
      <vt:lpstr>Aptos Display</vt:lpstr>
      <vt:lpstr>Arial</vt:lpstr>
      <vt:lpstr>Source Sans Pro</vt:lpstr>
      <vt:lpstr>unset</vt:lpstr>
      <vt:lpstr>var(--cds-font-family-source-sans-pro)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mrinmoy bhuyan</dc:creator>
  <cp:lastModifiedBy>mrinmoy bhuyan</cp:lastModifiedBy>
  <cp:revision>24</cp:revision>
  <dcterms:created xsi:type="dcterms:W3CDTF">2023-12-29T17:56:53Z</dcterms:created>
  <dcterms:modified xsi:type="dcterms:W3CDTF">2023-12-30T09:14:19Z</dcterms:modified>
</cp:coreProperties>
</file>