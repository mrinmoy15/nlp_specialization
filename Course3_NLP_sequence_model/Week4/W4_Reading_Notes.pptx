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2A921-6D54-F3C5-E866-05F6E3CE77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DC77110-453B-C879-B62E-B4FAF177DA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2DE56A-428E-9038-D99B-B54F4EF8082E}"/>
              </a:ext>
            </a:extLst>
          </p:cNvPr>
          <p:cNvSpPr>
            <a:spLocks noGrp="1"/>
          </p:cNvSpPr>
          <p:nvPr>
            <p:ph type="dt" sz="half" idx="10"/>
          </p:nvPr>
        </p:nvSpPr>
        <p:spPr/>
        <p:txBody>
          <a:bodyPr/>
          <a:lstStyle/>
          <a:p>
            <a:fld id="{68F7B07E-CEFE-4488-A0BB-EFEA82DC96E8}" type="datetimeFigureOut">
              <a:rPr lang="en-US" smtClean="0"/>
              <a:t>12/30/2023</a:t>
            </a:fld>
            <a:endParaRPr lang="en-US"/>
          </a:p>
        </p:txBody>
      </p:sp>
      <p:sp>
        <p:nvSpPr>
          <p:cNvPr id="5" name="Footer Placeholder 4">
            <a:extLst>
              <a:ext uri="{FF2B5EF4-FFF2-40B4-BE49-F238E27FC236}">
                <a16:creationId xmlns:a16="http://schemas.microsoft.com/office/drawing/2014/main" id="{E0CCD96C-C52F-7274-D40F-7D4AE40636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E8D7AA-086D-9BD6-3968-8236940802ED}"/>
              </a:ext>
            </a:extLst>
          </p:cNvPr>
          <p:cNvSpPr>
            <a:spLocks noGrp="1"/>
          </p:cNvSpPr>
          <p:nvPr>
            <p:ph type="sldNum" sz="quarter" idx="12"/>
          </p:nvPr>
        </p:nvSpPr>
        <p:spPr/>
        <p:txBody>
          <a:bodyPr/>
          <a:lstStyle/>
          <a:p>
            <a:fld id="{27EDF715-4B7F-43D1-AF25-724ABFCAD313}" type="slidenum">
              <a:rPr lang="en-US" smtClean="0"/>
              <a:t>‹#›</a:t>
            </a:fld>
            <a:endParaRPr lang="en-US"/>
          </a:p>
        </p:txBody>
      </p:sp>
    </p:spTree>
    <p:extLst>
      <p:ext uri="{BB962C8B-B14F-4D97-AF65-F5344CB8AC3E}">
        <p14:creationId xmlns:p14="http://schemas.microsoft.com/office/powerpoint/2010/main" val="3686177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F8E20-9CB0-4EF6-2DBF-AD7AC04FCE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F99C890-FB65-A35F-3FCA-AF72C82E02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28A0FB-438E-7AA3-0E9A-3DC2E56E2C8D}"/>
              </a:ext>
            </a:extLst>
          </p:cNvPr>
          <p:cNvSpPr>
            <a:spLocks noGrp="1"/>
          </p:cNvSpPr>
          <p:nvPr>
            <p:ph type="dt" sz="half" idx="10"/>
          </p:nvPr>
        </p:nvSpPr>
        <p:spPr/>
        <p:txBody>
          <a:bodyPr/>
          <a:lstStyle/>
          <a:p>
            <a:fld id="{68F7B07E-CEFE-4488-A0BB-EFEA82DC96E8}" type="datetimeFigureOut">
              <a:rPr lang="en-US" smtClean="0"/>
              <a:t>12/30/2023</a:t>
            </a:fld>
            <a:endParaRPr lang="en-US"/>
          </a:p>
        </p:txBody>
      </p:sp>
      <p:sp>
        <p:nvSpPr>
          <p:cNvPr id="5" name="Footer Placeholder 4">
            <a:extLst>
              <a:ext uri="{FF2B5EF4-FFF2-40B4-BE49-F238E27FC236}">
                <a16:creationId xmlns:a16="http://schemas.microsoft.com/office/drawing/2014/main" id="{8C0CC303-29AD-7B59-59F0-0F3313E5BD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8E3A3E-899B-5B07-91B7-88E2C6E87C85}"/>
              </a:ext>
            </a:extLst>
          </p:cNvPr>
          <p:cNvSpPr>
            <a:spLocks noGrp="1"/>
          </p:cNvSpPr>
          <p:nvPr>
            <p:ph type="sldNum" sz="quarter" idx="12"/>
          </p:nvPr>
        </p:nvSpPr>
        <p:spPr/>
        <p:txBody>
          <a:bodyPr/>
          <a:lstStyle/>
          <a:p>
            <a:fld id="{27EDF715-4B7F-43D1-AF25-724ABFCAD313}" type="slidenum">
              <a:rPr lang="en-US" smtClean="0"/>
              <a:t>‹#›</a:t>
            </a:fld>
            <a:endParaRPr lang="en-US"/>
          </a:p>
        </p:txBody>
      </p:sp>
    </p:spTree>
    <p:extLst>
      <p:ext uri="{BB962C8B-B14F-4D97-AF65-F5344CB8AC3E}">
        <p14:creationId xmlns:p14="http://schemas.microsoft.com/office/powerpoint/2010/main" val="304936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5AD37-3677-0F20-2599-4DBF8F97CC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3991294-A46A-E89E-4468-89CF61EBEA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C3ADA0-2EDC-4F09-BF33-A0802C2C167F}"/>
              </a:ext>
            </a:extLst>
          </p:cNvPr>
          <p:cNvSpPr>
            <a:spLocks noGrp="1"/>
          </p:cNvSpPr>
          <p:nvPr>
            <p:ph type="dt" sz="half" idx="10"/>
          </p:nvPr>
        </p:nvSpPr>
        <p:spPr/>
        <p:txBody>
          <a:bodyPr/>
          <a:lstStyle/>
          <a:p>
            <a:fld id="{68F7B07E-CEFE-4488-A0BB-EFEA82DC96E8}" type="datetimeFigureOut">
              <a:rPr lang="en-US" smtClean="0"/>
              <a:t>12/30/2023</a:t>
            </a:fld>
            <a:endParaRPr lang="en-US"/>
          </a:p>
        </p:txBody>
      </p:sp>
      <p:sp>
        <p:nvSpPr>
          <p:cNvPr id="5" name="Footer Placeholder 4">
            <a:extLst>
              <a:ext uri="{FF2B5EF4-FFF2-40B4-BE49-F238E27FC236}">
                <a16:creationId xmlns:a16="http://schemas.microsoft.com/office/drawing/2014/main" id="{EA12D2E5-B86B-F69E-860C-39C5FBB390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A154A6-37E3-C061-C92A-A62F314D457D}"/>
              </a:ext>
            </a:extLst>
          </p:cNvPr>
          <p:cNvSpPr>
            <a:spLocks noGrp="1"/>
          </p:cNvSpPr>
          <p:nvPr>
            <p:ph type="sldNum" sz="quarter" idx="12"/>
          </p:nvPr>
        </p:nvSpPr>
        <p:spPr/>
        <p:txBody>
          <a:bodyPr/>
          <a:lstStyle/>
          <a:p>
            <a:fld id="{27EDF715-4B7F-43D1-AF25-724ABFCAD313}" type="slidenum">
              <a:rPr lang="en-US" smtClean="0"/>
              <a:t>‹#›</a:t>
            </a:fld>
            <a:endParaRPr lang="en-US"/>
          </a:p>
        </p:txBody>
      </p:sp>
    </p:spTree>
    <p:extLst>
      <p:ext uri="{BB962C8B-B14F-4D97-AF65-F5344CB8AC3E}">
        <p14:creationId xmlns:p14="http://schemas.microsoft.com/office/powerpoint/2010/main" val="2786327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268DD-DB6F-4364-C754-C1A68583D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C0D4BC-15DA-04A0-8CAA-0F617507122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7C25E7-E42D-1316-BAAB-DE8100708C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196094-A078-C70C-0C1E-7D188C6671AC}"/>
              </a:ext>
            </a:extLst>
          </p:cNvPr>
          <p:cNvSpPr>
            <a:spLocks noGrp="1"/>
          </p:cNvSpPr>
          <p:nvPr>
            <p:ph type="dt" sz="half" idx="10"/>
          </p:nvPr>
        </p:nvSpPr>
        <p:spPr/>
        <p:txBody>
          <a:bodyPr/>
          <a:lstStyle/>
          <a:p>
            <a:fld id="{68F7B07E-CEFE-4488-A0BB-EFEA82DC96E8}" type="datetimeFigureOut">
              <a:rPr lang="en-US" smtClean="0"/>
              <a:t>12/30/2023</a:t>
            </a:fld>
            <a:endParaRPr lang="en-US"/>
          </a:p>
        </p:txBody>
      </p:sp>
      <p:sp>
        <p:nvSpPr>
          <p:cNvPr id="6" name="Footer Placeholder 5">
            <a:extLst>
              <a:ext uri="{FF2B5EF4-FFF2-40B4-BE49-F238E27FC236}">
                <a16:creationId xmlns:a16="http://schemas.microsoft.com/office/drawing/2014/main" id="{DCBF0177-1A34-1981-523B-263A9CA66B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99E9B2-4B34-98E2-103A-F89D7A238C55}"/>
              </a:ext>
            </a:extLst>
          </p:cNvPr>
          <p:cNvSpPr>
            <a:spLocks noGrp="1"/>
          </p:cNvSpPr>
          <p:nvPr>
            <p:ph type="sldNum" sz="quarter" idx="12"/>
          </p:nvPr>
        </p:nvSpPr>
        <p:spPr/>
        <p:txBody>
          <a:bodyPr/>
          <a:lstStyle/>
          <a:p>
            <a:fld id="{27EDF715-4B7F-43D1-AF25-724ABFCAD313}" type="slidenum">
              <a:rPr lang="en-US" smtClean="0"/>
              <a:t>‹#›</a:t>
            </a:fld>
            <a:endParaRPr lang="en-US"/>
          </a:p>
        </p:txBody>
      </p:sp>
    </p:spTree>
    <p:extLst>
      <p:ext uri="{BB962C8B-B14F-4D97-AF65-F5344CB8AC3E}">
        <p14:creationId xmlns:p14="http://schemas.microsoft.com/office/powerpoint/2010/main" val="35872194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F7B74-1BB6-5BB1-3BB9-3821CFC0C7A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8EA7D4B-D15C-C2FE-6B12-524A3389AD0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F0F30F-3013-4824-FA0F-E4C81A41FA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9D1FE42-4702-5F4D-9B3A-8932047C84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100ACD-1570-BF93-1655-B5B3525B67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1A0556-67D1-9E27-1143-91B3D6F3E0B3}"/>
              </a:ext>
            </a:extLst>
          </p:cNvPr>
          <p:cNvSpPr>
            <a:spLocks noGrp="1"/>
          </p:cNvSpPr>
          <p:nvPr>
            <p:ph type="dt" sz="half" idx="10"/>
          </p:nvPr>
        </p:nvSpPr>
        <p:spPr/>
        <p:txBody>
          <a:bodyPr/>
          <a:lstStyle/>
          <a:p>
            <a:fld id="{68F7B07E-CEFE-4488-A0BB-EFEA82DC96E8}" type="datetimeFigureOut">
              <a:rPr lang="en-US" smtClean="0"/>
              <a:t>12/30/2023</a:t>
            </a:fld>
            <a:endParaRPr lang="en-US"/>
          </a:p>
        </p:txBody>
      </p:sp>
      <p:sp>
        <p:nvSpPr>
          <p:cNvPr id="8" name="Footer Placeholder 7">
            <a:extLst>
              <a:ext uri="{FF2B5EF4-FFF2-40B4-BE49-F238E27FC236}">
                <a16:creationId xmlns:a16="http://schemas.microsoft.com/office/drawing/2014/main" id="{355D87AA-6E13-5DC6-1CF3-9EED01E2D52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833B57-099F-3DD5-0963-F84F497D5E50}"/>
              </a:ext>
            </a:extLst>
          </p:cNvPr>
          <p:cNvSpPr>
            <a:spLocks noGrp="1"/>
          </p:cNvSpPr>
          <p:nvPr>
            <p:ph type="sldNum" sz="quarter" idx="12"/>
          </p:nvPr>
        </p:nvSpPr>
        <p:spPr/>
        <p:txBody>
          <a:bodyPr/>
          <a:lstStyle/>
          <a:p>
            <a:fld id="{27EDF715-4B7F-43D1-AF25-724ABFCAD313}" type="slidenum">
              <a:rPr lang="en-US" smtClean="0"/>
              <a:t>‹#›</a:t>
            </a:fld>
            <a:endParaRPr lang="en-US"/>
          </a:p>
        </p:txBody>
      </p:sp>
    </p:spTree>
    <p:extLst>
      <p:ext uri="{BB962C8B-B14F-4D97-AF65-F5344CB8AC3E}">
        <p14:creationId xmlns:p14="http://schemas.microsoft.com/office/powerpoint/2010/main" val="934121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95DA4-2317-660C-4A7F-185B20080E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806233-B236-E83A-A198-87598DA8EFA3}"/>
              </a:ext>
            </a:extLst>
          </p:cNvPr>
          <p:cNvSpPr>
            <a:spLocks noGrp="1"/>
          </p:cNvSpPr>
          <p:nvPr>
            <p:ph type="dt" sz="half" idx="10"/>
          </p:nvPr>
        </p:nvSpPr>
        <p:spPr/>
        <p:txBody>
          <a:bodyPr/>
          <a:lstStyle/>
          <a:p>
            <a:fld id="{68F7B07E-CEFE-4488-A0BB-EFEA82DC96E8}" type="datetimeFigureOut">
              <a:rPr lang="en-US" smtClean="0"/>
              <a:t>12/30/2023</a:t>
            </a:fld>
            <a:endParaRPr lang="en-US"/>
          </a:p>
        </p:txBody>
      </p:sp>
      <p:sp>
        <p:nvSpPr>
          <p:cNvPr id="4" name="Footer Placeholder 3">
            <a:extLst>
              <a:ext uri="{FF2B5EF4-FFF2-40B4-BE49-F238E27FC236}">
                <a16:creationId xmlns:a16="http://schemas.microsoft.com/office/drawing/2014/main" id="{A4CFBBFD-18E9-8F67-6C45-D11019269FE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3EC328-AA5C-7838-93F8-A21B226D6947}"/>
              </a:ext>
            </a:extLst>
          </p:cNvPr>
          <p:cNvSpPr>
            <a:spLocks noGrp="1"/>
          </p:cNvSpPr>
          <p:nvPr>
            <p:ph type="sldNum" sz="quarter" idx="12"/>
          </p:nvPr>
        </p:nvSpPr>
        <p:spPr/>
        <p:txBody>
          <a:bodyPr/>
          <a:lstStyle/>
          <a:p>
            <a:fld id="{27EDF715-4B7F-43D1-AF25-724ABFCAD313}" type="slidenum">
              <a:rPr lang="en-US" smtClean="0"/>
              <a:t>‹#›</a:t>
            </a:fld>
            <a:endParaRPr lang="en-US"/>
          </a:p>
        </p:txBody>
      </p:sp>
    </p:spTree>
    <p:extLst>
      <p:ext uri="{BB962C8B-B14F-4D97-AF65-F5344CB8AC3E}">
        <p14:creationId xmlns:p14="http://schemas.microsoft.com/office/powerpoint/2010/main" val="1430217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34F075-13C1-70FE-619D-1B905CFC04C6}"/>
              </a:ext>
            </a:extLst>
          </p:cNvPr>
          <p:cNvSpPr>
            <a:spLocks noGrp="1"/>
          </p:cNvSpPr>
          <p:nvPr>
            <p:ph type="dt" sz="half" idx="10"/>
          </p:nvPr>
        </p:nvSpPr>
        <p:spPr/>
        <p:txBody>
          <a:bodyPr/>
          <a:lstStyle/>
          <a:p>
            <a:fld id="{68F7B07E-CEFE-4488-A0BB-EFEA82DC96E8}" type="datetimeFigureOut">
              <a:rPr lang="en-US" smtClean="0"/>
              <a:t>12/30/2023</a:t>
            </a:fld>
            <a:endParaRPr lang="en-US"/>
          </a:p>
        </p:txBody>
      </p:sp>
      <p:sp>
        <p:nvSpPr>
          <p:cNvPr id="3" name="Footer Placeholder 2">
            <a:extLst>
              <a:ext uri="{FF2B5EF4-FFF2-40B4-BE49-F238E27FC236}">
                <a16:creationId xmlns:a16="http://schemas.microsoft.com/office/drawing/2014/main" id="{8F9807D1-EDBB-1ADB-D601-48C43AE12B9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F048ECE-EFBE-A294-8207-FF23A9A0999D}"/>
              </a:ext>
            </a:extLst>
          </p:cNvPr>
          <p:cNvSpPr>
            <a:spLocks noGrp="1"/>
          </p:cNvSpPr>
          <p:nvPr>
            <p:ph type="sldNum" sz="quarter" idx="12"/>
          </p:nvPr>
        </p:nvSpPr>
        <p:spPr/>
        <p:txBody>
          <a:bodyPr/>
          <a:lstStyle/>
          <a:p>
            <a:fld id="{27EDF715-4B7F-43D1-AF25-724ABFCAD313}" type="slidenum">
              <a:rPr lang="en-US" smtClean="0"/>
              <a:t>‹#›</a:t>
            </a:fld>
            <a:endParaRPr lang="en-US"/>
          </a:p>
        </p:txBody>
      </p:sp>
    </p:spTree>
    <p:extLst>
      <p:ext uri="{BB962C8B-B14F-4D97-AF65-F5344CB8AC3E}">
        <p14:creationId xmlns:p14="http://schemas.microsoft.com/office/powerpoint/2010/main" val="12914819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78BF7-77A3-8195-DDE5-7FB51D101D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0DDAF8E-6DB0-6521-A437-86A1CBE316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4CA95C-310D-3EDD-D0FF-F6AFD7096B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D7FAD0-E44B-1B9C-59F9-042025CA9B34}"/>
              </a:ext>
            </a:extLst>
          </p:cNvPr>
          <p:cNvSpPr>
            <a:spLocks noGrp="1"/>
          </p:cNvSpPr>
          <p:nvPr>
            <p:ph type="dt" sz="half" idx="10"/>
          </p:nvPr>
        </p:nvSpPr>
        <p:spPr/>
        <p:txBody>
          <a:bodyPr/>
          <a:lstStyle/>
          <a:p>
            <a:fld id="{68F7B07E-CEFE-4488-A0BB-EFEA82DC96E8}" type="datetimeFigureOut">
              <a:rPr lang="en-US" smtClean="0"/>
              <a:t>12/30/2023</a:t>
            </a:fld>
            <a:endParaRPr lang="en-US"/>
          </a:p>
        </p:txBody>
      </p:sp>
      <p:sp>
        <p:nvSpPr>
          <p:cNvPr id="6" name="Footer Placeholder 5">
            <a:extLst>
              <a:ext uri="{FF2B5EF4-FFF2-40B4-BE49-F238E27FC236}">
                <a16:creationId xmlns:a16="http://schemas.microsoft.com/office/drawing/2014/main" id="{F874B1F4-50F8-B337-2B4C-0CE3F47050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B1B1A5-033B-AB7D-0CD5-59CEA23C305A}"/>
              </a:ext>
            </a:extLst>
          </p:cNvPr>
          <p:cNvSpPr>
            <a:spLocks noGrp="1"/>
          </p:cNvSpPr>
          <p:nvPr>
            <p:ph type="sldNum" sz="quarter" idx="12"/>
          </p:nvPr>
        </p:nvSpPr>
        <p:spPr/>
        <p:txBody>
          <a:bodyPr/>
          <a:lstStyle/>
          <a:p>
            <a:fld id="{27EDF715-4B7F-43D1-AF25-724ABFCAD313}" type="slidenum">
              <a:rPr lang="en-US" smtClean="0"/>
              <a:t>‹#›</a:t>
            </a:fld>
            <a:endParaRPr lang="en-US"/>
          </a:p>
        </p:txBody>
      </p:sp>
    </p:spTree>
    <p:extLst>
      <p:ext uri="{BB962C8B-B14F-4D97-AF65-F5344CB8AC3E}">
        <p14:creationId xmlns:p14="http://schemas.microsoft.com/office/powerpoint/2010/main" val="2317521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BFA37-A0DF-1B54-6A06-EF7FBF8BB2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49829DC-1715-C510-9307-D6F7AB4396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AF14527-1FFD-8F22-8866-92A494B8C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4CF32C-0848-E24C-F4BC-02E4BB733020}"/>
              </a:ext>
            </a:extLst>
          </p:cNvPr>
          <p:cNvSpPr>
            <a:spLocks noGrp="1"/>
          </p:cNvSpPr>
          <p:nvPr>
            <p:ph type="dt" sz="half" idx="10"/>
          </p:nvPr>
        </p:nvSpPr>
        <p:spPr/>
        <p:txBody>
          <a:bodyPr/>
          <a:lstStyle/>
          <a:p>
            <a:fld id="{68F7B07E-CEFE-4488-A0BB-EFEA82DC96E8}" type="datetimeFigureOut">
              <a:rPr lang="en-US" smtClean="0"/>
              <a:t>12/30/2023</a:t>
            </a:fld>
            <a:endParaRPr lang="en-US"/>
          </a:p>
        </p:txBody>
      </p:sp>
      <p:sp>
        <p:nvSpPr>
          <p:cNvPr id="6" name="Footer Placeholder 5">
            <a:extLst>
              <a:ext uri="{FF2B5EF4-FFF2-40B4-BE49-F238E27FC236}">
                <a16:creationId xmlns:a16="http://schemas.microsoft.com/office/drawing/2014/main" id="{B700FA24-C1A7-99E0-89CC-4B6FDEF3E5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89CAC2-ECD8-0D9C-035B-4F2A442F1FCE}"/>
              </a:ext>
            </a:extLst>
          </p:cNvPr>
          <p:cNvSpPr>
            <a:spLocks noGrp="1"/>
          </p:cNvSpPr>
          <p:nvPr>
            <p:ph type="sldNum" sz="quarter" idx="12"/>
          </p:nvPr>
        </p:nvSpPr>
        <p:spPr/>
        <p:txBody>
          <a:bodyPr/>
          <a:lstStyle/>
          <a:p>
            <a:fld id="{27EDF715-4B7F-43D1-AF25-724ABFCAD313}" type="slidenum">
              <a:rPr lang="en-US" smtClean="0"/>
              <a:t>‹#›</a:t>
            </a:fld>
            <a:endParaRPr lang="en-US"/>
          </a:p>
        </p:txBody>
      </p:sp>
    </p:spTree>
    <p:extLst>
      <p:ext uri="{BB962C8B-B14F-4D97-AF65-F5344CB8AC3E}">
        <p14:creationId xmlns:p14="http://schemas.microsoft.com/office/powerpoint/2010/main" val="302943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85C13-2EE9-8566-B5D4-2298C86BF3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EECADA-C041-2282-C987-66512E47EF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D50439-AE4A-986B-4592-81049E434655}"/>
              </a:ext>
            </a:extLst>
          </p:cNvPr>
          <p:cNvSpPr>
            <a:spLocks noGrp="1"/>
          </p:cNvSpPr>
          <p:nvPr>
            <p:ph type="dt" sz="half" idx="10"/>
          </p:nvPr>
        </p:nvSpPr>
        <p:spPr/>
        <p:txBody>
          <a:bodyPr/>
          <a:lstStyle/>
          <a:p>
            <a:fld id="{68F7B07E-CEFE-4488-A0BB-EFEA82DC96E8}" type="datetimeFigureOut">
              <a:rPr lang="en-US" smtClean="0"/>
              <a:t>12/30/2023</a:t>
            </a:fld>
            <a:endParaRPr lang="en-US"/>
          </a:p>
        </p:txBody>
      </p:sp>
      <p:sp>
        <p:nvSpPr>
          <p:cNvPr id="5" name="Footer Placeholder 4">
            <a:extLst>
              <a:ext uri="{FF2B5EF4-FFF2-40B4-BE49-F238E27FC236}">
                <a16:creationId xmlns:a16="http://schemas.microsoft.com/office/drawing/2014/main" id="{F7EE2845-6503-2CBF-5DA3-22C91000BA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28B8D7-3440-F3C1-7D1A-76C40F6C4493}"/>
              </a:ext>
            </a:extLst>
          </p:cNvPr>
          <p:cNvSpPr>
            <a:spLocks noGrp="1"/>
          </p:cNvSpPr>
          <p:nvPr>
            <p:ph type="sldNum" sz="quarter" idx="12"/>
          </p:nvPr>
        </p:nvSpPr>
        <p:spPr/>
        <p:txBody>
          <a:bodyPr/>
          <a:lstStyle/>
          <a:p>
            <a:fld id="{27EDF715-4B7F-43D1-AF25-724ABFCAD313}" type="slidenum">
              <a:rPr lang="en-US" smtClean="0"/>
              <a:t>‹#›</a:t>
            </a:fld>
            <a:endParaRPr lang="en-US"/>
          </a:p>
        </p:txBody>
      </p:sp>
    </p:spTree>
    <p:extLst>
      <p:ext uri="{BB962C8B-B14F-4D97-AF65-F5344CB8AC3E}">
        <p14:creationId xmlns:p14="http://schemas.microsoft.com/office/powerpoint/2010/main" val="88844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E40C1B-0FFC-9E2C-1A69-D3326882951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622BEAE-CC93-C227-302D-974E224352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038736-43AB-EE86-0169-9642C65A04EB}"/>
              </a:ext>
            </a:extLst>
          </p:cNvPr>
          <p:cNvSpPr>
            <a:spLocks noGrp="1"/>
          </p:cNvSpPr>
          <p:nvPr>
            <p:ph type="dt" sz="half" idx="10"/>
          </p:nvPr>
        </p:nvSpPr>
        <p:spPr/>
        <p:txBody>
          <a:bodyPr/>
          <a:lstStyle/>
          <a:p>
            <a:fld id="{68F7B07E-CEFE-4488-A0BB-EFEA82DC96E8}" type="datetimeFigureOut">
              <a:rPr lang="en-US" smtClean="0"/>
              <a:t>12/30/2023</a:t>
            </a:fld>
            <a:endParaRPr lang="en-US"/>
          </a:p>
        </p:txBody>
      </p:sp>
      <p:sp>
        <p:nvSpPr>
          <p:cNvPr id="5" name="Footer Placeholder 4">
            <a:extLst>
              <a:ext uri="{FF2B5EF4-FFF2-40B4-BE49-F238E27FC236}">
                <a16:creationId xmlns:a16="http://schemas.microsoft.com/office/drawing/2014/main" id="{B501AEC6-BD73-5738-CA44-8B372FBA9B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156853-3479-B229-67BD-1D553849A5DB}"/>
              </a:ext>
            </a:extLst>
          </p:cNvPr>
          <p:cNvSpPr>
            <a:spLocks noGrp="1"/>
          </p:cNvSpPr>
          <p:nvPr>
            <p:ph type="sldNum" sz="quarter" idx="12"/>
          </p:nvPr>
        </p:nvSpPr>
        <p:spPr/>
        <p:txBody>
          <a:bodyPr/>
          <a:lstStyle/>
          <a:p>
            <a:fld id="{27EDF715-4B7F-43D1-AF25-724ABFCAD313}" type="slidenum">
              <a:rPr lang="en-US" smtClean="0"/>
              <a:t>‹#›</a:t>
            </a:fld>
            <a:endParaRPr lang="en-US"/>
          </a:p>
        </p:txBody>
      </p:sp>
    </p:spTree>
    <p:extLst>
      <p:ext uri="{BB962C8B-B14F-4D97-AF65-F5344CB8AC3E}">
        <p14:creationId xmlns:p14="http://schemas.microsoft.com/office/powerpoint/2010/main" val="243428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E1BFBAC-EF40-6730-8DEC-9FE735B5EF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98FD27-A380-5F02-034B-CCD9553E1A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1B870D-192C-6D53-B932-F6D5063839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F7B07E-CEFE-4488-A0BB-EFEA82DC96E8}" type="datetimeFigureOut">
              <a:rPr lang="en-US" smtClean="0"/>
              <a:t>12/30/2023</a:t>
            </a:fld>
            <a:endParaRPr lang="en-US"/>
          </a:p>
        </p:txBody>
      </p:sp>
      <p:sp>
        <p:nvSpPr>
          <p:cNvPr id="5" name="Footer Placeholder 4">
            <a:extLst>
              <a:ext uri="{FF2B5EF4-FFF2-40B4-BE49-F238E27FC236}">
                <a16:creationId xmlns:a16="http://schemas.microsoft.com/office/drawing/2014/main" id="{0AD2C6CF-2B8E-35DA-6D68-FD29A28040F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2FE8BA3-F7EA-07EF-2383-3D3DAA4851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EDF715-4B7F-43D1-AF25-724ABFCAD313}" type="slidenum">
              <a:rPr lang="en-US" smtClean="0"/>
              <a:t>‹#›</a:t>
            </a:fld>
            <a:endParaRPr lang="en-US"/>
          </a:p>
        </p:txBody>
      </p:sp>
    </p:spTree>
    <p:extLst>
      <p:ext uri="{BB962C8B-B14F-4D97-AF65-F5344CB8AC3E}">
        <p14:creationId xmlns:p14="http://schemas.microsoft.com/office/powerpoint/2010/main" val="1858134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8B1B18B-E379-C104-C8F6-C84C36790047}"/>
              </a:ext>
            </a:extLst>
          </p:cNvPr>
          <p:cNvSpPr txBox="1"/>
          <p:nvPr/>
        </p:nvSpPr>
        <p:spPr>
          <a:xfrm>
            <a:off x="363793" y="198792"/>
            <a:ext cx="6096000" cy="369332"/>
          </a:xfrm>
          <a:prstGeom prst="rect">
            <a:avLst/>
          </a:prstGeom>
          <a:noFill/>
        </p:spPr>
        <p:txBody>
          <a:bodyPr wrap="square">
            <a:spAutoFit/>
          </a:bodyPr>
          <a:lstStyle/>
          <a:p>
            <a:pPr algn="l"/>
            <a:r>
              <a:rPr lang="en-US" b="1" i="0" dirty="0">
                <a:solidFill>
                  <a:srgbClr val="1F1F1F"/>
                </a:solidFill>
                <a:effectLst/>
              </a:rPr>
              <a:t>Siamese Network</a:t>
            </a:r>
          </a:p>
        </p:txBody>
      </p:sp>
      <p:sp>
        <p:nvSpPr>
          <p:cNvPr id="7" name="TextBox 6">
            <a:extLst>
              <a:ext uri="{FF2B5EF4-FFF2-40B4-BE49-F238E27FC236}">
                <a16:creationId xmlns:a16="http://schemas.microsoft.com/office/drawing/2014/main" id="{5114CE6F-F012-0713-B491-C82CDD28DB73}"/>
              </a:ext>
            </a:extLst>
          </p:cNvPr>
          <p:cNvSpPr txBox="1"/>
          <p:nvPr/>
        </p:nvSpPr>
        <p:spPr>
          <a:xfrm>
            <a:off x="363793" y="568124"/>
            <a:ext cx="8760542"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It is best to describe what a Siamese network is through an example.</a:t>
            </a:r>
            <a:endParaRPr lang="en-US" dirty="0"/>
          </a:p>
        </p:txBody>
      </p:sp>
      <p:pic>
        <p:nvPicPr>
          <p:cNvPr id="9" name="Picture 8">
            <a:extLst>
              <a:ext uri="{FF2B5EF4-FFF2-40B4-BE49-F238E27FC236}">
                <a16:creationId xmlns:a16="http://schemas.microsoft.com/office/drawing/2014/main" id="{A9AE97EA-883E-F68C-4105-E58AB1ACE49F}"/>
              </a:ext>
            </a:extLst>
          </p:cNvPr>
          <p:cNvPicPr>
            <a:picLocks noChangeAspect="1"/>
          </p:cNvPicPr>
          <p:nvPr/>
        </p:nvPicPr>
        <p:blipFill>
          <a:blip r:embed="rId2"/>
          <a:stretch>
            <a:fillRect/>
          </a:stretch>
        </p:blipFill>
        <p:spPr>
          <a:xfrm>
            <a:off x="283512" y="937456"/>
            <a:ext cx="6256562" cy="1646063"/>
          </a:xfrm>
          <a:prstGeom prst="rect">
            <a:avLst/>
          </a:prstGeom>
        </p:spPr>
      </p:pic>
      <p:sp>
        <p:nvSpPr>
          <p:cNvPr id="11" name="TextBox 10">
            <a:extLst>
              <a:ext uri="{FF2B5EF4-FFF2-40B4-BE49-F238E27FC236}">
                <a16:creationId xmlns:a16="http://schemas.microsoft.com/office/drawing/2014/main" id="{3F2DDBAB-7148-E7F4-039A-8E169478B5B9}"/>
              </a:ext>
            </a:extLst>
          </p:cNvPr>
          <p:cNvSpPr txBox="1"/>
          <p:nvPr/>
        </p:nvSpPr>
        <p:spPr>
          <a:xfrm>
            <a:off x="363793" y="2583519"/>
            <a:ext cx="11720052" cy="2031325"/>
          </a:xfrm>
          <a:prstGeom prst="rect">
            <a:avLst/>
          </a:prstGeom>
          <a:noFill/>
        </p:spPr>
        <p:txBody>
          <a:bodyPr wrap="square">
            <a:spAutoFit/>
          </a:bodyPr>
          <a:lstStyle/>
          <a:p>
            <a:pPr algn="l"/>
            <a:r>
              <a:rPr lang="en-US" b="0" i="0" dirty="0">
                <a:solidFill>
                  <a:srgbClr val="1F1F1F"/>
                </a:solidFill>
                <a:effectLst/>
                <a:latin typeface="var(--cds-font-family-source-sans-pro)"/>
              </a:rPr>
              <a:t>Note that in the first example above, the two sentences mean the same thing but have completely different words. While in the second case, the two sentences mean completely different things but they have very similar words. </a:t>
            </a:r>
          </a:p>
          <a:p>
            <a:pPr algn="l"/>
            <a:endParaRPr lang="en-US" b="1" i="0" dirty="0">
              <a:solidFill>
                <a:srgbClr val="1F1F1F"/>
              </a:solidFill>
              <a:effectLst/>
              <a:latin typeface="unset"/>
            </a:endParaRPr>
          </a:p>
          <a:p>
            <a:pPr algn="l"/>
            <a:r>
              <a:rPr lang="en-US" b="1" i="0" dirty="0">
                <a:solidFill>
                  <a:srgbClr val="1F1F1F"/>
                </a:solidFill>
                <a:effectLst/>
                <a:latin typeface="unset"/>
              </a:rPr>
              <a:t>Classification</a:t>
            </a:r>
            <a:r>
              <a:rPr lang="en-US" b="0" i="0" dirty="0">
                <a:solidFill>
                  <a:srgbClr val="1F1F1F"/>
                </a:solidFill>
                <a:effectLst/>
                <a:latin typeface="var(--cds-font-family-source-sans-pro)"/>
              </a:rPr>
              <a:t>: learns what makes an input what it is.</a:t>
            </a:r>
          </a:p>
          <a:p>
            <a:pPr algn="l"/>
            <a:r>
              <a:rPr lang="en-US" b="1" i="0" dirty="0">
                <a:solidFill>
                  <a:srgbClr val="1F1F1F"/>
                </a:solidFill>
                <a:effectLst/>
                <a:latin typeface="unset"/>
              </a:rPr>
              <a:t>Siamese Networks</a:t>
            </a:r>
            <a:r>
              <a:rPr lang="en-US" b="0" i="0" dirty="0">
                <a:solidFill>
                  <a:srgbClr val="1F1F1F"/>
                </a:solidFill>
                <a:effectLst/>
                <a:latin typeface="var(--cds-font-family-source-sans-pro)"/>
              </a:rPr>
              <a:t>: learns what makes two inputs the same</a:t>
            </a:r>
          </a:p>
          <a:p>
            <a:pPr algn="l"/>
            <a:endParaRPr lang="en-US" b="0" i="0" dirty="0">
              <a:solidFill>
                <a:srgbClr val="1F1F1F"/>
              </a:solidFill>
              <a:effectLst/>
              <a:latin typeface="var(--cds-font-family-source-sans-pro)"/>
            </a:endParaRPr>
          </a:p>
          <a:p>
            <a:pPr algn="l"/>
            <a:r>
              <a:rPr lang="en-US" b="0" i="0" dirty="0">
                <a:solidFill>
                  <a:srgbClr val="1F1F1F"/>
                </a:solidFill>
                <a:effectLst/>
                <a:latin typeface="var(--cds-font-family-source-sans-pro)"/>
              </a:rPr>
              <a:t>Here are a few applications of </a:t>
            </a:r>
            <a:r>
              <a:rPr lang="en-US" b="0" i="0" dirty="0" err="1">
                <a:solidFill>
                  <a:srgbClr val="1F1F1F"/>
                </a:solidFill>
                <a:effectLst/>
                <a:latin typeface="var(--cds-font-family-source-sans-pro)"/>
              </a:rPr>
              <a:t>siamese</a:t>
            </a:r>
            <a:r>
              <a:rPr lang="en-US" b="0" i="0" dirty="0">
                <a:solidFill>
                  <a:srgbClr val="1F1F1F"/>
                </a:solidFill>
                <a:effectLst/>
                <a:latin typeface="var(--cds-font-family-source-sans-pro)"/>
              </a:rPr>
              <a:t> networks: </a:t>
            </a:r>
          </a:p>
        </p:txBody>
      </p:sp>
      <p:pic>
        <p:nvPicPr>
          <p:cNvPr id="13" name="Picture 12">
            <a:extLst>
              <a:ext uri="{FF2B5EF4-FFF2-40B4-BE49-F238E27FC236}">
                <a16:creationId xmlns:a16="http://schemas.microsoft.com/office/drawing/2014/main" id="{956F4CFC-F0C1-DD03-60F6-3629D3DA9DBF}"/>
              </a:ext>
            </a:extLst>
          </p:cNvPr>
          <p:cNvPicPr>
            <a:picLocks noChangeAspect="1"/>
          </p:cNvPicPr>
          <p:nvPr/>
        </p:nvPicPr>
        <p:blipFill>
          <a:blip r:embed="rId3"/>
          <a:stretch>
            <a:fillRect/>
          </a:stretch>
        </p:blipFill>
        <p:spPr>
          <a:xfrm>
            <a:off x="363793" y="4614844"/>
            <a:ext cx="5003310" cy="1916890"/>
          </a:xfrm>
          <a:prstGeom prst="rect">
            <a:avLst/>
          </a:prstGeom>
        </p:spPr>
      </p:pic>
    </p:spTree>
    <p:extLst>
      <p:ext uri="{BB962C8B-B14F-4D97-AF65-F5344CB8AC3E}">
        <p14:creationId xmlns:p14="http://schemas.microsoft.com/office/powerpoint/2010/main" val="250281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B92C143-B6E7-675A-51EA-6799D7AE2DD8}"/>
              </a:ext>
            </a:extLst>
          </p:cNvPr>
          <p:cNvSpPr txBox="1"/>
          <p:nvPr/>
        </p:nvSpPr>
        <p:spPr>
          <a:xfrm>
            <a:off x="226142" y="90637"/>
            <a:ext cx="6096000" cy="369332"/>
          </a:xfrm>
          <a:prstGeom prst="rect">
            <a:avLst/>
          </a:prstGeom>
          <a:noFill/>
        </p:spPr>
        <p:txBody>
          <a:bodyPr wrap="square">
            <a:spAutoFit/>
          </a:bodyPr>
          <a:lstStyle/>
          <a:p>
            <a:pPr algn="l"/>
            <a:r>
              <a:rPr lang="en-US" b="1" i="0" dirty="0">
                <a:solidFill>
                  <a:srgbClr val="1F1F1F"/>
                </a:solidFill>
                <a:effectLst/>
              </a:rPr>
              <a:t>Architecture</a:t>
            </a:r>
          </a:p>
        </p:txBody>
      </p:sp>
      <p:sp>
        <p:nvSpPr>
          <p:cNvPr id="7" name="TextBox 6">
            <a:extLst>
              <a:ext uri="{FF2B5EF4-FFF2-40B4-BE49-F238E27FC236}">
                <a16:creationId xmlns:a16="http://schemas.microsoft.com/office/drawing/2014/main" id="{9F83BF37-04D1-388E-FE5A-4DE5C3D72E9A}"/>
              </a:ext>
            </a:extLst>
          </p:cNvPr>
          <p:cNvSpPr txBox="1"/>
          <p:nvPr/>
        </p:nvSpPr>
        <p:spPr>
          <a:xfrm>
            <a:off x="147483" y="459969"/>
            <a:ext cx="8337755"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 model architecture of a typical </a:t>
            </a:r>
            <a:r>
              <a:rPr lang="en-US" b="0" i="0" dirty="0" err="1">
                <a:solidFill>
                  <a:srgbClr val="1F1F1F"/>
                </a:solidFill>
                <a:effectLst/>
                <a:latin typeface="Source Sans Pro" panose="020B0503030403020204" pitchFamily="34" charset="0"/>
              </a:rPr>
              <a:t>siamese</a:t>
            </a:r>
            <a:r>
              <a:rPr lang="en-US" b="0" i="0" dirty="0">
                <a:solidFill>
                  <a:srgbClr val="1F1F1F"/>
                </a:solidFill>
                <a:effectLst/>
                <a:latin typeface="Source Sans Pro" panose="020B0503030403020204" pitchFamily="34" charset="0"/>
              </a:rPr>
              <a:t> network could look as follows: </a:t>
            </a:r>
            <a:endParaRPr lang="en-US" dirty="0"/>
          </a:p>
        </p:txBody>
      </p:sp>
      <p:pic>
        <p:nvPicPr>
          <p:cNvPr id="9" name="Picture 8">
            <a:extLst>
              <a:ext uri="{FF2B5EF4-FFF2-40B4-BE49-F238E27FC236}">
                <a16:creationId xmlns:a16="http://schemas.microsoft.com/office/drawing/2014/main" id="{4D59DBFA-6722-AB9F-5BC0-6A4DE378222A}"/>
              </a:ext>
            </a:extLst>
          </p:cNvPr>
          <p:cNvPicPr>
            <a:picLocks noChangeAspect="1"/>
          </p:cNvPicPr>
          <p:nvPr/>
        </p:nvPicPr>
        <p:blipFill>
          <a:blip r:embed="rId2"/>
          <a:stretch>
            <a:fillRect/>
          </a:stretch>
        </p:blipFill>
        <p:spPr>
          <a:xfrm>
            <a:off x="1841139" y="829301"/>
            <a:ext cx="7369179" cy="2499577"/>
          </a:xfrm>
          <a:prstGeom prst="rect">
            <a:avLst/>
          </a:prstGeom>
        </p:spPr>
      </p:pic>
      <p:sp>
        <p:nvSpPr>
          <p:cNvPr id="11" name="TextBox 10">
            <a:extLst>
              <a:ext uri="{FF2B5EF4-FFF2-40B4-BE49-F238E27FC236}">
                <a16:creationId xmlns:a16="http://schemas.microsoft.com/office/drawing/2014/main" id="{408A4B85-82BC-794F-A839-01F141DCC1CC}"/>
              </a:ext>
            </a:extLst>
          </p:cNvPr>
          <p:cNvSpPr txBox="1"/>
          <p:nvPr/>
        </p:nvSpPr>
        <p:spPr>
          <a:xfrm>
            <a:off x="226142" y="3606346"/>
            <a:ext cx="11965858" cy="923330"/>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These two sub-networks are sister-networks which come together to produce a similarity score. Not all Siamese networks will be designed to contain LSTMs. One thing to remember is that sub-networks share identical parameters. This means that you </a:t>
            </a:r>
            <a:r>
              <a:rPr lang="en-US" b="1" i="0" dirty="0">
                <a:solidFill>
                  <a:srgbClr val="1F1F1F"/>
                </a:solidFill>
                <a:effectLst/>
                <a:latin typeface="unset"/>
              </a:rPr>
              <a:t>only</a:t>
            </a:r>
            <a:r>
              <a:rPr lang="en-US" b="0" i="0" dirty="0">
                <a:solidFill>
                  <a:srgbClr val="1F1F1F"/>
                </a:solidFill>
                <a:effectLst/>
                <a:latin typeface="Source Sans Pro" panose="020B0503030403020204" pitchFamily="34" charset="0"/>
              </a:rPr>
              <a:t> need to train one set of weights and not two. </a:t>
            </a:r>
            <a:endParaRPr lang="en-US" dirty="0"/>
          </a:p>
        </p:txBody>
      </p:sp>
      <p:sp>
        <p:nvSpPr>
          <p:cNvPr id="13" name="TextBox 12">
            <a:extLst>
              <a:ext uri="{FF2B5EF4-FFF2-40B4-BE49-F238E27FC236}">
                <a16:creationId xmlns:a16="http://schemas.microsoft.com/office/drawing/2014/main" id="{D2F7F36C-1E55-6903-B9A0-E3C5A104130B}"/>
              </a:ext>
            </a:extLst>
          </p:cNvPr>
          <p:cNvSpPr txBox="1"/>
          <p:nvPr/>
        </p:nvSpPr>
        <p:spPr>
          <a:xfrm>
            <a:off x="211393" y="4975854"/>
            <a:ext cx="11769213"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 output of each sub-network is a vector. You can then run the output through a cosine similarity function to get the similarity score. In the next video, we will talk about the cost function for such a network.</a:t>
            </a:r>
            <a:endParaRPr lang="en-US" dirty="0"/>
          </a:p>
        </p:txBody>
      </p:sp>
    </p:spTree>
    <p:extLst>
      <p:ext uri="{BB962C8B-B14F-4D97-AF65-F5344CB8AC3E}">
        <p14:creationId xmlns:p14="http://schemas.microsoft.com/office/powerpoint/2010/main" val="4163865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201931-B7E2-2652-973A-12062DE7825F}"/>
              </a:ext>
            </a:extLst>
          </p:cNvPr>
          <p:cNvSpPr txBox="1"/>
          <p:nvPr/>
        </p:nvSpPr>
        <p:spPr>
          <a:xfrm>
            <a:off x="117987" y="80805"/>
            <a:ext cx="6096000" cy="369332"/>
          </a:xfrm>
          <a:prstGeom prst="rect">
            <a:avLst/>
          </a:prstGeom>
          <a:noFill/>
        </p:spPr>
        <p:txBody>
          <a:bodyPr wrap="square">
            <a:spAutoFit/>
          </a:bodyPr>
          <a:lstStyle/>
          <a:p>
            <a:pPr algn="l"/>
            <a:r>
              <a:rPr lang="en-US" b="1" i="0" dirty="0">
                <a:solidFill>
                  <a:srgbClr val="1F1F1F"/>
                </a:solidFill>
                <a:effectLst/>
              </a:rPr>
              <a:t>Cost Function</a:t>
            </a:r>
          </a:p>
        </p:txBody>
      </p:sp>
      <p:sp>
        <p:nvSpPr>
          <p:cNvPr id="7" name="TextBox 6">
            <a:extLst>
              <a:ext uri="{FF2B5EF4-FFF2-40B4-BE49-F238E27FC236}">
                <a16:creationId xmlns:a16="http://schemas.microsoft.com/office/drawing/2014/main" id="{5F216768-62F0-A82B-982B-C2F7A047E287}"/>
              </a:ext>
            </a:extLst>
          </p:cNvPr>
          <p:cNvSpPr txBox="1"/>
          <p:nvPr/>
        </p:nvSpPr>
        <p:spPr>
          <a:xfrm>
            <a:off x="117987" y="450137"/>
            <a:ext cx="6096000"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Take a close look at the following slide:</a:t>
            </a:r>
            <a:endParaRPr lang="en-US" dirty="0"/>
          </a:p>
        </p:txBody>
      </p:sp>
      <p:pic>
        <p:nvPicPr>
          <p:cNvPr id="9" name="Picture 8">
            <a:extLst>
              <a:ext uri="{FF2B5EF4-FFF2-40B4-BE49-F238E27FC236}">
                <a16:creationId xmlns:a16="http://schemas.microsoft.com/office/drawing/2014/main" id="{FBD58075-029B-6662-4418-7F3228D86339}"/>
              </a:ext>
            </a:extLst>
          </p:cNvPr>
          <p:cNvPicPr>
            <a:picLocks noChangeAspect="1"/>
          </p:cNvPicPr>
          <p:nvPr/>
        </p:nvPicPr>
        <p:blipFill>
          <a:blip r:embed="rId2"/>
          <a:stretch>
            <a:fillRect/>
          </a:stretch>
        </p:blipFill>
        <p:spPr>
          <a:xfrm>
            <a:off x="0" y="819470"/>
            <a:ext cx="5968181" cy="2510426"/>
          </a:xfrm>
          <a:prstGeom prst="rect">
            <a:avLst/>
          </a:prstGeom>
        </p:spPr>
      </p:pic>
      <p:sp>
        <p:nvSpPr>
          <p:cNvPr id="11" name="TextBox 10">
            <a:extLst>
              <a:ext uri="{FF2B5EF4-FFF2-40B4-BE49-F238E27FC236}">
                <a16:creationId xmlns:a16="http://schemas.microsoft.com/office/drawing/2014/main" id="{A875649F-3772-F639-C7B8-7C4F30AD0E74}"/>
              </a:ext>
            </a:extLst>
          </p:cNvPr>
          <p:cNvSpPr txBox="1"/>
          <p:nvPr/>
        </p:nvSpPr>
        <p:spPr>
          <a:xfrm>
            <a:off x="6086168" y="265471"/>
            <a:ext cx="6096000" cy="2585323"/>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Note that when trying to compute the cost for a </a:t>
            </a:r>
            <a:r>
              <a:rPr lang="en-US" dirty="0">
                <a:solidFill>
                  <a:srgbClr val="1F1F1F"/>
                </a:solidFill>
                <a:latin typeface="Source Sans Pro" panose="020B0503030403020204" pitchFamily="34" charset="0"/>
              </a:rPr>
              <a:t>S</a:t>
            </a:r>
            <a:r>
              <a:rPr lang="en-US" b="0" i="0" dirty="0">
                <a:solidFill>
                  <a:srgbClr val="1F1F1F"/>
                </a:solidFill>
                <a:effectLst/>
                <a:latin typeface="Source Sans Pro" panose="020B0503030403020204" pitchFamily="34" charset="0"/>
              </a:rPr>
              <a:t>iamese network you use the triplet loss. The triplet loss looks at an Anchor, a Positive and a Negative example  It's important to note that you aim to adjust the model's weights in a way that the anchor and the positive example have a cosine similarity score close to 1. Conversely, the anchor and the negative example should have a cosine similarity score close to -1. More concretely, you seek to minimize the following equation: n:</a:t>
            </a:r>
            <a:endParaRPr lang="en-US" dirty="0"/>
          </a:p>
        </p:txBody>
      </p:sp>
      <p:pic>
        <p:nvPicPr>
          <p:cNvPr id="13" name="Picture 12">
            <a:extLst>
              <a:ext uri="{FF2B5EF4-FFF2-40B4-BE49-F238E27FC236}">
                <a16:creationId xmlns:a16="http://schemas.microsoft.com/office/drawing/2014/main" id="{6DAB3613-99E9-AD19-AE1A-2E59F7F14DAD}"/>
              </a:ext>
            </a:extLst>
          </p:cNvPr>
          <p:cNvPicPr>
            <a:picLocks noChangeAspect="1"/>
          </p:cNvPicPr>
          <p:nvPr/>
        </p:nvPicPr>
        <p:blipFill>
          <a:blip r:embed="rId3"/>
          <a:stretch>
            <a:fillRect/>
          </a:stretch>
        </p:blipFill>
        <p:spPr>
          <a:xfrm>
            <a:off x="7903431" y="2745272"/>
            <a:ext cx="2461473" cy="403895"/>
          </a:xfrm>
          <a:prstGeom prst="rect">
            <a:avLst/>
          </a:prstGeom>
        </p:spPr>
      </p:pic>
      <p:pic>
        <p:nvPicPr>
          <p:cNvPr id="15" name="Picture 14">
            <a:extLst>
              <a:ext uri="{FF2B5EF4-FFF2-40B4-BE49-F238E27FC236}">
                <a16:creationId xmlns:a16="http://schemas.microsoft.com/office/drawing/2014/main" id="{757262A8-7054-AF63-E246-D65BC3DD3EAD}"/>
              </a:ext>
            </a:extLst>
          </p:cNvPr>
          <p:cNvPicPr>
            <a:picLocks noChangeAspect="1"/>
          </p:cNvPicPr>
          <p:nvPr/>
        </p:nvPicPr>
        <p:blipFill>
          <a:blip r:embed="rId4"/>
          <a:stretch>
            <a:fillRect/>
          </a:stretch>
        </p:blipFill>
        <p:spPr>
          <a:xfrm>
            <a:off x="1930116" y="3528105"/>
            <a:ext cx="7529100" cy="3329895"/>
          </a:xfrm>
          <a:prstGeom prst="rect">
            <a:avLst/>
          </a:prstGeom>
        </p:spPr>
      </p:pic>
    </p:spTree>
    <p:extLst>
      <p:ext uri="{BB962C8B-B14F-4D97-AF65-F5344CB8AC3E}">
        <p14:creationId xmlns:p14="http://schemas.microsoft.com/office/powerpoint/2010/main" val="1033231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26C9EE4-056D-8BFA-2097-DDAE1F764391}"/>
              </a:ext>
            </a:extLst>
          </p:cNvPr>
          <p:cNvSpPr txBox="1"/>
          <p:nvPr/>
        </p:nvSpPr>
        <p:spPr>
          <a:xfrm>
            <a:off x="137651" y="100469"/>
            <a:ext cx="6096000" cy="369332"/>
          </a:xfrm>
          <a:prstGeom prst="rect">
            <a:avLst/>
          </a:prstGeom>
          <a:noFill/>
        </p:spPr>
        <p:txBody>
          <a:bodyPr wrap="square">
            <a:spAutoFit/>
          </a:bodyPr>
          <a:lstStyle/>
          <a:p>
            <a:pPr algn="l"/>
            <a:r>
              <a:rPr lang="en-US" b="1" i="0" dirty="0">
                <a:solidFill>
                  <a:srgbClr val="1F1F1F"/>
                </a:solidFill>
                <a:effectLst/>
              </a:rPr>
              <a:t>Triplets</a:t>
            </a:r>
          </a:p>
        </p:txBody>
      </p:sp>
      <p:sp>
        <p:nvSpPr>
          <p:cNvPr id="7" name="TextBox 6">
            <a:extLst>
              <a:ext uri="{FF2B5EF4-FFF2-40B4-BE49-F238E27FC236}">
                <a16:creationId xmlns:a16="http://schemas.microsoft.com/office/drawing/2014/main" id="{9EFDC703-B630-6744-4184-A2C3D0A61FD1}"/>
              </a:ext>
            </a:extLst>
          </p:cNvPr>
          <p:cNvSpPr txBox="1"/>
          <p:nvPr/>
        </p:nvSpPr>
        <p:spPr>
          <a:xfrm>
            <a:off x="137651" y="551906"/>
            <a:ext cx="11031794"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To get the full cost function you will add a margin to the previous cost function.</a:t>
            </a:r>
            <a:endParaRPr lang="en-US" dirty="0"/>
          </a:p>
        </p:txBody>
      </p:sp>
      <p:pic>
        <p:nvPicPr>
          <p:cNvPr id="9" name="Picture 8">
            <a:extLst>
              <a:ext uri="{FF2B5EF4-FFF2-40B4-BE49-F238E27FC236}">
                <a16:creationId xmlns:a16="http://schemas.microsoft.com/office/drawing/2014/main" id="{12FD4FF6-3AB1-F7BB-970F-3B369536F408}"/>
              </a:ext>
            </a:extLst>
          </p:cNvPr>
          <p:cNvPicPr>
            <a:picLocks noChangeAspect="1"/>
          </p:cNvPicPr>
          <p:nvPr/>
        </p:nvPicPr>
        <p:blipFill>
          <a:blip r:embed="rId2"/>
          <a:stretch>
            <a:fillRect/>
          </a:stretch>
        </p:blipFill>
        <p:spPr>
          <a:xfrm>
            <a:off x="137651" y="1003343"/>
            <a:ext cx="6790008" cy="2514818"/>
          </a:xfrm>
          <a:prstGeom prst="rect">
            <a:avLst/>
          </a:prstGeom>
        </p:spPr>
      </p:pic>
      <p:pic>
        <p:nvPicPr>
          <p:cNvPr id="11" name="Picture 10">
            <a:extLst>
              <a:ext uri="{FF2B5EF4-FFF2-40B4-BE49-F238E27FC236}">
                <a16:creationId xmlns:a16="http://schemas.microsoft.com/office/drawing/2014/main" id="{DD6EEDF3-B0DD-F19C-9B62-77968722AC2C}"/>
              </a:ext>
            </a:extLst>
          </p:cNvPr>
          <p:cNvPicPr>
            <a:picLocks noChangeAspect="1"/>
          </p:cNvPicPr>
          <p:nvPr/>
        </p:nvPicPr>
        <p:blipFill>
          <a:blip r:embed="rId3"/>
          <a:stretch>
            <a:fillRect/>
          </a:stretch>
        </p:blipFill>
        <p:spPr>
          <a:xfrm>
            <a:off x="314076" y="3600266"/>
            <a:ext cx="8131834" cy="2917792"/>
          </a:xfrm>
          <a:prstGeom prst="rect">
            <a:avLst/>
          </a:prstGeom>
        </p:spPr>
      </p:pic>
    </p:spTree>
    <p:extLst>
      <p:ext uri="{BB962C8B-B14F-4D97-AF65-F5344CB8AC3E}">
        <p14:creationId xmlns:p14="http://schemas.microsoft.com/office/powerpoint/2010/main" val="3714305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285FB2-CEC0-FC60-2FBB-DCA8BBCDB777}"/>
              </a:ext>
            </a:extLst>
          </p:cNvPr>
          <p:cNvSpPr txBox="1"/>
          <p:nvPr/>
        </p:nvSpPr>
        <p:spPr>
          <a:xfrm>
            <a:off x="157316" y="70973"/>
            <a:ext cx="6096000" cy="369332"/>
          </a:xfrm>
          <a:prstGeom prst="rect">
            <a:avLst/>
          </a:prstGeom>
          <a:noFill/>
        </p:spPr>
        <p:txBody>
          <a:bodyPr wrap="square">
            <a:spAutoFit/>
          </a:bodyPr>
          <a:lstStyle/>
          <a:p>
            <a:pPr algn="l"/>
            <a:r>
              <a:rPr lang="en-US" b="1" i="0" dirty="0">
                <a:solidFill>
                  <a:srgbClr val="1F1F1F"/>
                </a:solidFill>
                <a:effectLst/>
              </a:rPr>
              <a:t>Computing the Cost I</a:t>
            </a:r>
          </a:p>
        </p:txBody>
      </p:sp>
      <p:sp>
        <p:nvSpPr>
          <p:cNvPr id="7" name="TextBox 6">
            <a:extLst>
              <a:ext uri="{FF2B5EF4-FFF2-40B4-BE49-F238E27FC236}">
                <a16:creationId xmlns:a16="http://schemas.microsoft.com/office/drawing/2014/main" id="{ACDD1C97-A041-4140-121D-782F21F7C30E}"/>
              </a:ext>
            </a:extLst>
          </p:cNvPr>
          <p:cNvSpPr txBox="1"/>
          <p:nvPr/>
        </p:nvSpPr>
        <p:spPr>
          <a:xfrm>
            <a:off x="157316" y="440305"/>
            <a:ext cx="6096000"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To compute the cost, you prepare the batches as follows: </a:t>
            </a:r>
            <a:endParaRPr lang="en-US" dirty="0"/>
          </a:p>
        </p:txBody>
      </p:sp>
      <p:pic>
        <p:nvPicPr>
          <p:cNvPr id="9" name="Picture 8">
            <a:extLst>
              <a:ext uri="{FF2B5EF4-FFF2-40B4-BE49-F238E27FC236}">
                <a16:creationId xmlns:a16="http://schemas.microsoft.com/office/drawing/2014/main" id="{9FF06FD3-ADE3-33EC-A25E-3D8E196E6267}"/>
              </a:ext>
            </a:extLst>
          </p:cNvPr>
          <p:cNvPicPr>
            <a:picLocks noChangeAspect="1"/>
          </p:cNvPicPr>
          <p:nvPr/>
        </p:nvPicPr>
        <p:blipFill>
          <a:blip r:embed="rId2"/>
          <a:stretch>
            <a:fillRect/>
          </a:stretch>
        </p:blipFill>
        <p:spPr>
          <a:xfrm>
            <a:off x="0" y="938615"/>
            <a:ext cx="4876800" cy="2001589"/>
          </a:xfrm>
          <a:prstGeom prst="rect">
            <a:avLst/>
          </a:prstGeom>
        </p:spPr>
      </p:pic>
      <p:sp>
        <p:nvSpPr>
          <p:cNvPr id="11" name="TextBox 10">
            <a:extLst>
              <a:ext uri="{FF2B5EF4-FFF2-40B4-BE49-F238E27FC236}">
                <a16:creationId xmlns:a16="http://schemas.microsoft.com/office/drawing/2014/main" id="{C4D6476C-FFA9-60D2-FE1D-94F7AD876B86}"/>
              </a:ext>
            </a:extLst>
          </p:cNvPr>
          <p:cNvSpPr txBox="1"/>
          <p:nvPr/>
        </p:nvSpPr>
        <p:spPr>
          <a:xfrm>
            <a:off x="6007510" y="440305"/>
            <a:ext cx="5279922" cy="1477328"/>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Note that each example on the left has a similar example to its right, but no other example above or below it means the same thing. Then you can calculate the similarity matrix between each possible pair from the left and right columns.</a:t>
            </a:r>
            <a:endParaRPr lang="en-US" dirty="0"/>
          </a:p>
        </p:txBody>
      </p:sp>
      <p:pic>
        <p:nvPicPr>
          <p:cNvPr id="13" name="Picture 12">
            <a:extLst>
              <a:ext uri="{FF2B5EF4-FFF2-40B4-BE49-F238E27FC236}">
                <a16:creationId xmlns:a16="http://schemas.microsoft.com/office/drawing/2014/main" id="{3596AABC-7E4B-30DA-35B8-A117D3B5A1E5}"/>
              </a:ext>
            </a:extLst>
          </p:cNvPr>
          <p:cNvPicPr>
            <a:picLocks noChangeAspect="1"/>
          </p:cNvPicPr>
          <p:nvPr/>
        </p:nvPicPr>
        <p:blipFill>
          <a:blip r:embed="rId3"/>
          <a:stretch>
            <a:fillRect/>
          </a:stretch>
        </p:blipFill>
        <p:spPr>
          <a:xfrm>
            <a:off x="5749220" y="2133599"/>
            <a:ext cx="5796502" cy="2735359"/>
          </a:xfrm>
          <a:prstGeom prst="rect">
            <a:avLst/>
          </a:prstGeom>
        </p:spPr>
      </p:pic>
      <p:sp>
        <p:nvSpPr>
          <p:cNvPr id="15" name="TextBox 14">
            <a:extLst>
              <a:ext uri="{FF2B5EF4-FFF2-40B4-BE49-F238E27FC236}">
                <a16:creationId xmlns:a16="http://schemas.microsoft.com/office/drawing/2014/main" id="{5B850617-3C1B-F909-13A3-FFF68BCF66A0}"/>
              </a:ext>
            </a:extLst>
          </p:cNvPr>
          <p:cNvSpPr txBox="1"/>
          <p:nvPr/>
        </p:nvSpPr>
        <p:spPr>
          <a:xfrm>
            <a:off x="3205316" y="5084924"/>
            <a:ext cx="6096000" cy="1200329"/>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 diagonal line corresponds to scores of similar sentences, (normally they should be positive). The off-diagonals correspond to cosine scores between the anchor and the negative examples. </a:t>
            </a:r>
            <a:endParaRPr lang="en-US" dirty="0"/>
          </a:p>
        </p:txBody>
      </p:sp>
    </p:spTree>
    <p:extLst>
      <p:ext uri="{BB962C8B-B14F-4D97-AF65-F5344CB8AC3E}">
        <p14:creationId xmlns:p14="http://schemas.microsoft.com/office/powerpoint/2010/main" val="3923396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E9CCAC2-A899-5005-7653-F62F02C4310C}"/>
              </a:ext>
            </a:extLst>
          </p:cNvPr>
          <p:cNvSpPr txBox="1"/>
          <p:nvPr/>
        </p:nvSpPr>
        <p:spPr>
          <a:xfrm>
            <a:off x="78658" y="0"/>
            <a:ext cx="6096000" cy="369332"/>
          </a:xfrm>
          <a:prstGeom prst="rect">
            <a:avLst/>
          </a:prstGeom>
          <a:noFill/>
        </p:spPr>
        <p:txBody>
          <a:bodyPr wrap="square">
            <a:spAutoFit/>
          </a:bodyPr>
          <a:lstStyle/>
          <a:p>
            <a:pPr algn="l"/>
            <a:r>
              <a:rPr lang="en-US" b="1" i="0" dirty="0">
                <a:solidFill>
                  <a:srgbClr val="1F1F1F"/>
                </a:solidFill>
                <a:effectLst/>
              </a:rPr>
              <a:t>Computing the Cost II</a:t>
            </a:r>
          </a:p>
        </p:txBody>
      </p:sp>
      <p:sp>
        <p:nvSpPr>
          <p:cNvPr id="7" name="TextBox 6">
            <a:extLst>
              <a:ext uri="{FF2B5EF4-FFF2-40B4-BE49-F238E27FC236}">
                <a16:creationId xmlns:a16="http://schemas.microsoft.com/office/drawing/2014/main" id="{2C80F64E-75C0-EDFC-BEED-49A7D8BD7FF6}"/>
              </a:ext>
            </a:extLst>
          </p:cNvPr>
          <p:cNvSpPr txBox="1"/>
          <p:nvPr/>
        </p:nvSpPr>
        <p:spPr>
          <a:xfrm>
            <a:off x="157316" y="369332"/>
            <a:ext cx="11572568"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Now that you have the matrix with cosine similarity scores, which is the product of two matrices, we go ahead and compute the cost. </a:t>
            </a:r>
            <a:endParaRPr lang="en-US" dirty="0"/>
          </a:p>
        </p:txBody>
      </p:sp>
      <p:pic>
        <p:nvPicPr>
          <p:cNvPr id="9" name="Picture 8">
            <a:extLst>
              <a:ext uri="{FF2B5EF4-FFF2-40B4-BE49-F238E27FC236}">
                <a16:creationId xmlns:a16="http://schemas.microsoft.com/office/drawing/2014/main" id="{5A25F901-FE40-2E0F-4250-1A0C008BDFB5}"/>
              </a:ext>
            </a:extLst>
          </p:cNvPr>
          <p:cNvPicPr>
            <a:picLocks noChangeAspect="1"/>
          </p:cNvPicPr>
          <p:nvPr/>
        </p:nvPicPr>
        <p:blipFill>
          <a:blip r:embed="rId2"/>
          <a:stretch>
            <a:fillRect/>
          </a:stretch>
        </p:blipFill>
        <p:spPr>
          <a:xfrm>
            <a:off x="157316" y="1015663"/>
            <a:ext cx="7506350" cy="2789162"/>
          </a:xfrm>
          <a:prstGeom prst="rect">
            <a:avLst/>
          </a:prstGeom>
        </p:spPr>
      </p:pic>
      <p:pic>
        <p:nvPicPr>
          <p:cNvPr id="11" name="Picture 10">
            <a:extLst>
              <a:ext uri="{FF2B5EF4-FFF2-40B4-BE49-F238E27FC236}">
                <a16:creationId xmlns:a16="http://schemas.microsoft.com/office/drawing/2014/main" id="{DDF1B8AD-4740-9FD8-4484-693E65556B35}"/>
              </a:ext>
            </a:extLst>
          </p:cNvPr>
          <p:cNvPicPr>
            <a:picLocks noChangeAspect="1"/>
          </p:cNvPicPr>
          <p:nvPr/>
        </p:nvPicPr>
        <p:blipFill>
          <a:blip r:embed="rId3"/>
          <a:stretch>
            <a:fillRect/>
          </a:stretch>
        </p:blipFill>
        <p:spPr>
          <a:xfrm>
            <a:off x="245356" y="3804825"/>
            <a:ext cx="8504797" cy="2789162"/>
          </a:xfrm>
          <a:prstGeom prst="rect">
            <a:avLst/>
          </a:prstGeom>
        </p:spPr>
      </p:pic>
    </p:spTree>
    <p:extLst>
      <p:ext uri="{BB962C8B-B14F-4D97-AF65-F5344CB8AC3E}">
        <p14:creationId xmlns:p14="http://schemas.microsoft.com/office/powerpoint/2010/main" val="1832879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9F45CEE-31F0-4733-5B1B-43A2E16640AB}"/>
              </a:ext>
            </a:extLst>
          </p:cNvPr>
          <p:cNvSpPr txBox="1"/>
          <p:nvPr/>
        </p:nvSpPr>
        <p:spPr>
          <a:xfrm>
            <a:off x="0" y="0"/>
            <a:ext cx="6096000" cy="369332"/>
          </a:xfrm>
          <a:prstGeom prst="rect">
            <a:avLst/>
          </a:prstGeom>
          <a:noFill/>
        </p:spPr>
        <p:txBody>
          <a:bodyPr wrap="square">
            <a:spAutoFit/>
          </a:bodyPr>
          <a:lstStyle/>
          <a:p>
            <a:pPr algn="l"/>
            <a:r>
              <a:rPr lang="en-US" b="1" i="0" dirty="0">
                <a:solidFill>
                  <a:srgbClr val="1F1F1F"/>
                </a:solidFill>
                <a:effectLst/>
              </a:rPr>
              <a:t>One Shot Learning</a:t>
            </a:r>
          </a:p>
        </p:txBody>
      </p:sp>
      <p:sp>
        <p:nvSpPr>
          <p:cNvPr id="7" name="TextBox 6">
            <a:extLst>
              <a:ext uri="{FF2B5EF4-FFF2-40B4-BE49-F238E27FC236}">
                <a16:creationId xmlns:a16="http://schemas.microsoft.com/office/drawing/2014/main" id="{6E6D4412-2005-4520-438B-43CAC10EB072}"/>
              </a:ext>
            </a:extLst>
          </p:cNvPr>
          <p:cNvSpPr txBox="1"/>
          <p:nvPr/>
        </p:nvSpPr>
        <p:spPr>
          <a:xfrm>
            <a:off x="81116" y="369332"/>
            <a:ext cx="11953568" cy="1200329"/>
          </a:xfrm>
          <a:prstGeom prst="rect">
            <a:avLst/>
          </a:prstGeom>
          <a:noFill/>
        </p:spPr>
        <p:txBody>
          <a:bodyPr wrap="square">
            <a:spAutoFit/>
          </a:bodyPr>
          <a:lstStyle/>
          <a:p>
            <a:r>
              <a:rPr lang="en-US" dirty="0">
                <a:effectLst/>
                <a:latin typeface="var(--cds-font-family-source-sans-pro)"/>
              </a:rPr>
              <a:t>Imagine you are working in a bank and you need to verify the signature of a check. You can either build a classifier with K possible signatures as an output or you can build a classifier that tells you whether two signatures are the same. </a:t>
            </a:r>
          </a:p>
          <a:p>
            <a:br>
              <a:rPr lang="en-US" dirty="0">
                <a:effectLst/>
              </a:rPr>
            </a:br>
            <a:endParaRPr lang="en-US" dirty="0"/>
          </a:p>
        </p:txBody>
      </p:sp>
      <p:pic>
        <p:nvPicPr>
          <p:cNvPr id="9" name="Picture 8">
            <a:extLst>
              <a:ext uri="{FF2B5EF4-FFF2-40B4-BE49-F238E27FC236}">
                <a16:creationId xmlns:a16="http://schemas.microsoft.com/office/drawing/2014/main" id="{5D476753-86E7-4D7D-6A3C-5AA2FCE1C536}"/>
              </a:ext>
            </a:extLst>
          </p:cNvPr>
          <p:cNvPicPr>
            <a:picLocks noChangeAspect="1"/>
          </p:cNvPicPr>
          <p:nvPr/>
        </p:nvPicPr>
        <p:blipFill>
          <a:blip r:embed="rId2"/>
          <a:stretch>
            <a:fillRect/>
          </a:stretch>
        </p:blipFill>
        <p:spPr>
          <a:xfrm>
            <a:off x="2507548" y="1027294"/>
            <a:ext cx="5938361" cy="2516255"/>
          </a:xfrm>
          <a:prstGeom prst="rect">
            <a:avLst/>
          </a:prstGeom>
        </p:spPr>
      </p:pic>
      <p:sp>
        <p:nvSpPr>
          <p:cNvPr id="11" name="TextBox 10">
            <a:extLst>
              <a:ext uri="{FF2B5EF4-FFF2-40B4-BE49-F238E27FC236}">
                <a16:creationId xmlns:a16="http://schemas.microsoft.com/office/drawing/2014/main" id="{D092E79A-A586-6115-54DA-55D28CBB6EF2}"/>
              </a:ext>
            </a:extLst>
          </p:cNvPr>
          <p:cNvSpPr txBox="1"/>
          <p:nvPr/>
        </p:nvSpPr>
        <p:spPr>
          <a:xfrm>
            <a:off x="168539" y="3662965"/>
            <a:ext cx="11778722"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Hence, we resort to one shot learning. Instead of retraining your model for every signature, you can just learn a similarity score as follows:</a:t>
            </a:r>
            <a:endParaRPr lang="en-US" dirty="0"/>
          </a:p>
        </p:txBody>
      </p:sp>
      <p:pic>
        <p:nvPicPr>
          <p:cNvPr id="13" name="Picture 12">
            <a:extLst>
              <a:ext uri="{FF2B5EF4-FFF2-40B4-BE49-F238E27FC236}">
                <a16:creationId xmlns:a16="http://schemas.microsoft.com/office/drawing/2014/main" id="{8F42E6D5-4540-C425-43C3-D9678A92F3CF}"/>
              </a:ext>
            </a:extLst>
          </p:cNvPr>
          <p:cNvPicPr>
            <a:picLocks noChangeAspect="1"/>
          </p:cNvPicPr>
          <p:nvPr/>
        </p:nvPicPr>
        <p:blipFill>
          <a:blip r:embed="rId3"/>
          <a:stretch>
            <a:fillRect/>
          </a:stretch>
        </p:blipFill>
        <p:spPr>
          <a:xfrm>
            <a:off x="2507548" y="4344217"/>
            <a:ext cx="6607113" cy="2004234"/>
          </a:xfrm>
          <a:prstGeom prst="rect">
            <a:avLst/>
          </a:prstGeom>
        </p:spPr>
      </p:pic>
    </p:spTree>
    <p:extLst>
      <p:ext uri="{BB962C8B-B14F-4D97-AF65-F5344CB8AC3E}">
        <p14:creationId xmlns:p14="http://schemas.microsoft.com/office/powerpoint/2010/main" val="2941348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E4ABB29-AD5F-6DA1-7322-3DD1D22EE463}"/>
              </a:ext>
            </a:extLst>
          </p:cNvPr>
          <p:cNvSpPr txBox="1"/>
          <p:nvPr/>
        </p:nvSpPr>
        <p:spPr>
          <a:xfrm>
            <a:off x="108155" y="110302"/>
            <a:ext cx="6096000" cy="369332"/>
          </a:xfrm>
          <a:prstGeom prst="rect">
            <a:avLst/>
          </a:prstGeom>
          <a:noFill/>
        </p:spPr>
        <p:txBody>
          <a:bodyPr wrap="square">
            <a:spAutoFit/>
          </a:bodyPr>
          <a:lstStyle/>
          <a:p>
            <a:pPr algn="l"/>
            <a:r>
              <a:rPr lang="en-US" b="1" i="0" dirty="0">
                <a:solidFill>
                  <a:srgbClr val="1F1F1F"/>
                </a:solidFill>
                <a:effectLst/>
              </a:rPr>
              <a:t>Training / Testing</a:t>
            </a:r>
          </a:p>
        </p:txBody>
      </p:sp>
      <p:sp>
        <p:nvSpPr>
          <p:cNvPr id="7" name="TextBox 6">
            <a:extLst>
              <a:ext uri="{FF2B5EF4-FFF2-40B4-BE49-F238E27FC236}">
                <a16:creationId xmlns:a16="http://schemas.microsoft.com/office/drawing/2014/main" id="{23D91E05-3B83-499D-3F06-6423AFAF46BA}"/>
              </a:ext>
            </a:extLst>
          </p:cNvPr>
          <p:cNvSpPr txBox="1"/>
          <p:nvPr/>
        </p:nvSpPr>
        <p:spPr>
          <a:xfrm>
            <a:off x="108154" y="479634"/>
            <a:ext cx="11838039" cy="646331"/>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After preparing the batches of vectors, you can proceed to multiplying the two matrices. Here is a quick recap of the first step:</a:t>
            </a:r>
            <a:endParaRPr lang="en-US" dirty="0"/>
          </a:p>
        </p:txBody>
      </p:sp>
      <p:pic>
        <p:nvPicPr>
          <p:cNvPr id="9" name="Picture 8">
            <a:extLst>
              <a:ext uri="{FF2B5EF4-FFF2-40B4-BE49-F238E27FC236}">
                <a16:creationId xmlns:a16="http://schemas.microsoft.com/office/drawing/2014/main" id="{E75A904B-3837-47F6-CE4B-0F1D244AC61F}"/>
              </a:ext>
            </a:extLst>
          </p:cNvPr>
          <p:cNvPicPr>
            <a:picLocks noChangeAspect="1"/>
          </p:cNvPicPr>
          <p:nvPr/>
        </p:nvPicPr>
        <p:blipFill>
          <a:blip r:embed="rId2"/>
          <a:stretch>
            <a:fillRect/>
          </a:stretch>
        </p:blipFill>
        <p:spPr>
          <a:xfrm>
            <a:off x="1838689" y="855763"/>
            <a:ext cx="6078926" cy="2862937"/>
          </a:xfrm>
          <a:prstGeom prst="rect">
            <a:avLst/>
          </a:prstGeom>
        </p:spPr>
      </p:pic>
      <p:sp>
        <p:nvSpPr>
          <p:cNvPr id="11" name="TextBox 10">
            <a:extLst>
              <a:ext uri="{FF2B5EF4-FFF2-40B4-BE49-F238E27FC236}">
                <a16:creationId xmlns:a16="http://schemas.microsoft.com/office/drawing/2014/main" id="{FDAD5E2C-7053-3839-B00A-57E4611FA5C1}"/>
              </a:ext>
            </a:extLst>
          </p:cNvPr>
          <p:cNvSpPr txBox="1"/>
          <p:nvPr/>
        </p:nvSpPr>
        <p:spPr>
          <a:xfrm>
            <a:off x="108155" y="3672533"/>
            <a:ext cx="6096000" cy="369332"/>
          </a:xfrm>
          <a:prstGeom prst="rect">
            <a:avLst/>
          </a:prstGeom>
          <a:noFill/>
        </p:spPr>
        <p:txBody>
          <a:bodyPr wrap="square">
            <a:spAutoFit/>
          </a:bodyPr>
          <a:lstStyle/>
          <a:p>
            <a:r>
              <a:rPr lang="en-US" b="0" i="0" dirty="0">
                <a:solidFill>
                  <a:srgbClr val="1F1F1F"/>
                </a:solidFill>
                <a:effectLst/>
                <a:latin typeface="Source Sans Pro" panose="020B0503030403020204" pitchFamily="34" charset="0"/>
              </a:rPr>
              <a:t>The next step is to implement the </a:t>
            </a:r>
            <a:r>
              <a:rPr lang="en-US" b="0" i="0" dirty="0" err="1">
                <a:solidFill>
                  <a:srgbClr val="1F1F1F"/>
                </a:solidFill>
                <a:effectLst/>
                <a:latin typeface="Source Sans Pro" panose="020B0503030403020204" pitchFamily="34" charset="0"/>
              </a:rPr>
              <a:t>siamese</a:t>
            </a:r>
            <a:r>
              <a:rPr lang="en-US" b="0" i="0" dirty="0">
                <a:solidFill>
                  <a:srgbClr val="1F1F1F"/>
                </a:solidFill>
                <a:effectLst/>
                <a:latin typeface="Source Sans Pro" panose="020B0503030403020204" pitchFamily="34" charset="0"/>
              </a:rPr>
              <a:t> model as follows:</a:t>
            </a:r>
            <a:endParaRPr lang="en-US" dirty="0"/>
          </a:p>
        </p:txBody>
      </p:sp>
      <p:pic>
        <p:nvPicPr>
          <p:cNvPr id="13" name="Picture 12">
            <a:extLst>
              <a:ext uri="{FF2B5EF4-FFF2-40B4-BE49-F238E27FC236}">
                <a16:creationId xmlns:a16="http://schemas.microsoft.com/office/drawing/2014/main" id="{797C7D13-8C25-D85D-9126-BE13B3F516C0}"/>
              </a:ext>
            </a:extLst>
          </p:cNvPr>
          <p:cNvPicPr>
            <a:picLocks noChangeAspect="1"/>
          </p:cNvPicPr>
          <p:nvPr/>
        </p:nvPicPr>
        <p:blipFill>
          <a:blip r:embed="rId3"/>
          <a:stretch>
            <a:fillRect/>
          </a:stretch>
        </p:blipFill>
        <p:spPr>
          <a:xfrm>
            <a:off x="381649" y="4041865"/>
            <a:ext cx="7712108" cy="2682472"/>
          </a:xfrm>
          <a:prstGeom prst="rect">
            <a:avLst/>
          </a:prstGeom>
        </p:spPr>
      </p:pic>
      <p:pic>
        <p:nvPicPr>
          <p:cNvPr id="15" name="Picture 14">
            <a:extLst>
              <a:ext uri="{FF2B5EF4-FFF2-40B4-BE49-F238E27FC236}">
                <a16:creationId xmlns:a16="http://schemas.microsoft.com/office/drawing/2014/main" id="{CCB33B72-CB0B-BF31-9DCE-CA62F42D6375}"/>
              </a:ext>
            </a:extLst>
          </p:cNvPr>
          <p:cNvPicPr>
            <a:picLocks noChangeAspect="1"/>
          </p:cNvPicPr>
          <p:nvPr/>
        </p:nvPicPr>
        <p:blipFill>
          <a:blip r:embed="rId4"/>
          <a:stretch>
            <a:fillRect/>
          </a:stretch>
        </p:blipFill>
        <p:spPr>
          <a:xfrm>
            <a:off x="8188647" y="4533397"/>
            <a:ext cx="3444538" cy="1699407"/>
          </a:xfrm>
          <a:prstGeom prst="rect">
            <a:avLst/>
          </a:prstGeom>
        </p:spPr>
      </p:pic>
    </p:spTree>
    <p:extLst>
      <p:ext uri="{BB962C8B-B14F-4D97-AF65-F5344CB8AC3E}">
        <p14:creationId xmlns:p14="http://schemas.microsoft.com/office/powerpoint/2010/main" val="2638487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999</TotalTime>
  <Words>564</Words>
  <Application>Microsoft Office PowerPoint</Application>
  <PresentationFormat>Widescreen</PresentationFormat>
  <Paragraphs>30</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Aptos</vt:lpstr>
      <vt:lpstr>Aptos Display</vt:lpstr>
      <vt:lpstr>Arial</vt:lpstr>
      <vt:lpstr>Source Sans Pro</vt:lpstr>
      <vt:lpstr>unset</vt:lpstr>
      <vt:lpstr>var(--cds-font-family-source-sans-pro)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mrinmoy bhuyan</dc:creator>
  <cp:lastModifiedBy>mrinmoy bhuyan</cp:lastModifiedBy>
  <cp:revision>38</cp:revision>
  <dcterms:created xsi:type="dcterms:W3CDTF">2023-12-30T09:45:15Z</dcterms:created>
  <dcterms:modified xsi:type="dcterms:W3CDTF">2023-12-31T02:24:53Z</dcterms:modified>
</cp:coreProperties>
</file>