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98435-711F-99B3-58A4-2171D094CB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40D08B-8B2B-5910-ABC3-3BD8B9EF8E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1ECF5CD-7AC2-57D8-71E7-5307BE24B920}"/>
              </a:ext>
            </a:extLst>
          </p:cNvPr>
          <p:cNvSpPr>
            <a:spLocks noGrp="1"/>
          </p:cNvSpPr>
          <p:nvPr>
            <p:ph type="dt" sz="half" idx="10"/>
          </p:nvPr>
        </p:nvSpPr>
        <p:spPr/>
        <p:txBody>
          <a:bodyPr/>
          <a:lstStyle/>
          <a:p>
            <a:fld id="{93F7D168-B4A4-4B78-88D2-4FF1A55E6F5F}" type="datetimeFigureOut">
              <a:rPr lang="en-US" smtClean="0"/>
              <a:t>12/27/2023</a:t>
            </a:fld>
            <a:endParaRPr lang="en-US"/>
          </a:p>
        </p:txBody>
      </p:sp>
      <p:sp>
        <p:nvSpPr>
          <p:cNvPr id="5" name="Footer Placeholder 4">
            <a:extLst>
              <a:ext uri="{FF2B5EF4-FFF2-40B4-BE49-F238E27FC236}">
                <a16:creationId xmlns:a16="http://schemas.microsoft.com/office/drawing/2014/main" id="{21C71AAD-1C0E-E64F-363B-0F56A7FFC3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77083E-5590-1F42-A4F9-D6D1C4BDBADA}"/>
              </a:ext>
            </a:extLst>
          </p:cNvPr>
          <p:cNvSpPr>
            <a:spLocks noGrp="1"/>
          </p:cNvSpPr>
          <p:nvPr>
            <p:ph type="sldNum" sz="quarter" idx="12"/>
          </p:nvPr>
        </p:nvSpPr>
        <p:spPr/>
        <p:txBody>
          <a:bodyPr/>
          <a:lstStyle/>
          <a:p>
            <a:fld id="{EB704653-8348-4FF4-A130-904EFA67346D}" type="slidenum">
              <a:rPr lang="en-US" smtClean="0"/>
              <a:t>‹#›</a:t>
            </a:fld>
            <a:endParaRPr lang="en-US"/>
          </a:p>
        </p:txBody>
      </p:sp>
    </p:spTree>
    <p:extLst>
      <p:ext uri="{BB962C8B-B14F-4D97-AF65-F5344CB8AC3E}">
        <p14:creationId xmlns:p14="http://schemas.microsoft.com/office/powerpoint/2010/main" val="2038403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E282D-8AF8-BBF9-AA99-0AB92D60BB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6DA121-2A8D-24E4-517E-033D6B446B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CB5532-A588-9F02-29B9-9406684373E5}"/>
              </a:ext>
            </a:extLst>
          </p:cNvPr>
          <p:cNvSpPr>
            <a:spLocks noGrp="1"/>
          </p:cNvSpPr>
          <p:nvPr>
            <p:ph type="dt" sz="half" idx="10"/>
          </p:nvPr>
        </p:nvSpPr>
        <p:spPr/>
        <p:txBody>
          <a:bodyPr/>
          <a:lstStyle/>
          <a:p>
            <a:fld id="{93F7D168-B4A4-4B78-88D2-4FF1A55E6F5F}" type="datetimeFigureOut">
              <a:rPr lang="en-US" smtClean="0"/>
              <a:t>12/27/2023</a:t>
            </a:fld>
            <a:endParaRPr lang="en-US"/>
          </a:p>
        </p:txBody>
      </p:sp>
      <p:sp>
        <p:nvSpPr>
          <p:cNvPr id="5" name="Footer Placeholder 4">
            <a:extLst>
              <a:ext uri="{FF2B5EF4-FFF2-40B4-BE49-F238E27FC236}">
                <a16:creationId xmlns:a16="http://schemas.microsoft.com/office/drawing/2014/main" id="{7B14FEC5-3C7A-C90D-2C5F-2C42B56563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56C790-4D3D-BF3A-B906-8919AFFD64B1}"/>
              </a:ext>
            </a:extLst>
          </p:cNvPr>
          <p:cNvSpPr>
            <a:spLocks noGrp="1"/>
          </p:cNvSpPr>
          <p:nvPr>
            <p:ph type="sldNum" sz="quarter" idx="12"/>
          </p:nvPr>
        </p:nvSpPr>
        <p:spPr/>
        <p:txBody>
          <a:bodyPr/>
          <a:lstStyle/>
          <a:p>
            <a:fld id="{EB704653-8348-4FF4-A130-904EFA67346D}" type="slidenum">
              <a:rPr lang="en-US" smtClean="0"/>
              <a:t>‹#›</a:t>
            </a:fld>
            <a:endParaRPr lang="en-US"/>
          </a:p>
        </p:txBody>
      </p:sp>
    </p:spTree>
    <p:extLst>
      <p:ext uri="{BB962C8B-B14F-4D97-AF65-F5344CB8AC3E}">
        <p14:creationId xmlns:p14="http://schemas.microsoft.com/office/powerpoint/2010/main" val="30169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9EF18-ED42-C4A9-7CC8-F05A959CA6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F8E0A94-3038-FB08-2132-E7B553CEFDD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A40294-8C1B-D6AA-E2DC-09D6CCB1E19C}"/>
              </a:ext>
            </a:extLst>
          </p:cNvPr>
          <p:cNvSpPr>
            <a:spLocks noGrp="1"/>
          </p:cNvSpPr>
          <p:nvPr>
            <p:ph type="dt" sz="half" idx="10"/>
          </p:nvPr>
        </p:nvSpPr>
        <p:spPr/>
        <p:txBody>
          <a:bodyPr/>
          <a:lstStyle/>
          <a:p>
            <a:fld id="{93F7D168-B4A4-4B78-88D2-4FF1A55E6F5F}" type="datetimeFigureOut">
              <a:rPr lang="en-US" smtClean="0"/>
              <a:t>12/27/2023</a:t>
            </a:fld>
            <a:endParaRPr lang="en-US"/>
          </a:p>
        </p:txBody>
      </p:sp>
      <p:sp>
        <p:nvSpPr>
          <p:cNvPr id="5" name="Footer Placeholder 4">
            <a:extLst>
              <a:ext uri="{FF2B5EF4-FFF2-40B4-BE49-F238E27FC236}">
                <a16:creationId xmlns:a16="http://schemas.microsoft.com/office/drawing/2014/main" id="{DFE58495-F291-E31E-79FA-F501FC97AB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5A447C-40CE-B2F6-3AFE-4BA0B9E089AB}"/>
              </a:ext>
            </a:extLst>
          </p:cNvPr>
          <p:cNvSpPr>
            <a:spLocks noGrp="1"/>
          </p:cNvSpPr>
          <p:nvPr>
            <p:ph type="sldNum" sz="quarter" idx="12"/>
          </p:nvPr>
        </p:nvSpPr>
        <p:spPr/>
        <p:txBody>
          <a:bodyPr/>
          <a:lstStyle/>
          <a:p>
            <a:fld id="{EB704653-8348-4FF4-A130-904EFA67346D}" type="slidenum">
              <a:rPr lang="en-US" smtClean="0"/>
              <a:t>‹#›</a:t>
            </a:fld>
            <a:endParaRPr lang="en-US"/>
          </a:p>
        </p:txBody>
      </p:sp>
    </p:spTree>
    <p:extLst>
      <p:ext uri="{BB962C8B-B14F-4D97-AF65-F5344CB8AC3E}">
        <p14:creationId xmlns:p14="http://schemas.microsoft.com/office/powerpoint/2010/main" val="1163927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150DC-AAB4-7EB8-5EE9-9C21B3A386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AE49B7-2F63-88FF-103F-3957B7B043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3F3DEBB-4415-E847-9DEA-C58D44FAF6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2F40D92-202C-EF1E-1DCC-F7348810C1C3}"/>
              </a:ext>
            </a:extLst>
          </p:cNvPr>
          <p:cNvSpPr>
            <a:spLocks noGrp="1"/>
          </p:cNvSpPr>
          <p:nvPr>
            <p:ph type="dt" sz="half" idx="10"/>
          </p:nvPr>
        </p:nvSpPr>
        <p:spPr/>
        <p:txBody>
          <a:bodyPr/>
          <a:lstStyle/>
          <a:p>
            <a:fld id="{93F7D168-B4A4-4B78-88D2-4FF1A55E6F5F}" type="datetimeFigureOut">
              <a:rPr lang="en-US" smtClean="0"/>
              <a:t>12/27/2023</a:t>
            </a:fld>
            <a:endParaRPr lang="en-US"/>
          </a:p>
        </p:txBody>
      </p:sp>
      <p:sp>
        <p:nvSpPr>
          <p:cNvPr id="6" name="Footer Placeholder 5">
            <a:extLst>
              <a:ext uri="{FF2B5EF4-FFF2-40B4-BE49-F238E27FC236}">
                <a16:creationId xmlns:a16="http://schemas.microsoft.com/office/drawing/2014/main" id="{8B06672D-FFDC-B43C-975E-CF43FB64E4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0F8FA7-732C-CB86-EEFC-13FD7156E322}"/>
              </a:ext>
            </a:extLst>
          </p:cNvPr>
          <p:cNvSpPr>
            <a:spLocks noGrp="1"/>
          </p:cNvSpPr>
          <p:nvPr>
            <p:ph type="sldNum" sz="quarter" idx="12"/>
          </p:nvPr>
        </p:nvSpPr>
        <p:spPr/>
        <p:txBody>
          <a:bodyPr/>
          <a:lstStyle/>
          <a:p>
            <a:fld id="{EB704653-8348-4FF4-A130-904EFA67346D}" type="slidenum">
              <a:rPr lang="en-US" smtClean="0"/>
              <a:t>‹#›</a:t>
            </a:fld>
            <a:endParaRPr lang="en-US"/>
          </a:p>
        </p:txBody>
      </p:sp>
    </p:spTree>
    <p:extLst>
      <p:ext uri="{BB962C8B-B14F-4D97-AF65-F5344CB8AC3E}">
        <p14:creationId xmlns:p14="http://schemas.microsoft.com/office/powerpoint/2010/main" val="190567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57C8C-B169-F789-1138-06A75CB84D0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57E3C14-BAFA-DC59-E074-39192D88B1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9645BB-F5A0-1CF3-0C78-D98750A6950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52BBB2-B46F-B7F6-2068-1F6D1D37BB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AD0DE0-E185-D7E1-3A88-7D0AD7007F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73EC3D-15F9-364B-B59C-CB5D304584C7}"/>
              </a:ext>
            </a:extLst>
          </p:cNvPr>
          <p:cNvSpPr>
            <a:spLocks noGrp="1"/>
          </p:cNvSpPr>
          <p:nvPr>
            <p:ph type="dt" sz="half" idx="10"/>
          </p:nvPr>
        </p:nvSpPr>
        <p:spPr/>
        <p:txBody>
          <a:bodyPr/>
          <a:lstStyle/>
          <a:p>
            <a:fld id="{93F7D168-B4A4-4B78-88D2-4FF1A55E6F5F}" type="datetimeFigureOut">
              <a:rPr lang="en-US" smtClean="0"/>
              <a:t>12/27/2023</a:t>
            </a:fld>
            <a:endParaRPr lang="en-US"/>
          </a:p>
        </p:txBody>
      </p:sp>
      <p:sp>
        <p:nvSpPr>
          <p:cNvPr id="8" name="Footer Placeholder 7">
            <a:extLst>
              <a:ext uri="{FF2B5EF4-FFF2-40B4-BE49-F238E27FC236}">
                <a16:creationId xmlns:a16="http://schemas.microsoft.com/office/drawing/2014/main" id="{C729429B-BF87-2E59-2DC8-163EA55B69F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DBD208E-CED2-DFBB-6790-F4A7C64105F3}"/>
              </a:ext>
            </a:extLst>
          </p:cNvPr>
          <p:cNvSpPr>
            <a:spLocks noGrp="1"/>
          </p:cNvSpPr>
          <p:nvPr>
            <p:ph type="sldNum" sz="quarter" idx="12"/>
          </p:nvPr>
        </p:nvSpPr>
        <p:spPr/>
        <p:txBody>
          <a:bodyPr/>
          <a:lstStyle/>
          <a:p>
            <a:fld id="{EB704653-8348-4FF4-A130-904EFA67346D}" type="slidenum">
              <a:rPr lang="en-US" smtClean="0"/>
              <a:t>‹#›</a:t>
            </a:fld>
            <a:endParaRPr lang="en-US"/>
          </a:p>
        </p:txBody>
      </p:sp>
    </p:spTree>
    <p:extLst>
      <p:ext uri="{BB962C8B-B14F-4D97-AF65-F5344CB8AC3E}">
        <p14:creationId xmlns:p14="http://schemas.microsoft.com/office/powerpoint/2010/main" val="2598892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DBB7C-4DC7-AE42-350A-95C35709DD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8EC387-6C1E-E5AA-AB33-5F87B13D4D30}"/>
              </a:ext>
            </a:extLst>
          </p:cNvPr>
          <p:cNvSpPr>
            <a:spLocks noGrp="1"/>
          </p:cNvSpPr>
          <p:nvPr>
            <p:ph type="dt" sz="half" idx="10"/>
          </p:nvPr>
        </p:nvSpPr>
        <p:spPr/>
        <p:txBody>
          <a:bodyPr/>
          <a:lstStyle/>
          <a:p>
            <a:fld id="{93F7D168-B4A4-4B78-88D2-4FF1A55E6F5F}" type="datetimeFigureOut">
              <a:rPr lang="en-US" smtClean="0"/>
              <a:t>12/27/2023</a:t>
            </a:fld>
            <a:endParaRPr lang="en-US"/>
          </a:p>
        </p:txBody>
      </p:sp>
      <p:sp>
        <p:nvSpPr>
          <p:cNvPr id="4" name="Footer Placeholder 3">
            <a:extLst>
              <a:ext uri="{FF2B5EF4-FFF2-40B4-BE49-F238E27FC236}">
                <a16:creationId xmlns:a16="http://schemas.microsoft.com/office/drawing/2014/main" id="{B0A3AF36-58E6-F2D9-C183-6643161956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E257787-3DFA-DD0C-71C6-B51EAF28A7A2}"/>
              </a:ext>
            </a:extLst>
          </p:cNvPr>
          <p:cNvSpPr>
            <a:spLocks noGrp="1"/>
          </p:cNvSpPr>
          <p:nvPr>
            <p:ph type="sldNum" sz="quarter" idx="12"/>
          </p:nvPr>
        </p:nvSpPr>
        <p:spPr/>
        <p:txBody>
          <a:bodyPr/>
          <a:lstStyle/>
          <a:p>
            <a:fld id="{EB704653-8348-4FF4-A130-904EFA67346D}" type="slidenum">
              <a:rPr lang="en-US" smtClean="0"/>
              <a:t>‹#›</a:t>
            </a:fld>
            <a:endParaRPr lang="en-US"/>
          </a:p>
        </p:txBody>
      </p:sp>
    </p:spTree>
    <p:extLst>
      <p:ext uri="{BB962C8B-B14F-4D97-AF65-F5344CB8AC3E}">
        <p14:creationId xmlns:p14="http://schemas.microsoft.com/office/powerpoint/2010/main" val="202282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A358ED-6C30-1A37-F86E-96C9C3C0B184}"/>
              </a:ext>
            </a:extLst>
          </p:cNvPr>
          <p:cNvSpPr>
            <a:spLocks noGrp="1"/>
          </p:cNvSpPr>
          <p:nvPr>
            <p:ph type="dt" sz="half" idx="10"/>
          </p:nvPr>
        </p:nvSpPr>
        <p:spPr/>
        <p:txBody>
          <a:bodyPr/>
          <a:lstStyle/>
          <a:p>
            <a:fld id="{93F7D168-B4A4-4B78-88D2-4FF1A55E6F5F}" type="datetimeFigureOut">
              <a:rPr lang="en-US" smtClean="0"/>
              <a:t>12/27/2023</a:t>
            </a:fld>
            <a:endParaRPr lang="en-US"/>
          </a:p>
        </p:txBody>
      </p:sp>
      <p:sp>
        <p:nvSpPr>
          <p:cNvPr id="3" name="Footer Placeholder 2">
            <a:extLst>
              <a:ext uri="{FF2B5EF4-FFF2-40B4-BE49-F238E27FC236}">
                <a16:creationId xmlns:a16="http://schemas.microsoft.com/office/drawing/2014/main" id="{CD50D634-1884-755B-4D84-0714E31956E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23A28FC-46F9-1709-5242-0CA6E5F4BB53}"/>
              </a:ext>
            </a:extLst>
          </p:cNvPr>
          <p:cNvSpPr>
            <a:spLocks noGrp="1"/>
          </p:cNvSpPr>
          <p:nvPr>
            <p:ph type="sldNum" sz="quarter" idx="12"/>
          </p:nvPr>
        </p:nvSpPr>
        <p:spPr/>
        <p:txBody>
          <a:bodyPr/>
          <a:lstStyle/>
          <a:p>
            <a:fld id="{EB704653-8348-4FF4-A130-904EFA67346D}" type="slidenum">
              <a:rPr lang="en-US" smtClean="0"/>
              <a:t>‹#›</a:t>
            </a:fld>
            <a:endParaRPr lang="en-US"/>
          </a:p>
        </p:txBody>
      </p:sp>
    </p:spTree>
    <p:extLst>
      <p:ext uri="{BB962C8B-B14F-4D97-AF65-F5344CB8AC3E}">
        <p14:creationId xmlns:p14="http://schemas.microsoft.com/office/powerpoint/2010/main" val="1656466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4A724-61B5-FEA0-3DDD-F81A803520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359FA92-78BD-F912-3773-7662BCBC88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DD86487-1482-3983-AF31-F2EB608A0F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47380A-937A-E6B9-4FBF-E37B30530F4A}"/>
              </a:ext>
            </a:extLst>
          </p:cNvPr>
          <p:cNvSpPr>
            <a:spLocks noGrp="1"/>
          </p:cNvSpPr>
          <p:nvPr>
            <p:ph type="dt" sz="half" idx="10"/>
          </p:nvPr>
        </p:nvSpPr>
        <p:spPr/>
        <p:txBody>
          <a:bodyPr/>
          <a:lstStyle/>
          <a:p>
            <a:fld id="{93F7D168-B4A4-4B78-88D2-4FF1A55E6F5F}" type="datetimeFigureOut">
              <a:rPr lang="en-US" smtClean="0"/>
              <a:t>12/27/2023</a:t>
            </a:fld>
            <a:endParaRPr lang="en-US"/>
          </a:p>
        </p:txBody>
      </p:sp>
      <p:sp>
        <p:nvSpPr>
          <p:cNvPr id="6" name="Footer Placeholder 5">
            <a:extLst>
              <a:ext uri="{FF2B5EF4-FFF2-40B4-BE49-F238E27FC236}">
                <a16:creationId xmlns:a16="http://schemas.microsoft.com/office/drawing/2014/main" id="{CC23D5D5-CAE3-A329-2EDD-A153FB2032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A1E914-BCAA-5C02-6DDB-30DC93DC518D}"/>
              </a:ext>
            </a:extLst>
          </p:cNvPr>
          <p:cNvSpPr>
            <a:spLocks noGrp="1"/>
          </p:cNvSpPr>
          <p:nvPr>
            <p:ph type="sldNum" sz="quarter" idx="12"/>
          </p:nvPr>
        </p:nvSpPr>
        <p:spPr/>
        <p:txBody>
          <a:bodyPr/>
          <a:lstStyle/>
          <a:p>
            <a:fld id="{EB704653-8348-4FF4-A130-904EFA67346D}" type="slidenum">
              <a:rPr lang="en-US" smtClean="0"/>
              <a:t>‹#›</a:t>
            </a:fld>
            <a:endParaRPr lang="en-US"/>
          </a:p>
        </p:txBody>
      </p:sp>
    </p:spTree>
    <p:extLst>
      <p:ext uri="{BB962C8B-B14F-4D97-AF65-F5344CB8AC3E}">
        <p14:creationId xmlns:p14="http://schemas.microsoft.com/office/powerpoint/2010/main" val="34258907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D44DE-7E43-8762-6209-B8E5D4270D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C929E5C-5E6F-C832-8DFB-3212A728D1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94FB08B-5104-5A07-8CA6-F3D7A80F52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3496B5-22C3-8D7F-801E-8B795B4A19F2}"/>
              </a:ext>
            </a:extLst>
          </p:cNvPr>
          <p:cNvSpPr>
            <a:spLocks noGrp="1"/>
          </p:cNvSpPr>
          <p:nvPr>
            <p:ph type="dt" sz="half" idx="10"/>
          </p:nvPr>
        </p:nvSpPr>
        <p:spPr/>
        <p:txBody>
          <a:bodyPr/>
          <a:lstStyle/>
          <a:p>
            <a:fld id="{93F7D168-B4A4-4B78-88D2-4FF1A55E6F5F}" type="datetimeFigureOut">
              <a:rPr lang="en-US" smtClean="0"/>
              <a:t>12/27/2023</a:t>
            </a:fld>
            <a:endParaRPr lang="en-US"/>
          </a:p>
        </p:txBody>
      </p:sp>
      <p:sp>
        <p:nvSpPr>
          <p:cNvPr id="6" name="Footer Placeholder 5">
            <a:extLst>
              <a:ext uri="{FF2B5EF4-FFF2-40B4-BE49-F238E27FC236}">
                <a16:creationId xmlns:a16="http://schemas.microsoft.com/office/drawing/2014/main" id="{0863EE19-9E4D-1B57-7166-E715F5E094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819F5D-6C28-3FAA-99B4-DF257F14217C}"/>
              </a:ext>
            </a:extLst>
          </p:cNvPr>
          <p:cNvSpPr>
            <a:spLocks noGrp="1"/>
          </p:cNvSpPr>
          <p:nvPr>
            <p:ph type="sldNum" sz="quarter" idx="12"/>
          </p:nvPr>
        </p:nvSpPr>
        <p:spPr/>
        <p:txBody>
          <a:bodyPr/>
          <a:lstStyle/>
          <a:p>
            <a:fld id="{EB704653-8348-4FF4-A130-904EFA67346D}" type="slidenum">
              <a:rPr lang="en-US" smtClean="0"/>
              <a:t>‹#›</a:t>
            </a:fld>
            <a:endParaRPr lang="en-US"/>
          </a:p>
        </p:txBody>
      </p:sp>
    </p:spTree>
    <p:extLst>
      <p:ext uri="{BB962C8B-B14F-4D97-AF65-F5344CB8AC3E}">
        <p14:creationId xmlns:p14="http://schemas.microsoft.com/office/powerpoint/2010/main" val="4280934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C8B39-AD22-820D-C0CE-CCFB266B2B7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D013EA-00E3-F34F-EE03-D9EA5592A9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8361D5-F370-1C56-2E3C-7E4FDE68E3B5}"/>
              </a:ext>
            </a:extLst>
          </p:cNvPr>
          <p:cNvSpPr>
            <a:spLocks noGrp="1"/>
          </p:cNvSpPr>
          <p:nvPr>
            <p:ph type="dt" sz="half" idx="10"/>
          </p:nvPr>
        </p:nvSpPr>
        <p:spPr/>
        <p:txBody>
          <a:bodyPr/>
          <a:lstStyle/>
          <a:p>
            <a:fld id="{93F7D168-B4A4-4B78-88D2-4FF1A55E6F5F}" type="datetimeFigureOut">
              <a:rPr lang="en-US" smtClean="0"/>
              <a:t>12/27/2023</a:t>
            </a:fld>
            <a:endParaRPr lang="en-US"/>
          </a:p>
        </p:txBody>
      </p:sp>
      <p:sp>
        <p:nvSpPr>
          <p:cNvPr id="5" name="Footer Placeholder 4">
            <a:extLst>
              <a:ext uri="{FF2B5EF4-FFF2-40B4-BE49-F238E27FC236}">
                <a16:creationId xmlns:a16="http://schemas.microsoft.com/office/drawing/2014/main" id="{F89B0F4D-5905-8E30-3E59-9D8BB045C7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4B073A-2510-DDBD-3235-7AA7E83237F9}"/>
              </a:ext>
            </a:extLst>
          </p:cNvPr>
          <p:cNvSpPr>
            <a:spLocks noGrp="1"/>
          </p:cNvSpPr>
          <p:nvPr>
            <p:ph type="sldNum" sz="quarter" idx="12"/>
          </p:nvPr>
        </p:nvSpPr>
        <p:spPr/>
        <p:txBody>
          <a:bodyPr/>
          <a:lstStyle/>
          <a:p>
            <a:fld id="{EB704653-8348-4FF4-A130-904EFA67346D}" type="slidenum">
              <a:rPr lang="en-US" smtClean="0"/>
              <a:t>‹#›</a:t>
            </a:fld>
            <a:endParaRPr lang="en-US"/>
          </a:p>
        </p:txBody>
      </p:sp>
    </p:spTree>
    <p:extLst>
      <p:ext uri="{BB962C8B-B14F-4D97-AF65-F5344CB8AC3E}">
        <p14:creationId xmlns:p14="http://schemas.microsoft.com/office/powerpoint/2010/main" val="22719653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48633F-ACB7-ED1C-236C-567DDD99C69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452600C-4C89-46D0-F6B6-347A05C1DD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5564EE-BE57-559D-8E6D-3C1B288E6A00}"/>
              </a:ext>
            </a:extLst>
          </p:cNvPr>
          <p:cNvSpPr>
            <a:spLocks noGrp="1"/>
          </p:cNvSpPr>
          <p:nvPr>
            <p:ph type="dt" sz="half" idx="10"/>
          </p:nvPr>
        </p:nvSpPr>
        <p:spPr/>
        <p:txBody>
          <a:bodyPr/>
          <a:lstStyle/>
          <a:p>
            <a:fld id="{93F7D168-B4A4-4B78-88D2-4FF1A55E6F5F}" type="datetimeFigureOut">
              <a:rPr lang="en-US" smtClean="0"/>
              <a:t>12/27/2023</a:t>
            </a:fld>
            <a:endParaRPr lang="en-US"/>
          </a:p>
        </p:txBody>
      </p:sp>
      <p:sp>
        <p:nvSpPr>
          <p:cNvPr id="5" name="Footer Placeholder 4">
            <a:extLst>
              <a:ext uri="{FF2B5EF4-FFF2-40B4-BE49-F238E27FC236}">
                <a16:creationId xmlns:a16="http://schemas.microsoft.com/office/drawing/2014/main" id="{A009457A-4D34-78AC-9AEF-B6F65F4F1A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E5FDA0-35F3-F2B7-661A-5EAAF9D04EA3}"/>
              </a:ext>
            </a:extLst>
          </p:cNvPr>
          <p:cNvSpPr>
            <a:spLocks noGrp="1"/>
          </p:cNvSpPr>
          <p:nvPr>
            <p:ph type="sldNum" sz="quarter" idx="12"/>
          </p:nvPr>
        </p:nvSpPr>
        <p:spPr/>
        <p:txBody>
          <a:bodyPr/>
          <a:lstStyle/>
          <a:p>
            <a:fld id="{EB704653-8348-4FF4-A130-904EFA67346D}" type="slidenum">
              <a:rPr lang="en-US" smtClean="0"/>
              <a:t>‹#›</a:t>
            </a:fld>
            <a:endParaRPr lang="en-US"/>
          </a:p>
        </p:txBody>
      </p:sp>
    </p:spTree>
    <p:extLst>
      <p:ext uri="{BB962C8B-B14F-4D97-AF65-F5344CB8AC3E}">
        <p14:creationId xmlns:p14="http://schemas.microsoft.com/office/powerpoint/2010/main" val="2536255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D97DF5-5C32-2A29-5E97-63FE7E7508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D4B08BE-2A27-4A72-D597-41F9E049E8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BFBCE1-CD42-89E7-5E86-9EBA96940B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F7D168-B4A4-4B78-88D2-4FF1A55E6F5F}" type="datetimeFigureOut">
              <a:rPr lang="en-US" smtClean="0"/>
              <a:t>12/27/2023</a:t>
            </a:fld>
            <a:endParaRPr lang="en-US"/>
          </a:p>
        </p:txBody>
      </p:sp>
      <p:sp>
        <p:nvSpPr>
          <p:cNvPr id="5" name="Footer Placeholder 4">
            <a:extLst>
              <a:ext uri="{FF2B5EF4-FFF2-40B4-BE49-F238E27FC236}">
                <a16:creationId xmlns:a16="http://schemas.microsoft.com/office/drawing/2014/main" id="{5B31DA74-E12C-FF9B-965F-CE648B8620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F2FE943-D8F0-88DC-AF8D-00534E1A61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704653-8348-4FF4-A130-904EFA67346D}" type="slidenum">
              <a:rPr lang="en-US" smtClean="0"/>
              <a:t>‹#›</a:t>
            </a:fld>
            <a:endParaRPr lang="en-US"/>
          </a:p>
        </p:txBody>
      </p:sp>
    </p:spTree>
    <p:extLst>
      <p:ext uri="{BB962C8B-B14F-4D97-AF65-F5344CB8AC3E}">
        <p14:creationId xmlns:p14="http://schemas.microsoft.com/office/powerpoint/2010/main" val="8021640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A06DF14-5301-A700-E9C8-16FA3C82CE53}"/>
              </a:ext>
            </a:extLst>
          </p:cNvPr>
          <p:cNvSpPr txBox="1"/>
          <p:nvPr/>
        </p:nvSpPr>
        <p:spPr>
          <a:xfrm>
            <a:off x="196645" y="179127"/>
            <a:ext cx="6096000" cy="369332"/>
          </a:xfrm>
          <a:prstGeom prst="rect">
            <a:avLst/>
          </a:prstGeom>
          <a:noFill/>
        </p:spPr>
        <p:txBody>
          <a:bodyPr wrap="square">
            <a:spAutoFit/>
          </a:bodyPr>
          <a:lstStyle/>
          <a:p>
            <a:pPr algn="l"/>
            <a:r>
              <a:rPr lang="en-US" b="1" i="0" dirty="0">
                <a:solidFill>
                  <a:srgbClr val="1F1F1F"/>
                </a:solidFill>
                <a:effectLst/>
              </a:rPr>
              <a:t>Neural Networks for Sentiment Analysis</a:t>
            </a:r>
          </a:p>
        </p:txBody>
      </p:sp>
      <p:sp>
        <p:nvSpPr>
          <p:cNvPr id="7" name="TextBox 6">
            <a:extLst>
              <a:ext uri="{FF2B5EF4-FFF2-40B4-BE49-F238E27FC236}">
                <a16:creationId xmlns:a16="http://schemas.microsoft.com/office/drawing/2014/main" id="{784B3CA0-D7DE-6243-1DA7-5E89AE7F739C}"/>
              </a:ext>
            </a:extLst>
          </p:cNvPr>
          <p:cNvSpPr txBox="1"/>
          <p:nvPr/>
        </p:nvSpPr>
        <p:spPr>
          <a:xfrm>
            <a:off x="196645" y="625476"/>
            <a:ext cx="11867536" cy="1200329"/>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Previously in the course you did sentiment analysis with logistic regression and naive Bayes. Those models were in a sense more naive, and are not able to catch the sentiment off a tweet like: </a:t>
            </a:r>
            <a:r>
              <a:rPr lang="en-US" b="0" i="1" dirty="0">
                <a:solidFill>
                  <a:srgbClr val="1F1F1F"/>
                </a:solidFill>
                <a:effectLst/>
                <a:latin typeface="Source Sans Pro" panose="020B0503030403020204" pitchFamily="34" charset="0"/>
              </a:rPr>
              <a:t>"I am not happy " </a:t>
            </a:r>
            <a:r>
              <a:rPr lang="en-US" b="0" i="0" dirty="0">
                <a:solidFill>
                  <a:srgbClr val="1F1F1F"/>
                </a:solidFill>
                <a:effectLst/>
                <a:latin typeface="Source Sans Pro" panose="020B0503030403020204" pitchFamily="34" charset="0"/>
              </a:rPr>
              <a:t>or </a:t>
            </a:r>
            <a:r>
              <a:rPr lang="en-US" b="0" i="1" dirty="0">
                <a:solidFill>
                  <a:srgbClr val="1F1F1F"/>
                </a:solidFill>
                <a:effectLst/>
                <a:latin typeface="Source Sans Pro" panose="020B0503030403020204" pitchFamily="34" charset="0"/>
              </a:rPr>
              <a:t>"If only it was a good day"</a:t>
            </a:r>
            <a:r>
              <a:rPr lang="en-US" b="0" i="0" dirty="0">
                <a:solidFill>
                  <a:srgbClr val="1F1F1F"/>
                </a:solidFill>
                <a:effectLst/>
                <a:latin typeface="Source Sans Pro" panose="020B0503030403020204" pitchFamily="34" charset="0"/>
              </a:rPr>
              <a:t>. When using a neural network to predict the sentiment of a sentence, you can use the following. Note that the image below has three outputs, in this case you might want to predict, "positive", "neutral ", or "negative". </a:t>
            </a:r>
            <a:endParaRPr lang="en-US" dirty="0"/>
          </a:p>
        </p:txBody>
      </p:sp>
      <p:pic>
        <p:nvPicPr>
          <p:cNvPr id="9" name="Picture 8">
            <a:extLst>
              <a:ext uri="{FF2B5EF4-FFF2-40B4-BE49-F238E27FC236}">
                <a16:creationId xmlns:a16="http://schemas.microsoft.com/office/drawing/2014/main" id="{0F17BFAF-3DC4-A697-1B93-2C5DEA786B59}"/>
              </a:ext>
            </a:extLst>
          </p:cNvPr>
          <p:cNvPicPr>
            <a:picLocks noChangeAspect="1"/>
          </p:cNvPicPr>
          <p:nvPr/>
        </p:nvPicPr>
        <p:blipFill>
          <a:blip r:embed="rId2"/>
          <a:stretch>
            <a:fillRect/>
          </a:stretch>
        </p:blipFill>
        <p:spPr>
          <a:xfrm>
            <a:off x="196645" y="2010918"/>
            <a:ext cx="4305673" cy="3406435"/>
          </a:xfrm>
          <a:prstGeom prst="rect">
            <a:avLst/>
          </a:prstGeom>
        </p:spPr>
      </p:pic>
      <p:pic>
        <p:nvPicPr>
          <p:cNvPr id="11" name="Picture 10">
            <a:extLst>
              <a:ext uri="{FF2B5EF4-FFF2-40B4-BE49-F238E27FC236}">
                <a16:creationId xmlns:a16="http://schemas.microsoft.com/office/drawing/2014/main" id="{7A044D96-9F0C-6FCA-DD4A-694B0D0130FC}"/>
              </a:ext>
            </a:extLst>
          </p:cNvPr>
          <p:cNvPicPr>
            <a:picLocks noChangeAspect="1"/>
          </p:cNvPicPr>
          <p:nvPr/>
        </p:nvPicPr>
        <p:blipFill>
          <a:blip r:embed="rId3"/>
          <a:stretch>
            <a:fillRect/>
          </a:stretch>
        </p:blipFill>
        <p:spPr>
          <a:xfrm>
            <a:off x="4650392" y="2121417"/>
            <a:ext cx="3284505" cy="3185436"/>
          </a:xfrm>
          <a:prstGeom prst="rect">
            <a:avLst/>
          </a:prstGeom>
        </p:spPr>
      </p:pic>
      <p:sp>
        <p:nvSpPr>
          <p:cNvPr id="13" name="TextBox 12">
            <a:extLst>
              <a:ext uri="{FF2B5EF4-FFF2-40B4-BE49-F238E27FC236}">
                <a16:creationId xmlns:a16="http://schemas.microsoft.com/office/drawing/2014/main" id="{A7B9C9EF-CF44-2AE7-8260-BAFCF5C1BF70}"/>
              </a:ext>
            </a:extLst>
          </p:cNvPr>
          <p:cNvSpPr txBox="1"/>
          <p:nvPr/>
        </p:nvSpPr>
        <p:spPr>
          <a:xfrm>
            <a:off x="196646" y="5712965"/>
            <a:ext cx="11867535" cy="646331"/>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Note that the network above has three layers. To go from one layer to another you can use a </a:t>
            </a:r>
            <a:r>
              <a:rPr lang="en-US" b="0" i="1" dirty="0">
                <a:solidFill>
                  <a:srgbClr val="1F1F1F"/>
                </a:solidFill>
                <a:effectLst/>
                <a:latin typeface="KaTeX_Math"/>
              </a:rPr>
              <a:t>W</a:t>
            </a:r>
            <a:r>
              <a:rPr lang="en-US" b="0" i="0" dirty="0">
                <a:solidFill>
                  <a:srgbClr val="1F1F1F"/>
                </a:solidFill>
                <a:effectLst/>
                <a:latin typeface="Source Sans Pro" panose="020B0503030403020204" pitchFamily="34" charset="0"/>
              </a:rPr>
              <a:t> matrix to propagate to the next layer. Hence, we call this concept of going from the input until the final layer, forward propagation. </a:t>
            </a:r>
            <a:endParaRPr lang="en-US" dirty="0"/>
          </a:p>
        </p:txBody>
      </p:sp>
    </p:spTree>
    <p:extLst>
      <p:ext uri="{BB962C8B-B14F-4D97-AF65-F5344CB8AC3E}">
        <p14:creationId xmlns:p14="http://schemas.microsoft.com/office/powerpoint/2010/main" val="25779093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9CD5CC2-9930-E4A6-D716-D988D8848C11}"/>
              </a:ext>
            </a:extLst>
          </p:cNvPr>
          <p:cNvSpPr txBox="1"/>
          <p:nvPr/>
        </p:nvSpPr>
        <p:spPr>
          <a:xfrm>
            <a:off x="501445" y="316779"/>
            <a:ext cx="6096000"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To represent a tweet, you can use the following: </a:t>
            </a:r>
            <a:endParaRPr lang="en-US" dirty="0"/>
          </a:p>
        </p:txBody>
      </p:sp>
      <p:pic>
        <p:nvPicPr>
          <p:cNvPr id="7" name="Picture 6">
            <a:extLst>
              <a:ext uri="{FF2B5EF4-FFF2-40B4-BE49-F238E27FC236}">
                <a16:creationId xmlns:a16="http://schemas.microsoft.com/office/drawing/2014/main" id="{B1FC5B2F-2A5E-2D8B-9817-17D65E53CDF6}"/>
              </a:ext>
            </a:extLst>
          </p:cNvPr>
          <p:cNvPicPr>
            <a:picLocks noChangeAspect="1"/>
          </p:cNvPicPr>
          <p:nvPr/>
        </p:nvPicPr>
        <p:blipFill>
          <a:blip r:embed="rId2"/>
          <a:stretch>
            <a:fillRect/>
          </a:stretch>
        </p:blipFill>
        <p:spPr>
          <a:xfrm>
            <a:off x="295209" y="686111"/>
            <a:ext cx="2949196" cy="2903472"/>
          </a:xfrm>
          <a:prstGeom prst="rect">
            <a:avLst/>
          </a:prstGeom>
        </p:spPr>
      </p:pic>
      <p:pic>
        <p:nvPicPr>
          <p:cNvPr id="9" name="Picture 8">
            <a:extLst>
              <a:ext uri="{FF2B5EF4-FFF2-40B4-BE49-F238E27FC236}">
                <a16:creationId xmlns:a16="http://schemas.microsoft.com/office/drawing/2014/main" id="{8E8EB404-FAC6-F58D-E820-96500D07F737}"/>
              </a:ext>
            </a:extLst>
          </p:cNvPr>
          <p:cNvPicPr>
            <a:picLocks noChangeAspect="1"/>
          </p:cNvPicPr>
          <p:nvPr/>
        </p:nvPicPr>
        <p:blipFill>
          <a:blip r:embed="rId3"/>
          <a:stretch>
            <a:fillRect/>
          </a:stretch>
        </p:blipFill>
        <p:spPr>
          <a:xfrm>
            <a:off x="3450641" y="686111"/>
            <a:ext cx="4046571" cy="3025402"/>
          </a:xfrm>
          <a:prstGeom prst="rect">
            <a:avLst/>
          </a:prstGeom>
        </p:spPr>
      </p:pic>
      <p:sp>
        <p:nvSpPr>
          <p:cNvPr id="11" name="TextBox 10">
            <a:extLst>
              <a:ext uri="{FF2B5EF4-FFF2-40B4-BE49-F238E27FC236}">
                <a16:creationId xmlns:a16="http://schemas.microsoft.com/office/drawing/2014/main" id="{6A4A30EC-BE79-9DAE-8092-3CDF57F9159C}"/>
              </a:ext>
            </a:extLst>
          </p:cNvPr>
          <p:cNvSpPr txBox="1"/>
          <p:nvPr/>
        </p:nvSpPr>
        <p:spPr>
          <a:xfrm>
            <a:off x="402640" y="3855545"/>
            <a:ext cx="7531991"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Note, that we add zeros for padding to match the size of the longest tweet. </a:t>
            </a:r>
            <a:endParaRPr lang="en-US" dirty="0"/>
          </a:p>
        </p:txBody>
      </p:sp>
      <p:sp>
        <p:nvSpPr>
          <p:cNvPr id="13" name="TextBox 12">
            <a:extLst>
              <a:ext uri="{FF2B5EF4-FFF2-40B4-BE49-F238E27FC236}">
                <a16:creationId xmlns:a16="http://schemas.microsoft.com/office/drawing/2014/main" id="{F3FB8FB0-32EC-0C5E-A410-FB71A7A0B024}"/>
              </a:ext>
            </a:extLst>
          </p:cNvPr>
          <p:cNvSpPr txBox="1"/>
          <p:nvPr/>
        </p:nvSpPr>
        <p:spPr>
          <a:xfrm>
            <a:off x="402640" y="4724510"/>
            <a:ext cx="11681204" cy="1200329"/>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A neural network in the setup you can see above can only process one such tweet at a time. In order to make training more efficient (faster) you want to process many tweets in parallel. You achieve this by putting many tweets together into a matrix and then passing this matrix (rather than individual tweets) through the neural network. Then the neural network can perform its computations on all tweets at the same time.</a:t>
            </a:r>
            <a:endParaRPr lang="en-US" dirty="0"/>
          </a:p>
        </p:txBody>
      </p:sp>
    </p:spTree>
    <p:extLst>
      <p:ext uri="{BB962C8B-B14F-4D97-AF65-F5344CB8AC3E}">
        <p14:creationId xmlns:p14="http://schemas.microsoft.com/office/powerpoint/2010/main" val="982482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FB687C-C918-4416-E1F0-490284981E53}"/>
              </a:ext>
            </a:extLst>
          </p:cNvPr>
          <p:cNvSpPr txBox="1"/>
          <p:nvPr/>
        </p:nvSpPr>
        <p:spPr>
          <a:xfrm>
            <a:off x="186813" y="169296"/>
            <a:ext cx="6096000" cy="369332"/>
          </a:xfrm>
          <a:prstGeom prst="rect">
            <a:avLst/>
          </a:prstGeom>
          <a:noFill/>
        </p:spPr>
        <p:txBody>
          <a:bodyPr wrap="square">
            <a:spAutoFit/>
          </a:bodyPr>
          <a:lstStyle/>
          <a:p>
            <a:pPr algn="l"/>
            <a:r>
              <a:rPr lang="en-US" b="1" i="0" dirty="0">
                <a:solidFill>
                  <a:srgbClr val="1F1F1F"/>
                </a:solidFill>
                <a:effectLst/>
              </a:rPr>
              <a:t>Dense Layers and </a:t>
            </a:r>
            <a:r>
              <a:rPr lang="en-US" b="1" i="0" dirty="0" err="1">
                <a:solidFill>
                  <a:srgbClr val="1F1F1F"/>
                </a:solidFill>
                <a:effectLst/>
              </a:rPr>
              <a:t>ReLU</a:t>
            </a:r>
            <a:endParaRPr lang="en-US" b="1" i="0" dirty="0">
              <a:solidFill>
                <a:srgbClr val="1F1F1F"/>
              </a:solidFill>
              <a:effectLst/>
            </a:endParaRPr>
          </a:p>
        </p:txBody>
      </p:sp>
      <p:sp>
        <p:nvSpPr>
          <p:cNvPr id="7" name="TextBox 6">
            <a:extLst>
              <a:ext uri="{FF2B5EF4-FFF2-40B4-BE49-F238E27FC236}">
                <a16:creationId xmlns:a16="http://schemas.microsoft.com/office/drawing/2014/main" id="{073D64F1-023D-2AA5-0FF1-D66DD7344D15}"/>
              </a:ext>
            </a:extLst>
          </p:cNvPr>
          <p:cNvSpPr txBox="1"/>
          <p:nvPr/>
        </p:nvSpPr>
        <p:spPr>
          <a:xfrm>
            <a:off x="186813" y="538628"/>
            <a:ext cx="11818374" cy="646331"/>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The Dense layer is the computation of the inner product between a set of trainable weights (weight matrix) and an input vector. The visualization of the dense layer can be seen in the image below. </a:t>
            </a:r>
            <a:endParaRPr lang="en-US" dirty="0"/>
          </a:p>
        </p:txBody>
      </p:sp>
      <p:pic>
        <p:nvPicPr>
          <p:cNvPr id="9" name="Picture 8">
            <a:extLst>
              <a:ext uri="{FF2B5EF4-FFF2-40B4-BE49-F238E27FC236}">
                <a16:creationId xmlns:a16="http://schemas.microsoft.com/office/drawing/2014/main" id="{E5B0F0D7-72A6-204F-1B96-6E794E0E9B62}"/>
              </a:ext>
            </a:extLst>
          </p:cNvPr>
          <p:cNvPicPr>
            <a:picLocks noChangeAspect="1"/>
          </p:cNvPicPr>
          <p:nvPr/>
        </p:nvPicPr>
        <p:blipFill>
          <a:blip r:embed="rId2"/>
          <a:stretch>
            <a:fillRect/>
          </a:stretch>
        </p:blipFill>
        <p:spPr>
          <a:xfrm>
            <a:off x="2050549" y="1184959"/>
            <a:ext cx="6434690" cy="2547457"/>
          </a:xfrm>
          <a:prstGeom prst="rect">
            <a:avLst/>
          </a:prstGeom>
        </p:spPr>
      </p:pic>
      <p:sp>
        <p:nvSpPr>
          <p:cNvPr id="11" name="TextBox 10">
            <a:extLst>
              <a:ext uri="{FF2B5EF4-FFF2-40B4-BE49-F238E27FC236}">
                <a16:creationId xmlns:a16="http://schemas.microsoft.com/office/drawing/2014/main" id="{FD8030E6-4D4B-99F8-BC4D-0A7B94181293}"/>
              </a:ext>
            </a:extLst>
          </p:cNvPr>
          <p:cNvSpPr txBox="1"/>
          <p:nvPr/>
        </p:nvSpPr>
        <p:spPr>
          <a:xfrm>
            <a:off x="186813" y="3732416"/>
            <a:ext cx="11818374" cy="1200329"/>
          </a:xfrm>
          <a:prstGeom prst="rect">
            <a:avLst/>
          </a:prstGeom>
          <a:noFill/>
        </p:spPr>
        <p:txBody>
          <a:bodyPr wrap="square">
            <a:spAutoFit/>
          </a:bodyPr>
          <a:lstStyle/>
          <a:p>
            <a:r>
              <a:rPr lang="en-US" dirty="0">
                <a:effectLst/>
                <a:latin typeface="var(--cds-font-family-source-sans-pro)"/>
              </a:rPr>
              <a:t>The orange box in the image above shows the dense layer. An activation layer is the set of blue nodes shown with the orange box in the image below. Concretely one of the most commonly used activation layers is the rectified linear unit (</a:t>
            </a:r>
            <a:r>
              <a:rPr lang="en-US" dirty="0" err="1">
                <a:effectLst/>
                <a:latin typeface="var(--cds-font-family-source-sans-pro)"/>
              </a:rPr>
              <a:t>ReLU</a:t>
            </a:r>
            <a:r>
              <a:rPr lang="en-US" dirty="0">
                <a:effectLst/>
                <a:latin typeface="var(--cds-font-family-source-sans-pro)"/>
              </a:rPr>
              <a:t>).</a:t>
            </a:r>
          </a:p>
          <a:p>
            <a:br>
              <a:rPr lang="en-US" dirty="0">
                <a:effectLst/>
              </a:rPr>
            </a:br>
            <a:endParaRPr lang="en-US" dirty="0"/>
          </a:p>
        </p:txBody>
      </p:sp>
      <p:sp>
        <p:nvSpPr>
          <p:cNvPr id="13" name="TextBox 12">
            <a:extLst>
              <a:ext uri="{FF2B5EF4-FFF2-40B4-BE49-F238E27FC236}">
                <a16:creationId xmlns:a16="http://schemas.microsoft.com/office/drawing/2014/main" id="{88AC976F-EEF8-DB2E-5291-73C50D1EB2E3}"/>
              </a:ext>
            </a:extLst>
          </p:cNvPr>
          <p:cNvSpPr txBox="1"/>
          <p:nvPr/>
        </p:nvSpPr>
        <p:spPr>
          <a:xfrm>
            <a:off x="432619" y="6319372"/>
            <a:ext cx="6096000" cy="369332"/>
          </a:xfrm>
          <a:prstGeom prst="rect">
            <a:avLst/>
          </a:prstGeom>
          <a:noFill/>
        </p:spPr>
        <p:txBody>
          <a:bodyPr wrap="square">
            <a:spAutoFit/>
          </a:bodyPr>
          <a:lstStyle/>
          <a:p>
            <a:r>
              <a:rPr lang="en-US" b="0" i="1" dirty="0" err="1">
                <a:solidFill>
                  <a:srgbClr val="1F1F1F"/>
                </a:solidFill>
                <a:effectLst/>
                <a:latin typeface="Source Sans Pro" panose="020B0503030403020204" pitchFamily="34" charset="0"/>
              </a:rPr>
              <a:t>ReLU</a:t>
            </a:r>
            <a:r>
              <a:rPr lang="en-US" b="0" i="1" dirty="0">
                <a:solidFill>
                  <a:srgbClr val="1F1F1F"/>
                </a:solidFill>
                <a:effectLst/>
                <a:latin typeface="Source Sans Pro" panose="020B0503030403020204" pitchFamily="34" charset="0"/>
              </a:rPr>
              <a:t>(x)</a:t>
            </a:r>
            <a:r>
              <a:rPr lang="en-US" b="0" i="0" dirty="0">
                <a:solidFill>
                  <a:srgbClr val="1F1F1F"/>
                </a:solidFill>
                <a:effectLst/>
                <a:latin typeface="Source Sans Pro" panose="020B0503030403020204" pitchFamily="34" charset="0"/>
              </a:rPr>
              <a:t> is defined as </a:t>
            </a:r>
            <a:r>
              <a:rPr lang="en-US" b="0" i="1" dirty="0">
                <a:solidFill>
                  <a:srgbClr val="1F1F1F"/>
                </a:solidFill>
                <a:effectLst/>
                <a:latin typeface="Source Sans Pro" panose="020B0503030403020204" pitchFamily="34" charset="0"/>
              </a:rPr>
              <a:t>max(0,x) </a:t>
            </a:r>
            <a:r>
              <a:rPr lang="en-US" b="0" i="0" dirty="0">
                <a:solidFill>
                  <a:srgbClr val="1F1F1F"/>
                </a:solidFill>
                <a:effectLst/>
                <a:latin typeface="Source Sans Pro" panose="020B0503030403020204" pitchFamily="34" charset="0"/>
              </a:rPr>
              <a:t>for any input x. </a:t>
            </a:r>
            <a:endParaRPr lang="en-US" dirty="0"/>
          </a:p>
        </p:txBody>
      </p:sp>
      <p:pic>
        <p:nvPicPr>
          <p:cNvPr id="15" name="Picture 14">
            <a:extLst>
              <a:ext uri="{FF2B5EF4-FFF2-40B4-BE49-F238E27FC236}">
                <a16:creationId xmlns:a16="http://schemas.microsoft.com/office/drawing/2014/main" id="{8A955C7C-B09A-ED07-F74C-DB233C7556C2}"/>
              </a:ext>
            </a:extLst>
          </p:cNvPr>
          <p:cNvPicPr>
            <a:picLocks noChangeAspect="1"/>
          </p:cNvPicPr>
          <p:nvPr/>
        </p:nvPicPr>
        <p:blipFill>
          <a:blip r:embed="rId3"/>
          <a:stretch>
            <a:fillRect/>
          </a:stretch>
        </p:blipFill>
        <p:spPr>
          <a:xfrm>
            <a:off x="2251585" y="4332580"/>
            <a:ext cx="4490355" cy="1893739"/>
          </a:xfrm>
          <a:prstGeom prst="rect">
            <a:avLst/>
          </a:prstGeom>
        </p:spPr>
      </p:pic>
    </p:spTree>
    <p:extLst>
      <p:ext uri="{BB962C8B-B14F-4D97-AF65-F5344CB8AC3E}">
        <p14:creationId xmlns:p14="http://schemas.microsoft.com/office/powerpoint/2010/main" val="2502603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144BF05-5F08-CCA0-BB91-8C67689CAE68}"/>
              </a:ext>
            </a:extLst>
          </p:cNvPr>
          <p:cNvSpPr txBox="1"/>
          <p:nvPr/>
        </p:nvSpPr>
        <p:spPr>
          <a:xfrm>
            <a:off x="157317" y="90637"/>
            <a:ext cx="6096000" cy="369332"/>
          </a:xfrm>
          <a:prstGeom prst="rect">
            <a:avLst/>
          </a:prstGeom>
          <a:noFill/>
        </p:spPr>
        <p:txBody>
          <a:bodyPr wrap="square">
            <a:spAutoFit/>
          </a:bodyPr>
          <a:lstStyle/>
          <a:p>
            <a:pPr algn="l"/>
            <a:r>
              <a:rPr lang="en-US" b="1" i="0" dirty="0">
                <a:solidFill>
                  <a:srgbClr val="1F1F1F"/>
                </a:solidFill>
                <a:effectLst/>
              </a:rPr>
              <a:t>Embedding and Mean Layers</a:t>
            </a:r>
          </a:p>
        </p:txBody>
      </p:sp>
      <p:sp>
        <p:nvSpPr>
          <p:cNvPr id="7" name="TextBox 6">
            <a:extLst>
              <a:ext uri="{FF2B5EF4-FFF2-40B4-BE49-F238E27FC236}">
                <a16:creationId xmlns:a16="http://schemas.microsoft.com/office/drawing/2014/main" id="{89882D49-B323-8ED3-50A2-017F29722D85}"/>
              </a:ext>
            </a:extLst>
          </p:cNvPr>
          <p:cNvSpPr txBox="1"/>
          <p:nvPr/>
        </p:nvSpPr>
        <p:spPr>
          <a:xfrm>
            <a:off x="157316" y="459969"/>
            <a:ext cx="11562735"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Using an embedding layer</a:t>
            </a:r>
            <a:r>
              <a:rPr lang="en-US" dirty="0">
                <a:solidFill>
                  <a:srgbClr val="1F1F1F"/>
                </a:solidFill>
                <a:latin typeface="Source Sans Pro" panose="020B0503030403020204" pitchFamily="34" charset="0"/>
              </a:rPr>
              <a:t>, </a:t>
            </a:r>
            <a:r>
              <a:rPr lang="en-US" b="0" i="0" dirty="0">
                <a:solidFill>
                  <a:srgbClr val="1F1F1F"/>
                </a:solidFill>
                <a:effectLst/>
                <a:latin typeface="Source Sans Pro" panose="020B0503030403020204" pitchFamily="34" charset="0"/>
              </a:rPr>
              <a:t> you can learn word embeddings for each word in your vocabulary as follows: </a:t>
            </a:r>
            <a:endParaRPr lang="en-US" dirty="0"/>
          </a:p>
        </p:txBody>
      </p:sp>
      <p:pic>
        <p:nvPicPr>
          <p:cNvPr id="9" name="Picture 8">
            <a:extLst>
              <a:ext uri="{FF2B5EF4-FFF2-40B4-BE49-F238E27FC236}">
                <a16:creationId xmlns:a16="http://schemas.microsoft.com/office/drawing/2014/main" id="{98708370-D89E-2EFD-B78F-3DBFCFC6894C}"/>
              </a:ext>
            </a:extLst>
          </p:cNvPr>
          <p:cNvPicPr>
            <a:picLocks noChangeAspect="1"/>
          </p:cNvPicPr>
          <p:nvPr/>
        </p:nvPicPr>
        <p:blipFill>
          <a:blip r:embed="rId2"/>
          <a:stretch>
            <a:fillRect/>
          </a:stretch>
        </p:blipFill>
        <p:spPr>
          <a:xfrm>
            <a:off x="3116827" y="1006424"/>
            <a:ext cx="5496232" cy="2161852"/>
          </a:xfrm>
          <a:prstGeom prst="rect">
            <a:avLst/>
          </a:prstGeom>
        </p:spPr>
      </p:pic>
      <p:sp>
        <p:nvSpPr>
          <p:cNvPr id="11" name="TextBox 10">
            <a:extLst>
              <a:ext uri="{FF2B5EF4-FFF2-40B4-BE49-F238E27FC236}">
                <a16:creationId xmlns:a16="http://schemas.microsoft.com/office/drawing/2014/main" id="{A5667BAD-6165-D085-1153-00B7A2293D9E}"/>
              </a:ext>
            </a:extLst>
          </p:cNvPr>
          <p:cNvSpPr txBox="1"/>
          <p:nvPr/>
        </p:nvSpPr>
        <p:spPr>
          <a:xfrm>
            <a:off x="157316" y="3429000"/>
            <a:ext cx="11729884"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The mean layer allows you to take the average of the embeddings. You can visualize it as follows: </a:t>
            </a:r>
            <a:endParaRPr lang="en-US" dirty="0"/>
          </a:p>
        </p:txBody>
      </p:sp>
      <p:pic>
        <p:nvPicPr>
          <p:cNvPr id="13" name="Picture 12">
            <a:extLst>
              <a:ext uri="{FF2B5EF4-FFF2-40B4-BE49-F238E27FC236}">
                <a16:creationId xmlns:a16="http://schemas.microsoft.com/office/drawing/2014/main" id="{1D3C5387-3A6F-F7F1-CA08-F4630966B19B}"/>
              </a:ext>
            </a:extLst>
          </p:cNvPr>
          <p:cNvPicPr>
            <a:picLocks noChangeAspect="1"/>
          </p:cNvPicPr>
          <p:nvPr/>
        </p:nvPicPr>
        <p:blipFill>
          <a:blip r:embed="rId3"/>
          <a:stretch>
            <a:fillRect/>
          </a:stretch>
        </p:blipFill>
        <p:spPr>
          <a:xfrm>
            <a:off x="2947328" y="3933215"/>
            <a:ext cx="5665731" cy="2464816"/>
          </a:xfrm>
          <a:prstGeom prst="rect">
            <a:avLst/>
          </a:prstGeom>
        </p:spPr>
      </p:pic>
    </p:spTree>
    <p:extLst>
      <p:ext uri="{BB962C8B-B14F-4D97-AF65-F5344CB8AC3E}">
        <p14:creationId xmlns:p14="http://schemas.microsoft.com/office/powerpoint/2010/main" val="3638285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291E770-BB32-93E6-4DC0-68800E3225DB}"/>
              </a:ext>
            </a:extLst>
          </p:cNvPr>
          <p:cNvSpPr txBox="1"/>
          <p:nvPr/>
        </p:nvSpPr>
        <p:spPr>
          <a:xfrm>
            <a:off x="226142" y="110301"/>
            <a:ext cx="6096000" cy="369332"/>
          </a:xfrm>
          <a:prstGeom prst="rect">
            <a:avLst/>
          </a:prstGeom>
          <a:noFill/>
        </p:spPr>
        <p:txBody>
          <a:bodyPr wrap="square">
            <a:spAutoFit/>
          </a:bodyPr>
          <a:lstStyle/>
          <a:p>
            <a:pPr algn="l"/>
            <a:r>
              <a:rPr lang="en-US" b="1" i="0" dirty="0">
                <a:solidFill>
                  <a:srgbClr val="1F1F1F"/>
                </a:solidFill>
                <a:effectLst/>
              </a:rPr>
              <a:t>Traditional Language models</a:t>
            </a:r>
          </a:p>
        </p:txBody>
      </p:sp>
      <p:sp>
        <p:nvSpPr>
          <p:cNvPr id="7" name="TextBox 6">
            <a:extLst>
              <a:ext uri="{FF2B5EF4-FFF2-40B4-BE49-F238E27FC236}">
                <a16:creationId xmlns:a16="http://schemas.microsoft.com/office/drawing/2014/main" id="{DEC2E60B-08C3-CC90-3E16-813449EF4171}"/>
              </a:ext>
            </a:extLst>
          </p:cNvPr>
          <p:cNvSpPr txBox="1"/>
          <p:nvPr/>
        </p:nvSpPr>
        <p:spPr>
          <a:xfrm>
            <a:off x="226142" y="479633"/>
            <a:ext cx="11739716"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Traditional language models make use of probabilities to help identify which sentence is most likely to take place. </a:t>
            </a:r>
            <a:endParaRPr lang="en-US" dirty="0"/>
          </a:p>
        </p:txBody>
      </p:sp>
      <p:pic>
        <p:nvPicPr>
          <p:cNvPr id="9" name="Picture 8">
            <a:extLst>
              <a:ext uri="{FF2B5EF4-FFF2-40B4-BE49-F238E27FC236}">
                <a16:creationId xmlns:a16="http://schemas.microsoft.com/office/drawing/2014/main" id="{74662785-C602-CD2E-F5A4-F4ABEE4D9515}"/>
              </a:ext>
            </a:extLst>
          </p:cNvPr>
          <p:cNvPicPr>
            <a:picLocks noChangeAspect="1"/>
          </p:cNvPicPr>
          <p:nvPr/>
        </p:nvPicPr>
        <p:blipFill>
          <a:blip r:embed="rId2"/>
          <a:stretch>
            <a:fillRect/>
          </a:stretch>
        </p:blipFill>
        <p:spPr>
          <a:xfrm>
            <a:off x="2516980" y="988286"/>
            <a:ext cx="6115742" cy="2326233"/>
          </a:xfrm>
          <a:prstGeom prst="rect">
            <a:avLst/>
          </a:prstGeom>
        </p:spPr>
      </p:pic>
      <p:sp>
        <p:nvSpPr>
          <p:cNvPr id="11" name="TextBox 10">
            <a:extLst>
              <a:ext uri="{FF2B5EF4-FFF2-40B4-BE49-F238E27FC236}">
                <a16:creationId xmlns:a16="http://schemas.microsoft.com/office/drawing/2014/main" id="{2FA99AFD-1383-E978-98C3-43BA40B7F867}"/>
              </a:ext>
            </a:extLst>
          </p:cNvPr>
          <p:cNvSpPr txBox="1"/>
          <p:nvPr/>
        </p:nvSpPr>
        <p:spPr>
          <a:xfrm>
            <a:off x="103238" y="3314519"/>
            <a:ext cx="11985523" cy="646331"/>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In the example above, the second sentence is the one that is most likely to take place as it has the highest probability of happening. To compute the probabilities, you can do the following:</a:t>
            </a:r>
            <a:endParaRPr lang="en-US" dirty="0"/>
          </a:p>
        </p:txBody>
      </p:sp>
      <p:pic>
        <p:nvPicPr>
          <p:cNvPr id="13" name="Picture 12">
            <a:extLst>
              <a:ext uri="{FF2B5EF4-FFF2-40B4-BE49-F238E27FC236}">
                <a16:creationId xmlns:a16="http://schemas.microsoft.com/office/drawing/2014/main" id="{84C3169B-C4E0-AB01-79C5-8F112CA3D4DD}"/>
              </a:ext>
            </a:extLst>
          </p:cNvPr>
          <p:cNvPicPr>
            <a:picLocks noChangeAspect="1"/>
          </p:cNvPicPr>
          <p:nvPr/>
        </p:nvPicPr>
        <p:blipFill>
          <a:blip r:embed="rId3"/>
          <a:stretch>
            <a:fillRect/>
          </a:stretch>
        </p:blipFill>
        <p:spPr>
          <a:xfrm>
            <a:off x="2792097" y="3984235"/>
            <a:ext cx="6096528" cy="1958510"/>
          </a:xfrm>
          <a:prstGeom prst="rect">
            <a:avLst/>
          </a:prstGeom>
        </p:spPr>
      </p:pic>
      <p:sp>
        <p:nvSpPr>
          <p:cNvPr id="15" name="TextBox 14">
            <a:extLst>
              <a:ext uri="{FF2B5EF4-FFF2-40B4-BE49-F238E27FC236}">
                <a16:creationId xmlns:a16="http://schemas.microsoft.com/office/drawing/2014/main" id="{40A74013-8E7F-02A1-78D9-BC1218134759}"/>
              </a:ext>
            </a:extLst>
          </p:cNvPr>
          <p:cNvSpPr txBox="1"/>
          <p:nvPr/>
        </p:nvSpPr>
        <p:spPr>
          <a:xfrm>
            <a:off x="122902" y="6103238"/>
            <a:ext cx="11965859" cy="646331"/>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Large N-grams capture dependencies between distant words and need a lot of space and RAM. Hence, we resort to using different types of alternatives. </a:t>
            </a:r>
            <a:endParaRPr lang="en-US" dirty="0"/>
          </a:p>
        </p:txBody>
      </p:sp>
    </p:spTree>
    <p:extLst>
      <p:ext uri="{BB962C8B-B14F-4D97-AF65-F5344CB8AC3E}">
        <p14:creationId xmlns:p14="http://schemas.microsoft.com/office/powerpoint/2010/main" val="1412340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AD90BC9-2C7F-40C1-A1FA-9F6D483B1EAE}"/>
              </a:ext>
            </a:extLst>
          </p:cNvPr>
          <p:cNvSpPr txBox="1"/>
          <p:nvPr/>
        </p:nvSpPr>
        <p:spPr>
          <a:xfrm>
            <a:off x="88490" y="0"/>
            <a:ext cx="6096000" cy="369332"/>
          </a:xfrm>
          <a:prstGeom prst="rect">
            <a:avLst/>
          </a:prstGeom>
          <a:noFill/>
        </p:spPr>
        <p:txBody>
          <a:bodyPr wrap="square">
            <a:spAutoFit/>
          </a:bodyPr>
          <a:lstStyle/>
          <a:p>
            <a:pPr algn="l"/>
            <a:r>
              <a:rPr lang="en-US" b="1" i="0" dirty="0">
                <a:solidFill>
                  <a:srgbClr val="1F1F1F"/>
                </a:solidFill>
                <a:effectLst/>
              </a:rPr>
              <a:t>Recurrent Neural Networks</a:t>
            </a:r>
          </a:p>
        </p:txBody>
      </p:sp>
      <p:sp>
        <p:nvSpPr>
          <p:cNvPr id="7" name="TextBox 6">
            <a:extLst>
              <a:ext uri="{FF2B5EF4-FFF2-40B4-BE49-F238E27FC236}">
                <a16:creationId xmlns:a16="http://schemas.microsoft.com/office/drawing/2014/main" id="{49EF1896-BC0D-BBC4-13C1-EC43FD411E09}"/>
              </a:ext>
            </a:extLst>
          </p:cNvPr>
          <p:cNvSpPr txBox="1"/>
          <p:nvPr/>
        </p:nvSpPr>
        <p:spPr>
          <a:xfrm>
            <a:off x="88489" y="369332"/>
            <a:ext cx="11818375" cy="646331"/>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Previously, we tried using traditional language models, but it turns out they took a lot of space and RAM. For example, in the sentence below: </a:t>
            </a:r>
            <a:endParaRPr lang="en-US" dirty="0"/>
          </a:p>
        </p:txBody>
      </p:sp>
      <p:pic>
        <p:nvPicPr>
          <p:cNvPr id="9" name="Picture 8">
            <a:extLst>
              <a:ext uri="{FF2B5EF4-FFF2-40B4-BE49-F238E27FC236}">
                <a16:creationId xmlns:a16="http://schemas.microsoft.com/office/drawing/2014/main" id="{4E08147C-60FF-20FE-E2DA-7F3B65206512}"/>
              </a:ext>
            </a:extLst>
          </p:cNvPr>
          <p:cNvPicPr>
            <a:picLocks noChangeAspect="1"/>
          </p:cNvPicPr>
          <p:nvPr/>
        </p:nvPicPr>
        <p:blipFill>
          <a:blip r:embed="rId2"/>
          <a:stretch>
            <a:fillRect/>
          </a:stretch>
        </p:blipFill>
        <p:spPr>
          <a:xfrm>
            <a:off x="0" y="1047677"/>
            <a:ext cx="5764739" cy="2197735"/>
          </a:xfrm>
          <a:prstGeom prst="rect">
            <a:avLst/>
          </a:prstGeom>
        </p:spPr>
      </p:pic>
      <p:sp>
        <p:nvSpPr>
          <p:cNvPr id="11" name="TextBox 10">
            <a:extLst>
              <a:ext uri="{FF2B5EF4-FFF2-40B4-BE49-F238E27FC236}">
                <a16:creationId xmlns:a16="http://schemas.microsoft.com/office/drawing/2014/main" id="{004340B8-BD0E-3B7A-6E77-0C50050C9AA9}"/>
              </a:ext>
            </a:extLst>
          </p:cNvPr>
          <p:cNvSpPr txBox="1"/>
          <p:nvPr/>
        </p:nvSpPr>
        <p:spPr>
          <a:xfrm>
            <a:off x="5860026" y="811322"/>
            <a:ext cx="4336026" cy="1754326"/>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An N-gram </a:t>
            </a:r>
            <a:r>
              <a:rPr lang="en-US" b="0" i="1" dirty="0">
                <a:solidFill>
                  <a:srgbClr val="1F1F1F"/>
                </a:solidFill>
                <a:effectLst/>
                <a:latin typeface="Source Sans Pro" panose="020B0503030403020204" pitchFamily="34" charset="0"/>
              </a:rPr>
              <a:t>(trigram) </a:t>
            </a:r>
            <a:r>
              <a:rPr lang="en-US" b="0" i="0" dirty="0">
                <a:solidFill>
                  <a:srgbClr val="1F1F1F"/>
                </a:solidFill>
                <a:effectLst/>
                <a:latin typeface="Source Sans Pro" panose="020B0503030403020204" pitchFamily="34" charset="0"/>
              </a:rPr>
              <a:t>would only look at "did not" and would try to complete the sentence from there. As a result, the model will not be able to see the beginning of the sentence "I called her but she". Probably the most likely word is </a:t>
            </a:r>
            <a:r>
              <a:rPr lang="en-US" b="0" i="1" dirty="0">
                <a:solidFill>
                  <a:srgbClr val="1F1F1F"/>
                </a:solidFill>
                <a:effectLst/>
                <a:latin typeface="Source Sans Pro" panose="020B0503030403020204" pitchFamily="34" charset="0"/>
              </a:rPr>
              <a:t>have</a:t>
            </a:r>
            <a:r>
              <a:rPr lang="en-US" b="0" i="0" dirty="0">
                <a:solidFill>
                  <a:srgbClr val="1F1F1F"/>
                </a:solidFill>
                <a:effectLst/>
                <a:latin typeface="Source Sans Pro" panose="020B0503030403020204" pitchFamily="34" charset="0"/>
              </a:rPr>
              <a:t> after "did not". </a:t>
            </a:r>
            <a:endParaRPr lang="en-US" dirty="0"/>
          </a:p>
        </p:txBody>
      </p:sp>
      <p:sp>
        <p:nvSpPr>
          <p:cNvPr id="13" name="TextBox 12">
            <a:extLst>
              <a:ext uri="{FF2B5EF4-FFF2-40B4-BE49-F238E27FC236}">
                <a16:creationId xmlns:a16="http://schemas.microsoft.com/office/drawing/2014/main" id="{B05A2C3F-F481-0994-A8EB-C8E0923384B6}"/>
              </a:ext>
            </a:extLst>
          </p:cNvPr>
          <p:cNvSpPr txBox="1"/>
          <p:nvPr/>
        </p:nvSpPr>
        <p:spPr>
          <a:xfrm>
            <a:off x="88489" y="3517070"/>
            <a:ext cx="3590292" cy="1754326"/>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RNNs help us solve this problem by being able to track dependencies that are much further apart from each other. As the RNN makes its way through a text corpus, it picks up some information as follows: </a:t>
            </a:r>
            <a:endParaRPr lang="en-US" dirty="0"/>
          </a:p>
        </p:txBody>
      </p:sp>
      <p:pic>
        <p:nvPicPr>
          <p:cNvPr id="15" name="Picture 14">
            <a:extLst>
              <a:ext uri="{FF2B5EF4-FFF2-40B4-BE49-F238E27FC236}">
                <a16:creationId xmlns:a16="http://schemas.microsoft.com/office/drawing/2014/main" id="{A519ED19-8348-F82B-6433-4E82DC159AAE}"/>
              </a:ext>
            </a:extLst>
          </p:cNvPr>
          <p:cNvPicPr>
            <a:picLocks noChangeAspect="1"/>
          </p:cNvPicPr>
          <p:nvPr/>
        </p:nvPicPr>
        <p:blipFill>
          <a:blip r:embed="rId3"/>
          <a:stretch>
            <a:fillRect/>
          </a:stretch>
        </p:blipFill>
        <p:spPr>
          <a:xfrm>
            <a:off x="4458026" y="3007638"/>
            <a:ext cx="6697576" cy="2468573"/>
          </a:xfrm>
          <a:prstGeom prst="rect">
            <a:avLst/>
          </a:prstGeom>
        </p:spPr>
      </p:pic>
      <p:sp>
        <p:nvSpPr>
          <p:cNvPr id="17" name="TextBox 16">
            <a:extLst>
              <a:ext uri="{FF2B5EF4-FFF2-40B4-BE49-F238E27FC236}">
                <a16:creationId xmlns:a16="http://schemas.microsoft.com/office/drawing/2014/main" id="{CFEAC80F-1B19-E68B-7704-C5F980D86BC9}"/>
              </a:ext>
            </a:extLst>
          </p:cNvPr>
          <p:cNvSpPr txBox="1"/>
          <p:nvPr/>
        </p:nvSpPr>
        <p:spPr>
          <a:xfrm>
            <a:off x="88490" y="5657671"/>
            <a:ext cx="12103510" cy="1200329"/>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Note that as you feed in more information into the model, the previous word's retention gets weaker, but it is still there. Look at the orange rectangle above and see how it becomes smaller as you make your way through the text. This shows that your model is capable of capturing dependencies and remembers a previous word although it is at the beginning of a sentence or paragraph. Another advantage of RNNs is that a lot of the computation shares parameters. </a:t>
            </a:r>
            <a:endParaRPr lang="en-US" dirty="0"/>
          </a:p>
        </p:txBody>
      </p:sp>
    </p:spTree>
    <p:extLst>
      <p:ext uri="{BB962C8B-B14F-4D97-AF65-F5344CB8AC3E}">
        <p14:creationId xmlns:p14="http://schemas.microsoft.com/office/powerpoint/2010/main" val="3459445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7937755-4050-D5E6-2348-7BCF78BF073D}"/>
              </a:ext>
            </a:extLst>
          </p:cNvPr>
          <p:cNvSpPr txBox="1"/>
          <p:nvPr/>
        </p:nvSpPr>
        <p:spPr>
          <a:xfrm>
            <a:off x="196646" y="80805"/>
            <a:ext cx="6096000" cy="369332"/>
          </a:xfrm>
          <a:prstGeom prst="rect">
            <a:avLst/>
          </a:prstGeom>
          <a:noFill/>
        </p:spPr>
        <p:txBody>
          <a:bodyPr wrap="square">
            <a:spAutoFit/>
          </a:bodyPr>
          <a:lstStyle/>
          <a:p>
            <a:pPr algn="l"/>
            <a:r>
              <a:rPr lang="en-US" b="1" i="0" dirty="0">
                <a:solidFill>
                  <a:srgbClr val="1F1F1F"/>
                </a:solidFill>
                <a:effectLst/>
              </a:rPr>
              <a:t>Application of RNNs</a:t>
            </a:r>
          </a:p>
        </p:txBody>
      </p:sp>
      <p:sp>
        <p:nvSpPr>
          <p:cNvPr id="7" name="TextBox 6">
            <a:extLst>
              <a:ext uri="{FF2B5EF4-FFF2-40B4-BE49-F238E27FC236}">
                <a16:creationId xmlns:a16="http://schemas.microsoft.com/office/drawing/2014/main" id="{55448AD7-AEE7-C23E-8085-EB7A50070FBF}"/>
              </a:ext>
            </a:extLst>
          </p:cNvPr>
          <p:cNvSpPr txBox="1"/>
          <p:nvPr/>
        </p:nvSpPr>
        <p:spPr>
          <a:xfrm>
            <a:off x="196646" y="506984"/>
            <a:ext cx="11425083" cy="1754326"/>
          </a:xfrm>
          <a:prstGeom prst="rect">
            <a:avLst/>
          </a:prstGeom>
          <a:noFill/>
        </p:spPr>
        <p:txBody>
          <a:bodyPr wrap="square">
            <a:spAutoFit/>
          </a:bodyPr>
          <a:lstStyle/>
          <a:p>
            <a:pPr algn="l"/>
            <a:r>
              <a:rPr lang="en-US" b="0" i="0" dirty="0">
                <a:solidFill>
                  <a:srgbClr val="1F1F1F"/>
                </a:solidFill>
                <a:effectLst/>
                <a:latin typeface="var(--cds-font-family-source-sans-pro)"/>
              </a:rPr>
              <a:t>RNNs could be used in a variety of tasks ranging from machine translation to caption generation. There are many ways to implement an RNN model:</a:t>
            </a:r>
          </a:p>
          <a:p>
            <a:pPr algn="l">
              <a:buFont typeface="Arial" panose="020B0604020202020204" pitchFamily="34" charset="0"/>
              <a:buChar char="•"/>
            </a:pPr>
            <a:r>
              <a:rPr lang="en-US" b="0" i="0" dirty="0">
                <a:solidFill>
                  <a:srgbClr val="1F1F1F"/>
                </a:solidFill>
                <a:effectLst/>
                <a:latin typeface="var(--cds-font-family-source-sans-pro)"/>
              </a:rPr>
              <a:t>One to One: given some scores of a championship, you can predict the winner. </a:t>
            </a:r>
          </a:p>
          <a:p>
            <a:pPr algn="l">
              <a:buFont typeface="Arial" panose="020B0604020202020204" pitchFamily="34" charset="0"/>
              <a:buChar char="•"/>
            </a:pPr>
            <a:r>
              <a:rPr lang="en-US" b="0" i="0" dirty="0">
                <a:solidFill>
                  <a:srgbClr val="1F1F1F"/>
                </a:solidFill>
                <a:effectLst/>
                <a:latin typeface="var(--cds-font-family-source-sans-pro)"/>
              </a:rPr>
              <a:t>One to Many: given an image, you can predict what the caption is going to be.</a:t>
            </a:r>
          </a:p>
          <a:p>
            <a:pPr algn="l">
              <a:buFont typeface="Arial" panose="020B0604020202020204" pitchFamily="34" charset="0"/>
              <a:buChar char="•"/>
            </a:pPr>
            <a:r>
              <a:rPr lang="en-US" b="0" i="0" dirty="0">
                <a:solidFill>
                  <a:srgbClr val="1F1F1F"/>
                </a:solidFill>
                <a:effectLst/>
                <a:latin typeface="var(--cds-font-family-source-sans-pro)"/>
              </a:rPr>
              <a:t>Many to One: given a tweet, you can predict the sentiment of that tweet. </a:t>
            </a:r>
          </a:p>
          <a:p>
            <a:pPr algn="l">
              <a:buFont typeface="Arial" panose="020B0604020202020204" pitchFamily="34" charset="0"/>
              <a:buChar char="•"/>
            </a:pPr>
            <a:r>
              <a:rPr lang="en-US" b="0" i="0" dirty="0">
                <a:solidFill>
                  <a:srgbClr val="1F1F1F"/>
                </a:solidFill>
                <a:effectLst/>
                <a:latin typeface="var(--cds-font-family-source-sans-pro)"/>
              </a:rPr>
              <a:t>Many to Many: given an </a:t>
            </a:r>
            <a:r>
              <a:rPr lang="en-US" b="0" i="0" dirty="0" err="1">
                <a:solidFill>
                  <a:srgbClr val="1F1F1F"/>
                </a:solidFill>
                <a:effectLst/>
                <a:latin typeface="var(--cds-font-family-source-sans-pro)"/>
              </a:rPr>
              <a:t>english</a:t>
            </a:r>
            <a:r>
              <a:rPr lang="en-US" b="0" i="0" dirty="0">
                <a:solidFill>
                  <a:srgbClr val="1F1F1F"/>
                </a:solidFill>
                <a:effectLst/>
                <a:latin typeface="var(--cds-font-family-source-sans-pro)"/>
              </a:rPr>
              <a:t> sentence, you can translate it to its German equivalent. </a:t>
            </a:r>
          </a:p>
        </p:txBody>
      </p:sp>
    </p:spTree>
    <p:extLst>
      <p:ext uri="{BB962C8B-B14F-4D97-AF65-F5344CB8AC3E}">
        <p14:creationId xmlns:p14="http://schemas.microsoft.com/office/powerpoint/2010/main" val="388294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4FEE7D3-EC07-DE18-762D-8B293BB124FC}"/>
              </a:ext>
            </a:extLst>
          </p:cNvPr>
          <p:cNvSpPr txBox="1"/>
          <p:nvPr/>
        </p:nvSpPr>
        <p:spPr>
          <a:xfrm>
            <a:off x="176981" y="198792"/>
            <a:ext cx="6096000" cy="369332"/>
          </a:xfrm>
          <a:prstGeom prst="rect">
            <a:avLst/>
          </a:prstGeom>
          <a:noFill/>
        </p:spPr>
        <p:txBody>
          <a:bodyPr wrap="square">
            <a:spAutoFit/>
          </a:bodyPr>
          <a:lstStyle/>
          <a:p>
            <a:pPr algn="l"/>
            <a:r>
              <a:rPr lang="en-US" b="1" i="0" dirty="0">
                <a:solidFill>
                  <a:srgbClr val="1F1F1F"/>
                </a:solidFill>
                <a:effectLst/>
              </a:rPr>
              <a:t>Math in Simple RNNs</a:t>
            </a:r>
          </a:p>
        </p:txBody>
      </p:sp>
      <p:pic>
        <p:nvPicPr>
          <p:cNvPr id="6" name="Picture 5">
            <a:extLst>
              <a:ext uri="{FF2B5EF4-FFF2-40B4-BE49-F238E27FC236}">
                <a16:creationId xmlns:a16="http://schemas.microsoft.com/office/drawing/2014/main" id="{19B03736-C547-7B51-1881-C629EEFE6599}"/>
              </a:ext>
            </a:extLst>
          </p:cNvPr>
          <p:cNvPicPr>
            <a:picLocks noChangeAspect="1"/>
          </p:cNvPicPr>
          <p:nvPr/>
        </p:nvPicPr>
        <p:blipFill>
          <a:blip r:embed="rId2"/>
          <a:stretch>
            <a:fillRect/>
          </a:stretch>
        </p:blipFill>
        <p:spPr>
          <a:xfrm>
            <a:off x="176981" y="568124"/>
            <a:ext cx="7064474" cy="2476350"/>
          </a:xfrm>
          <a:prstGeom prst="rect">
            <a:avLst/>
          </a:prstGeom>
        </p:spPr>
      </p:pic>
      <p:pic>
        <p:nvPicPr>
          <p:cNvPr id="5" name="Picture 4">
            <a:extLst>
              <a:ext uri="{FF2B5EF4-FFF2-40B4-BE49-F238E27FC236}">
                <a16:creationId xmlns:a16="http://schemas.microsoft.com/office/drawing/2014/main" id="{CED4EF2E-BBB8-E0B4-3A49-D71E9CFD76DD}"/>
              </a:ext>
            </a:extLst>
          </p:cNvPr>
          <p:cNvPicPr>
            <a:picLocks noChangeAspect="1"/>
          </p:cNvPicPr>
          <p:nvPr/>
        </p:nvPicPr>
        <p:blipFill>
          <a:blip r:embed="rId3"/>
          <a:stretch>
            <a:fillRect/>
          </a:stretch>
        </p:blipFill>
        <p:spPr>
          <a:xfrm>
            <a:off x="436897" y="2770442"/>
            <a:ext cx="7064474" cy="2505424"/>
          </a:xfrm>
          <a:prstGeom prst="rect">
            <a:avLst/>
          </a:prstGeom>
        </p:spPr>
      </p:pic>
      <p:pic>
        <p:nvPicPr>
          <p:cNvPr id="8" name="Picture 7">
            <a:extLst>
              <a:ext uri="{FF2B5EF4-FFF2-40B4-BE49-F238E27FC236}">
                <a16:creationId xmlns:a16="http://schemas.microsoft.com/office/drawing/2014/main" id="{775E6290-465F-2345-26EE-D3B1607587A2}"/>
              </a:ext>
            </a:extLst>
          </p:cNvPr>
          <p:cNvPicPr>
            <a:picLocks noChangeAspect="1"/>
          </p:cNvPicPr>
          <p:nvPr/>
        </p:nvPicPr>
        <p:blipFill>
          <a:blip r:embed="rId4"/>
          <a:stretch>
            <a:fillRect/>
          </a:stretch>
        </p:blipFill>
        <p:spPr>
          <a:xfrm>
            <a:off x="6616467" y="3187032"/>
            <a:ext cx="5369056" cy="2476350"/>
          </a:xfrm>
          <a:prstGeom prst="rect">
            <a:avLst/>
          </a:prstGeom>
        </p:spPr>
      </p:pic>
    </p:spTree>
    <p:extLst>
      <p:ext uri="{BB962C8B-B14F-4D97-AF65-F5344CB8AC3E}">
        <p14:creationId xmlns:p14="http://schemas.microsoft.com/office/powerpoint/2010/main" val="3123217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CE2937E-3241-9DBC-BC1F-4DFDBE819160}"/>
              </a:ext>
            </a:extLst>
          </p:cNvPr>
          <p:cNvSpPr txBox="1"/>
          <p:nvPr/>
        </p:nvSpPr>
        <p:spPr>
          <a:xfrm>
            <a:off x="196645" y="149631"/>
            <a:ext cx="6096000" cy="369332"/>
          </a:xfrm>
          <a:prstGeom prst="rect">
            <a:avLst/>
          </a:prstGeom>
          <a:noFill/>
        </p:spPr>
        <p:txBody>
          <a:bodyPr wrap="square">
            <a:spAutoFit/>
          </a:bodyPr>
          <a:lstStyle/>
          <a:p>
            <a:pPr algn="l"/>
            <a:r>
              <a:rPr lang="en-US" b="1" i="0" dirty="0">
                <a:solidFill>
                  <a:srgbClr val="1F1F1F"/>
                </a:solidFill>
                <a:effectLst/>
              </a:rPr>
              <a:t>Cost Function for RNNs</a:t>
            </a:r>
          </a:p>
        </p:txBody>
      </p:sp>
      <p:sp>
        <p:nvSpPr>
          <p:cNvPr id="7" name="TextBox 6">
            <a:extLst>
              <a:ext uri="{FF2B5EF4-FFF2-40B4-BE49-F238E27FC236}">
                <a16:creationId xmlns:a16="http://schemas.microsoft.com/office/drawing/2014/main" id="{46A0FC6B-AEE3-5EBD-684E-F0F106E2E1FF}"/>
              </a:ext>
            </a:extLst>
          </p:cNvPr>
          <p:cNvSpPr txBox="1"/>
          <p:nvPr/>
        </p:nvSpPr>
        <p:spPr>
          <a:xfrm>
            <a:off x="196645" y="518963"/>
            <a:ext cx="9901084"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The cost function used in an RNN is the cross entropy loss. If you were to visualize it</a:t>
            </a:r>
            <a:endParaRPr lang="en-US" dirty="0"/>
          </a:p>
        </p:txBody>
      </p:sp>
      <p:pic>
        <p:nvPicPr>
          <p:cNvPr id="9" name="Picture 8">
            <a:extLst>
              <a:ext uri="{FF2B5EF4-FFF2-40B4-BE49-F238E27FC236}">
                <a16:creationId xmlns:a16="http://schemas.microsoft.com/office/drawing/2014/main" id="{6AEE865D-D5BF-78BE-C893-A77ACBE7CFF4}"/>
              </a:ext>
            </a:extLst>
          </p:cNvPr>
          <p:cNvPicPr>
            <a:picLocks noChangeAspect="1"/>
          </p:cNvPicPr>
          <p:nvPr/>
        </p:nvPicPr>
        <p:blipFill>
          <a:blip r:embed="rId2"/>
          <a:stretch>
            <a:fillRect/>
          </a:stretch>
        </p:blipFill>
        <p:spPr>
          <a:xfrm>
            <a:off x="196645" y="888295"/>
            <a:ext cx="5347840" cy="2001305"/>
          </a:xfrm>
          <a:prstGeom prst="rect">
            <a:avLst/>
          </a:prstGeom>
        </p:spPr>
      </p:pic>
      <p:pic>
        <p:nvPicPr>
          <p:cNvPr id="13" name="Picture 12">
            <a:extLst>
              <a:ext uri="{FF2B5EF4-FFF2-40B4-BE49-F238E27FC236}">
                <a16:creationId xmlns:a16="http://schemas.microsoft.com/office/drawing/2014/main" id="{B4F9D81D-924E-AA4C-384E-6CB079092C8A}"/>
              </a:ext>
            </a:extLst>
          </p:cNvPr>
          <p:cNvPicPr>
            <a:picLocks noChangeAspect="1"/>
          </p:cNvPicPr>
          <p:nvPr/>
        </p:nvPicPr>
        <p:blipFill>
          <a:blip r:embed="rId3"/>
          <a:stretch>
            <a:fillRect/>
          </a:stretch>
        </p:blipFill>
        <p:spPr>
          <a:xfrm>
            <a:off x="285911" y="3179662"/>
            <a:ext cx="10251423" cy="2119925"/>
          </a:xfrm>
          <a:prstGeom prst="rect">
            <a:avLst/>
          </a:prstGeom>
        </p:spPr>
      </p:pic>
    </p:spTree>
    <p:extLst>
      <p:ext uri="{BB962C8B-B14F-4D97-AF65-F5344CB8AC3E}">
        <p14:creationId xmlns:p14="http://schemas.microsoft.com/office/powerpoint/2010/main" val="3461690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044A712-95DA-D36F-0E63-74E65A06C82F}"/>
              </a:ext>
            </a:extLst>
          </p:cNvPr>
          <p:cNvSpPr txBox="1"/>
          <p:nvPr/>
        </p:nvSpPr>
        <p:spPr>
          <a:xfrm>
            <a:off x="137652" y="70973"/>
            <a:ext cx="6096000" cy="369332"/>
          </a:xfrm>
          <a:prstGeom prst="rect">
            <a:avLst/>
          </a:prstGeom>
          <a:noFill/>
        </p:spPr>
        <p:txBody>
          <a:bodyPr wrap="square">
            <a:spAutoFit/>
          </a:bodyPr>
          <a:lstStyle/>
          <a:p>
            <a:pPr algn="l"/>
            <a:r>
              <a:rPr lang="en-US" b="1" i="0" dirty="0">
                <a:solidFill>
                  <a:srgbClr val="1F1F1F"/>
                </a:solidFill>
                <a:effectLst/>
              </a:rPr>
              <a:t>Implementation Note</a:t>
            </a:r>
          </a:p>
        </p:txBody>
      </p:sp>
      <p:pic>
        <p:nvPicPr>
          <p:cNvPr id="7" name="Picture 6">
            <a:extLst>
              <a:ext uri="{FF2B5EF4-FFF2-40B4-BE49-F238E27FC236}">
                <a16:creationId xmlns:a16="http://schemas.microsoft.com/office/drawing/2014/main" id="{4293AA58-9AD8-B365-D096-3BFFB2C3069E}"/>
              </a:ext>
            </a:extLst>
          </p:cNvPr>
          <p:cNvPicPr>
            <a:picLocks noChangeAspect="1"/>
          </p:cNvPicPr>
          <p:nvPr/>
        </p:nvPicPr>
        <p:blipFill>
          <a:blip r:embed="rId2"/>
          <a:stretch>
            <a:fillRect/>
          </a:stretch>
        </p:blipFill>
        <p:spPr>
          <a:xfrm>
            <a:off x="137652" y="440305"/>
            <a:ext cx="11138403" cy="5075592"/>
          </a:xfrm>
          <a:prstGeom prst="rect">
            <a:avLst/>
          </a:prstGeom>
        </p:spPr>
      </p:pic>
    </p:spTree>
    <p:extLst>
      <p:ext uri="{BB962C8B-B14F-4D97-AF65-F5344CB8AC3E}">
        <p14:creationId xmlns:p14="http://schemas.microsoft.com/office/powerpoint/2010/main" val="1965666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C671CA8-9B63-FE3F-A212-6F68B75FDBAE}"/>
              </a:ext>
            </a:extLst>
          </p:cNvPr>
          <p:cNvSpPr txBox="1"/>
          <p:nvPr/>
        </p:nvSpPr>
        <p:spPr>
          <a:xfrm>
            <a:off x="186813" y="0"/>
            <a:ext cx="6096000" cy="369332"/>
          </a:xfrm>
          <a:prstGeom prst="rect">
            <a:avLst/>
          </a:prstGeom>
          <a:noFill/>
        </p:spPr>
        <p:txBody>
          <a:bodyPr wrap="square">
            <a:spAutoFit/>
          </a:bodyPr>
          <a:lstStyle/>
          <a:p>
            <a:pPr algn="l"/>
            <a:r>
              <a:rPr lang="en-US" b="1" i="0" dirty="0">
                <a:solidFill>
                  <a:srgbClr val="1F1F1F"/>
                </a:solidFill>
                <a:effectLst/>
              </a:rPr>
              <a:t>Gated Recurrent Units</a:t>
            </a:r>
          </a:p>
        </p:txBody>
      </p:sp>
      <p:sp>
        <p:nvSpPr>
          <p:cNvPr id="7" name="TextBox 6">
            <a:extLst>
              <a:ext uri="{FF2B5EF4-FFF2-40B4-BE49-F238E27FC236}">
                <a16:creationId xmlns:a16="http://schemas.microsoft.com/office/drawing/2014/main" id="{2045135F-058F-FA2A-4814-DAC36FBBFECF}"/>
              </a:ext>
            </a:extLst>
          </p:cNvPr>
          <p:cNvSpPr txBox="1"/>
          <p:nvPr/>
        </p:nvSpPr>
        <p:spPr>
          <a:xfrm>
            <a:off x="186812" y="574790"/>
            <a:ext cx="11926529" cy="646331"/>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Gated recurrent units are very similar to vanilla RNNs, except that they have a "relevance" and "update" gate that allow the model to update and get relevant information. I personally find it easier to understand by looking at the formulas:</a:t>
            </a:r>
            <a:endParaRPr lang="en-US" dirty="0"/>
          </a:p>
        </p:txBody>
      </p:sp>
      <p:pic>
        <p:nvPicPr>
          <p:cNvPr id="9" name="Picture 8">
            <a:extLst>
              <a:ext uri="{FF2B5EF4-FFF2-40B4-BE49-F238E27FC236}">
                <a16:creationId xmlns:a16="http://schemas.microsoft.com/office/drawing/2014/main" id="{0C4457E8-2BA1-3ABE-C5A6-35D4ADC8F8AE}"/>
              </a:ext>
            </a:extLst>
          </p:cNvPr>
          <p:cNvPicPr>
            <a:picLocks noChangeAspect="1"/>
          </p:cNvPicPr>
          <p:nvPr/>
        </p:nvPicPr>
        <p:blipFill>
          <a:blip r:embed="rId2"/>
          <a:stretch>
            <a:fillRect/>
          </a:stretch>
        </p:blipFill>
        <p:spPr>
          <a:xfrm>
            <a:off x="1897627" y="1216185"/>
            <a:ext cx="6931741" cy="3173406"/>
          </a:xfrm>
          <a:prstGeom prst="rect">
            <a:avLst/>
          </a:prstGeom>
        </p:spPr>
      </p:pic>
      <p:pic>
        <p:nvPicPr>
          <p:cNvPr id="11" name="Picture 10">
            <a:extLst>
              <a:ext uri="{FF2B5EF4-FFF2-40B4-BE49-F238E27FC236}">
                <a16:creationId xmlns:a16="http://schemas.microsoft.com/office/drawing/2014/main" id="{07E75789-A8EB-1CFA-A84E-7D059CC3D8DD}"/>
              </a:ext>
            </a:extLst>
          </p:cNvPr>
          <p:cNvPicPr>
            <a:picLocks noChangeAspect="1"/>
          </p:cNvPicPr>
          <p:nvPr/>
        </p:nvPicPr>
        <p:blipFill>
          <a:blip r:embed="rId3"/>
          <a:stretch>
            <a:fillRect/>
          </a:stretch>
        </p:blipFill>
        <p:spPr>
          <a:xfrm>
            <a:off x="1897627" y="4297458"/>
            <a:ext cx="7986452" cy="2560542"/>
          </a:xfrm>
          <a:prstGeom prst="rect">
            <a:avLst/>
          </a:prstGeom>
        </p:spPr>
      </p:pic>
    </p:spTree>
    <p:extLst>
      <p:ext uri="{BB962C8B-B14F-4D97-AF65-F5344CB8AC3E}">
        <p14:creationId xmlns:p14="http://schemas.microsoft.com/office/powerpoint/2010/main" val="3065779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D7F636-9FE6-A282-484E-18DD2C2EB443}"/>
              </a:ext>
            </a:extLst>
          </p:cNvPr>
          <p:cNvSpPr txBox="1"/>
          <p:nvPr/>
        </p:nvSpPr>
        <p:spPr>
          <a:xfrm>
            <a:off x="0" y="0"/>
            <a:ext cx="6096000" cy="369332"/>
          </a:xfrm>
          <a:prstGeom prst="rect">
            <a:avLst/>
          </a:prstGeom>
          <a:noFill/>
        </p:spPr>
        <p:txBody>
          <a:bodyPr wrap="square">
            <a:spAutoFit/>
          </a:bodyPr>
          <a:lstStyle/>
          <a:p>
            <a:pPr algn="l"/>
            <a:r>
              <a:rPr lang="en-US" b="1" i="0" dirty="0">
                <a:solidFill>
                  <a:srgbClr val="1F1F1F"/>
                </a:solidFill>
                <a:effectLst/>
              </a:rPr>
              <a:t>Deep and Bi-directional RNNs</a:t>
            </a:r>
          </a:p>
        </p:txBody>
      </p:sp>
      <p:sp>
        <p:nvSpPr>
          <p:cNvPr id="7" name="TextBox 6">
            <a:extLst>
              <a:ext uri="{FF2B5EF4-FFF2-40B4-BE49-F238E27FC236}">
                <a16:creationId xmlns:a16="http://schemas.microsoft.com/office/drawing/2014/main" id="{7941A5AB-7C83-5CC2-0AE7-7C5A49B3AC8A}"/>
              </a:ext>
            </a:extLst>
          </p:cNvPr>
          <p:cNvSpPr txBox="1"/>
          <p:nvPr/>
        </p:nvSpPr>
        <p:spPr>
          <a:xfrm>
            <a:off x="71284" y="369332"/>
            <a:ext cx="12051890" cy="646331"/>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Bi-directional RNNs are important, because knowing what is next in the sentence could give you more context about the sentence itself. </a:t>
            </a:r>
            <a:endParaRPr lang="en-US" dirty="0"/>
          </a:p>
        </p:txBody>
      </p:sp>
      <p:pic>
        <p:nvPicPr>
          <p:cNvPr id="9" name="Picture 8">
            <a:extLst>
              <a:ext uri="{FF2B5EF4-FFF2-40B4-BE49-F238E27FC236}">
                <a16:creationId xmlns:a16="http://schemas.microsoft.com/office/drawing/2014/main" id="{8F566CC4-14AC-F15F-EA47-DDBD2E4F548E}"/>
              </a:ext>
            </a:extLst>
          </p:cNvPr>
          <p:cNvPicPr>
            <a:picLocks noChangeAspect="1"/>
          </p:cNvPicPr>
          <p:nvPr/>
        </p:nvPicPr>
        <p:blipFill>
          <a:blip r:embed="rId2"/>
          <a:stretch>
            <a:fillRect/>
          </a:stretch>
        </p:blipFill>
        <p:spPr>
          <a:xfrm>
            <a:off x="2526440" y="731319"/>
            <a:ext cx="6371754" cy="1903167"/>
          </a:xfrm>
          <a:prstGeom prst="rect">
            <a:avLst/>
          </a:prstGeom>
        </p:spPr>
      </p:pic>
      <p:sp>
        <p:nvSpPr>
          <p:cNvPr id="11" name="TextBox 10">
            <a:extLst>
              <a:ext uri="{FF2B5EF4-FFF2-40B4-BE49-F238E27FC236}">
                <a16:creationId xmlns:a16="http://schemas.microsoft.com/office/drawing/2014/main" id="{DD755071-9395-EC85-7C65-4194570CA261}"/>
              </a:ext>
            </a:extLst>
          </p:cNvPr>
          <p:cNvSpPr txBox="1"/>
          <p:nvPr/>
        </p:nvSpPr>
        <p:spPr>
          <a:xfrm>
            <a:off x="70055" y="2595087"/>
            <a:ext cx="12051890" cy="923330"/>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So you can see, in order to make a prediction </a:t>
            </a:r>
            <a:r>
              <a:rPr lang="en-US" dirty="0" err="1">
                <a:solidFill>
                  <a:srgbClr val="1F1F1F"/>
                </a:solidFill>
                <a:latin typeface="KaTeX_Main"/>
              </a:rPr>
              <a:t>y_hat</a:t>
            </a:r>
            <a:r>
              <a:rPr lang="en-US" b="0" i="0" dirty="0">
                <a:solidFill>
                  <a:srgbClr val="1F1F1F"/>
                </a:solidFill>
                <a:effectLst/>
                <a:latin typeface="Source Sans Pro" panose="020B0503030403020204" pitchFamily="34" charset="0"/>
              </a:rPr>
              <a:t>, you will use the hidden states from both directions and combine them to make one hidden state, you can then proceed as you would with a simple vanilla RNN. When implementing Deep RNNs, you would compute the following.</a:t>
            </a:r>
            <a:endParaRPr lang="en-US" dirty="0"/>
          </a:p>
        </p:txBody>
      </p:sp>
      <p:pic>
        <p:nvPicPr>
          <p:cNvPr id="13" name="Picture 12">
            <a:extLst>
              <a:ext uri="{FF2B5EF4-FFF2-40B4-BE49-F238E27FC236}">
                <a16:creationId xmlns:a16="http://schemas.microsoft.com/office/drawing/2014/main" id="{463A7384-6E57-BDDF-4BE3-6BC25DA3947B}"/>
              </a:ext>
            </a:extLst>
          </p:cNvPr>
          <p:cNvPicPr>
            <a:picLocks noChangeAspect="1"/>
          </p:cNvPicPr>
          <p:nvPr/>
        </p:nvPicPr>
        <p:blipFill>
          <a:blip r:embed="rId3"/>
          <a:stretch>
            <a:fillRect/>
          </a:stretch>
        </p:blipFill>
        <p:spPr>
          <a:xfrm>
            <a:off x="3293357" y="3283853"/>
            <a:ext cx="6774876" cy="2651039"/>
          </a:xfrm>
          <a:prstGeom prst="rect">
            <a:avLst/>
          </a:prstGeom>
        </p:spPr>
      </p:pic>
      <p:pic>
        <p:nvPicPr>
          <p:cNvPr id="15" name="Picture 14">
            <a:extLst>
              <a:ext uri="{FF2B5EF4-FFF2-40B4-BE49-F238E27FC236}">
                <a16:creationId xmlns:a16="http://schemas.microsoft.com/office/drawing/2014/main" id="{454E941A-953D-06DA-5BD4-BBB822B4AE1E}"/>
              </a:ext>
            </a:extLst>
          </p:cNvPr>
          <p:cNvPicPr>
            <a:picLocks noChangeAspect="1"/>
          </p:cNvPicPr>
          <p:nvPr/>
        </p:nvPicPr>
        <p:blipFill>
          <a:blip r:embed="rId4"/>
          <a:stretch>
            <a:fillRect/>
          </a:stretch>
        </p:blipFill>
        <p:spPr>
          <a:xfrm>
            <a:off x="1799108" y="5744172"/>
            <a:ext cx="7826418" cy="1028789"/>
          </a:xfrm>
          <a:prstGeom prst="rect">
            <a:avLst/>
          </a:prstGeom>
        </p:spPr>
      </p:pic>
    </p:spTree>
    <p:extLst>
      <p:ext uri="{BB962C8B-B14F-4D97-AF65-F5344CB8AC3E}">
        <p14:creationId xmlns:p14="http://schemas.microsoft.com/office/powerpoint/2010/main" val="9812201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3194</TotalTime>
  <Words>986</Words>
  <Application>Microsoft Office PowerPoint</Application>
  <PresentationFormat>Widescreen</PresentationFormat>
  <Paragraphs>38</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Aptos</vt:lpstr>
      <vt:lpstr>Aptos Display</vt:lpstr>
      <vt:lpstr>Arial</vt:lpstr>
      <vt:lpstr>KaTeX_Main</vt:lpstr>
      <vt:lpstr>KaTeX_Math</vt:lpstr>
      <vt:lpstr>Source Sans Pro</vt:lpstr>
      <vt:lpstr>var(--cds-font-family-source-sans-pro)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mrinmoy bhuyan</dc:creator>
  <cp:lastModifiedBy>mrinmoy bhuyan</cp:lastModifiedBy>
  <cp:revision>56</cp:revision>
  <dcterms:created xsi:type="dcterms:W3CDTF">2023-12-27T12:40:43Z</dcterms:created>
  <dcterms:modified xsi:type="dcterms:W3CDTF">2023-12-29T17:55:02Z</dcterms:modified>
</cp:coreProperties>
</file>